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2" r:id="rId3"/>
  </p:sldMasterIdLst>
  <p:notesMasterIdLst>
    <p:notesMasterId r:id="rId88"/>
  </p:notesMasterIdLst>
  <p:sldIdLst>
    <p:sldId id="256" r:id="rId4"/>
    <p:sldId id="257" r:id="rId5"/>
    <p:sldId id="260" r:id="rId6"/>
    <p:sldId id="2147481743" r:id="rId7"/>
    <p:sldId id="2147481749" r:id="rId8"/>
    <p:sldId id="2147481759" r:id="rId9"/>
    <p:sldId id="2147481746" r:id="rId10"/>
    <p:sldId id="2147481747" r:id="rId11"/>
    <p:sldId id="2147481748" r:id="rId12"/>
    <p:sldId id="2147481760" r:id="rId13"/>
    <p:sldId id="2147481761" r:id="rId14"/>
    <p:sldId id="2147481762" r:id="rId15"/>
    <p:sldId id="2147481742" r:id="rId16"/>
    <p:sldId id="2147481752" r:id="rId17"/>
    <p:sldId id="2147481753" r:id="rId18"/>
    <p:sldId id="2147481750" r:id="rId19"/>
    <p:sldId id="2147481751" r:id="rId20"/>
    <p:sldId id="2147481754" r:id="rId21"/>
    <p:sldId id="2147481755" r:id="rId22"/>
    <p:sldId id="2147481756" r:id="rId23"/>
    <p:sldId id="2147481757" r:id="rId24"/>
    <p:sldId id="2147481758" r:id="rId25"/>
    <p:sldId id="2147481741" r:id="rId26"/>
    <p:sldId id="2147481763" r:id="rId27"/>
    <p:sldId id="2147481782" r:id="rId28"/>
    <p:sldId id="2147481764" r:id="rId29"/>
    <p:sldId id="2147481765" r:id="rId30"/>
    <p:sldId id="2147481766" r:id="rId31"/>
    <p:sldId id="2147481779" r:id="rId32"/>
    <p:sldId id="2147481780" r:id="rId33"/>
    <p:sldId id="2147481767" r:id="rId34"/>
    <p:sldId id="2147481768" r:id="rId35"/>
    <p:sldId id="2147481769" r:id="rId36"/>
    <p:sldId id="2147481770" r:id="rId37"/>
    <p:sldId id="2147481771" r:id="rId38"/>
    <p:sldId id="2147481772" r:id="rId39"/>
    <p:sldId id="2147481773" r:id="rId40"/>
    <p:sldId id="2147481774" r:id="rId41"/>
    <p:sldId id="2147481775" r:id="rId42"/>
    <p:sldId id="2147481776" r:id="rId43"/>
    <p:sldId id="2147481777" r:id="rId44"/>
    <p:sldId id="2147481778" r:id="rId45"/>
    <p:sldId id="2147481744" r:id="rId46"/>
    <p:sldId id="2147481781" r:id="rId47"/>
    <p:sldId id="274" r:id="rId48"/>
    <p:sldId id="276" r:id="rId49"/>
    <p:sldId id="275" r:id="rId50"/>
    <p:sldId id="261" r:id="rId51"/>
    <p:sldId id="258" r:id="rId52"/>
    <p:sldId id="2147481783" r:id="rId53"/>
    <p:sldId id="259" r:id="rId54"/>
    <p:sldId id="2147481740" r:id="rId55"/>
    <p:sldId id="262" r:id="rId56"/>
    <p:sldId id="263" r:id="rId57"/>
    <p:sldId id="264" r:id="rId58"/>
    <p:sldId id="265" r:id="rId59"/>
    <p:sldId id="267" r:id="rId60"/>
    <p:sldId id="278" r:id="rId61"/>
    <p:sldId id="268" r:id="rId62"/>
    <p:sldId id="277" r:id="rId63"/>
    <p:sldId id="272" r:id="rId64"/>
    <p:sldId id="279" r:id="rId65"/>
    <p:sldId id="2147481784" r:id="rId66"/>
    <p:sldId id="2147481785" r:id="rId67"/>
    <p:sldId id="2147481786" r:id="rId68"/>
    <p:sldId id="2147481787" r:id="rId69"/>
    <p:sldId id="2147481799" r:id="rId70"/>
    <p:sldId id="2147481797" r:id="rId71"/>
    <p:sldId id="2147481798" r:id="rId72"/>
    <p:sldId id="2147481788" r:id="rId73"/>
    <p:sldId id="2147481789" r:id="rId74"/>
    <p:sldId id="2147481790" r:id="rId75"/>
    <p:sldId id="2147481791" r:id="rId76"/>
    <p:sldId id="2147481792" r:id="rId77"/>
    <p:sldId id="266" r:id="rId78"/>
    <p:sldId id="2147481793" r:id="rId79"/>
    <p:sldId id="2147481794" r:id="rId80"/>
    <p:sldId id="2147481795" r:id="rId81"/>
    <p:sldId id="269" r:id="rId82"/>
    <p:sldId id="270" r:id="rId83"/>
    <p:sldId id="271" r:id="rId84"/>
    <p:sldId id="280" r:id="rId85"/>
    <p:sldId id="273" r:id="rId86"/>
    <p:sldId id="2147481796" r:id="rId8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C662F8D-F585-4710-8011-93B9D8016E87}">
          <p14:sldIdLst>
            <p14:sldId id="256"/>
            <p14:sldId id="257"/>
            <p14:sldId id="260"/>
          </p14:sldIdLst>
        </p14:section>
        <p14:section name="Data Warehouse" id="{7D27462C-BA10-4F10-BA3A-B3105B51C3A4}">
          <p14:sldIdLst>
            <p14:sldId id="2147481743"/>
            <p14:sldId id="2147481749"/>
            <p14:sldId id="2147481759"/>
            <p14:sldId id="2147481746"/>
            <p14:sldId id="2147481747"/>
            <p14:sldId id="2147481748"/>
            <p14:sldId id="2147481760"/>
            <p14:sldId id="2147481761"/>
            <p14:sldId id="2147481762"/>
          </p14:sldIdLst>
        </p14:section>
        <p14:section name="Data Factory" id="{CE0A2D2A-EB35-41A1-8C42-1316E7C460A9}">
          <p14:sldIdLst>
            <p14:sldId id="2147481742"/>
            <p14:sldId id="2147481752"/>
            <p14:sldId id="2147481753"/>
            <p14:sldId id="2147481750"/>
            <p14:sldId id="2147481751"/>
            <p14:sldId id="2147481754"/>
            <p14:sldId id="2147481755"/>
            <p14:sldId id="2147481756"/>
            <p14:sldId id="2147481757"/>
            <p14:sldId id="2147481758"/>
          </p14:sldIdLst>
        </p14:section>
        <p14:section name="Notebooks" id="{2EFE65D1-51C5-4775-82F2-525A70A0D0BA}">
          <p14:sldIdLst>
            <p14:sldId id="2147481741"/>
            <p14:sldId id="2147481763"/>
            <p14:sldId id="2147481782"/>
            <p14:sldId id="2147481764"/>
            <p14:sldId id="2147481765"/>
            <p14:sldId id="2147481766"/>
            <p14:sldId id="2147481779"/>
            <p14:sldId id="2147481780"/>
            <p14:sldId id="2147481767"/>
            <p14:sldId id="2147481768"/>
            <p14:sldId id="2147481769"/>
            <p14:sldId id="2147481770"/>
            <p14:sldId id="2147481771"/>
            <p14:sldId id="2147481772"/>
            <p14:sldId id="2147481773"/>
            <p14:sldId id="2147481774"/>
            <p14:sldId id="2147481775"/>
            <p14:sldId id="2147481776"/>
            <p14:sldId id="2147481777"/>
            <p14:sldId id="2147481778"/>
          </p14:sldIdLst>
        </p14:section>
        <p14:section name="RTI" id="{B0E476AA-8946-4B83-840E-71DD7998F861}">
          <p14:sldIdLst>
            <p14:sldId id="2147481744"/>
          </p14:sldIdLst>
        </p14:section>
        <p14:section name="Valeur Copilot dans Fabric" id="{A0E8471E-7622-497A-97AD-C50C013788B5}">
          <p14:sldIdLst>
            <p14:sldId id="2147481781"/>
          </p14:sldIdLst>
        </p14:section>
        <p14:section name="Vibe coding" id="{B1DF4481-3E0E-4632-9DA9-2AC2C2A96183}">
          <p14:sldIdLst>
            <p14:sldId id="274"/>
            <p14:sldId id="276"/>
          </p14:sldIdLst>
        </p14:section>
        <p14:section name="GitHub Copilot" id="{ABE90D85-33E8-4E43-A220-A1015311B1AE}">
          <p14:sldIdLst>
            <p14:sldId id="275"/>
            <p14:sldId id="261"/>
            <p14:sldId id="258"/>
            <p14:sldId id="2147481783"/>
            <p14:sldId id="259"/>
            <p14:sldId id="2147481740"/>
            <p14:sldId id="262"/>
            <p14:sldId id="263"/>
            <p14:sldId id="264"/>
            <p14:sldId id="265"/>
            <p14:sldId id="267"/>
            <p14:sldId id="278"/>
            <p14:sldId id="268"/>
            <p14:sldId id="277"/>
            <p14:sldId id="272"/>
            <p14:sldId id="279"/>
          </p14:sldIdLst>
        </p14:section>
        <p14:section name="GitHub Copilot et MS Fabric" id="{951F0266-8A76-46C9-AEF1-C36AECDBE0AE}">
          <p14:sldIdLst>
            <p14:sldId id="2147481784"/>
            <p14:sldId id="2147481785"/>
            <p14:sldId id="2147481786"/>
            <p14:sldId id="2147481787"/>
            <p14:sldId id="2147481799"/>
            <p14:sldId id="2147481797"/>
            <p14:sldId id="2147481798"/>
            <p14:sldId id="2147481788"/>
            <p14:sldId id="2147481789"/>
            <p14:sldId id="2147481790"/>
            <p14:sldId id="2147481791"/>
            <p14:sldId id="2147481792"/>
            <p14:sldId id="266"/>
            <p14:sldId id="2147481793"/>
            <p14:sldId id="2147481794"/>
            <p14:sldId id="2147481795"/>
          </p14:sldIdLst>
        </p14:section>
        <p14:section name="Adoption GitHub Copilot" id="{5B2AE94B-1B3E-4CB4-91B5-246447AE0161}">
          <p14:sldIdLst>
            <p14:sldId id="269"/>
            <p14:sldId id="270"/>
            <p14:sldId id="271"/>
            <p14:sldId id="280"/>
          </p14:sldIdLst>
        </p14:section>
        <p14:section name="Annexes" id="{6E9D2B39-2E0D-4D34-B9D6-2346FF3D37EB}">
          <p14:sldIdLst>
            <p14:sldId id="273"/>
            <p14:sldId id="21474817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621" autoAdjust="0"/>
  </p:normalViewPr>
  <p:slideViewPr>
    <p:cSldViewPr snapToGrid="0" snapToObjects="1">
      <p:cViewPr varScale="1">
        <p:scale>
          <a:sx n="88" d="100"/>
          <a:sy n="88" d="100"/>
        </p:scale>
        <p:origin x="3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viewProps" Target="viewProp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926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fabric/data-warehouse/copilot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https://learn.microsoft.com/en-us/fabric/fundamentals/copilot-fabric-overview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Microsoft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Fabric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Warehouse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AI assistant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Here’s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do: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SQL: You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everyday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T-SQL for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T-SQL,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help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queries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Actions: You can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fix SQL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syntax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editor.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Intelligent Insights: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suggestions and insights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warehouse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metadata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use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chat pane for questions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Inline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Quick actions (like Fix and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in the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ribbon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more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detail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official documentation: 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https://learn.microsoft.com/fabric/data-warehouse/copilot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896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une clause pour filtrer les </a:t>
            </a:r>
            <a:r>
              <a:rPr lang="fr-FR" dirty="0" err="1"/>
              <a:t>zipCode</a:t>
            </a:r>
            <a:r>
              <a:rPr lang="fr-FR" dirty="0"/>
              <a:t> sur 5 chiffres</a:t>
            </a:r>
          </a:p>
        </p:txBody>
      </p:sp>
    </p:spTree>
    <p:extLst>
      <p:ext uri="{BB962C8B-B14F-4D97-AF65-F5344CB8AC3E}">
        <p14:creationId xmlns:p14="http://schemas.microsoft.com/office/powerpoint/2010/main" val="297481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Explain</a:t>
            </a:r>
            <a:r>
              <a:rPr lang="fr-FR" dirty="0"/>
              <a:t> </a:t>
            </a:r>
            <a:r>
              <a:rPr lang="fr-FR" dirty="0" err="1"/>
              <a:t>query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9866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Fix </a:t>
            </a:r>
            <a:r>
              <a:rPr lang="fr-FR" dirty="0" err="1"/>
              <a:t>query</a:t>
            </a:r>
            <a:r>
              <a:rPr lang="fr-FR" dirty="0"/>
              <a:t> </a:t>
            </a:r>
            <a:r>
              <a:rPr lang="fr-FR" dirty="0" err="1"/>
              <a:t>errors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5430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tables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https://services.odata.org/V4/Northwind/Northwind.svc/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3182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une colonne Ship qui vaut 20 si </a:t>
            </a:r>
            <a:r>
              <a:rPr lang="fr-FR" dirty="0" err="1"/>
              <a:t>UnitPrice</a:t>
            </a:r>
            <a:r>
              <a:rPr lang="fr-FR" dirty="0"/>
              <a:t> &lt; 50 sinon 10</a:t>
            </a:r>
          </a:p>
        </p:txBody>
      </p:sp>
    </p:spTree>
    <p:extLst>
      <p:ext uri="{BB962C8B-B14F-4D97-AF65-F5344CB8AC3E}">
        <p14:creationId xmlns:p14="http://schemas.microsoft.com/office/powerpoint/2010/main" val="3029137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 err="1"/>
              <a:t>Describe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query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8154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>
                <a:effectLst/>
              </a:rPr>
              <a:t>Charge le contenu des tables sales et </a:t>
            </a:r>
            <a:r>
              <a:rPr lang="fr-FR" dirty="0" err="1">
                <a:effectLst/>
              </a:rPr>
              <a:t>customer</a:t>
            </a:r>
            <a:r>
              <a:rPr lang="fr-FR" dirty="0">
                <a:effectLst/>
              </a:rPr>
              <a:t> dans deux </a:t>
            </a:r>
            <a:r>
              <a:rPr lang="fr-FR" dirty="0" err="1">
                <a:effectLst/>
              </a:rPr>
              <a:t>dataframes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9289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 tables to check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5180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Présente la démarche de jointure de tables pour créer une "One Big Table"</a:t>
            </a:r>
          </a:p>
        </p:txBody>
      </p:sp>
    </p:spTree>
    <p:extLst>
      <p:ext uri="{BB962C8B-B14F-4D97-AF65-F5344CB8AC3E}">
        <p14:creationId xmlns:p14="http://schemas.microsoft.com/office/powerpoint/2010/main" val="2955586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crée un nouveau </a:t>
            </a:r>
            <a:r>
              <a:rPr lang="fr-FR" dirty="0" err="1"/>
              <a:t>dataframe</a:t>
            </a:r>
            <a:r>
              <a:rPr lang="fr-FR" dirty="0"/>
              <a:t> faisant la jointure des deux précédents pour obtenir le montant total des ventes par client</a:t>
            </a:r>
          </a:p>
        </p:txBody>
      </p:sp>
    </p:spTree>
    <p:extLst>
      <p:ext uri="{BB962C8B-B14F-4D97-AF65-F5344CB8AC3E}">
        <p14:creationId xmlns:p14="http://schemas.microsoft.com/office/powerpoint/2010/main" val="2837759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 partir du </a:t>
            </a:r>
            <a:r>
              <a:rPr lang="fr-FR" dirty="0" err="1"/>
              <a:t>df_sales_per_customer</a:t>
            </a:r>
            <a:r>
              <a:rPr lang="fr-FR" dirty="0"/>
              <a:t>, crée un entrainement de modèle de clustering pour obtenir 3 clusters.</a:t>
            </a:r>
          </a:p>
        </p:txBody>
      </p:sp>
    </p:spTree>
    <p:extLst>
      <p:ext uri="{BB962C8B-B14F-4D97-AF65-F5344CB8AC3E}">
        <p14:creationId xmlns:p14="http://schemas.microsoft.com/office/powerpoint/2010/main" val="4046610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A638-0AD8-74B1-1241-03110794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B475EC-229E-C40D-6D1E-88CD23912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A6FF5F-6345-C5CC-1D34-B98F064ED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une représentation visuelle des 3 clusters dans un nuage de points sur les deux axes les plus discriminants.</a:t>
            </a:r>
          </a:p>
        </p:txBody>
      </p:sp>
    </p:spTree>
    <p:extLst>
      <p:ext uri="{BB962C8B-B14F-4D97-AF65-F5344CB8AC3E}">
        <p14:creationId xmlns:p14="http://schemas.microsoft.com/office/powerpoint/2010/main" val="29446554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/</a:t>
            </a:r>
            <a:r>
              <a:rPr lang="fr-FR" dirty="0" err="1"/>
              <a:t>comments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27749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/</a:t>
            </a:r>
            <a:r>
              <a:rPr lang="fr-FR" dirty="0" err="1"/>
              <a:t>explain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3361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/</a:t>
            </a:r>
            <a:r>
              <a:rPr lang="fr-FR" dirty="0" err="1"/>
              <a:t>optimize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463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FF86-E697-00F6-A9C5-D0F1F259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0298C-11F1-C866-4F99-CC733E9C1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848A6-B7BB-8667-EC91-53FB2DD3B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E5B93-F109-1BE2-AF20-A75CC8ED3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575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E856-58B4-34A3-1D7B-A5F46E98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E295C-2DB8-71E9-A198-2B5ED897A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76AE6-7E84-BEB7-6EE9-652149E98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E700F-4054-CD40-3D31-908818A51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7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9616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https://learn.microsoft.com/en-us/fabric/data-engineering/manage-workspace-with-vs-code-vfs-mode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Ajoute un test pour vérifier que Bronze </a:t>
            </a:r>
            <a:r>
              <a:rPr lang="fr-FR" dirty="0" err="1"/>
              <a:t>CITY.city_safety</a:t>
            </a:r>
            <a:r>
              <a:rPr lang="fr-FR" dirty="0"/>
              <a:t> </a:t>
            </a:r>
            <a:r>
              <a:rPr lang="fr-FR" dirty="0" err="1"/>
              <a:t>row</a:t>
            </a:r>
            <a:r>
              <a:rPr lang="fr-FR" dirty="0"/>
              <a:t> count = 7350</a:t>
            </a:r>
          </a:p>
        </p:txBody>
      </p:sp>
    </p:spTree>
    <p:extLst>
      <p:ext uri="{BB962C8B-B14F-4D97-AF65-F5344CB8AC3E}">
        <p14:creationId xmlns:p14="http://schemas.microsoft.com/office/powerpoint/2010/main" val="18029491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- Visual on this slide was generated with Microsoft Copilot.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Contenu adapté de formation-fabric-copilot-exercices.docx, modules 3, 4, 5 et 7.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15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459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932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E2EA9-0C2C-44B8-EC5F-4DC1DD0F2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D4CB19-CD85-15AC-2A8D-92F510D83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C0872B-792F-2069-5F74-42C7B16F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4D2DAC-C695-1A6A-2EA0-B4C8C7168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3A4128-01C8-3CD5-4146-5E02C1C2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5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0FE7EB-FB41-D166-EEB8-6D151A08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B602CD-EF27-FEF7-D747-509B3F94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00DE94-65F6-7A28-E7F4-C32D63F6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1CA735-2A14-0FAA-6815-6DA8DBE9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75CC3-8A6C-2118-2A17-99C5EFDA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93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AD505-B21E-51B5-E9F3-E413E9534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4BFDD4-EB26-AB32-D2B8-F118C2192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40C20E-2248-286E-16D7-3A57293E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E52A1F-0890-6FC2-C49E-52B09A44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115D8-9681-6C96-199E-6EFBC87F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23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AD95E-04BF-4936-4703-D67A07C9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29D218-E675-C270-FB1F-3A5F0AB1A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E626C7-4D46-6C4B-D9BB-9A0ED8E1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92951B-707A-0729-046C-AA399BD0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9DB751-611C-37EF-7A85-D6BFD26F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B4BB6B-1840-4DE2-8EBE-7F1EA4F4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39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C4E3B-3112-95F9-C5E5-BC436666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7DBE35-C292-7997-79CB-B6A47B70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2FE425-119B-6BAF-7E97-0D9E9ECBA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F4504F4-83A5-90DF-42DF-14B12B176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3BF875-4EDA-1E3E-678E-B1C2866F6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156A787-8136-B32B-F32E-549098E0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0BBFB-DB93-D508-DC4C-F6394002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A38CA3B-B391-BC26-663D-612436BC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8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0D8BDE-82BE-BCEA-2762-1E4B7996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D40E84-65D4-23D6-12FF-F258ADF5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171A68-95BF-53E9-CBC6-17CE35BB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23E1AA-4A28-EA27-3C42-88D58BBA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12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589540-E748-82C4-C1DA-17E053CE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283E63-3158-51A7-EC3E-69DFF0DD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1E2168-D032-28CF-580A-779E9E10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39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11B860-E4EF-D5E1-7B8B-3113F37E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135228-4E39-8657-640C-162C43ADE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BC1546-76B5-E276-7967-AA28D856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EE1B4F-5E9E-845A-6B43-7E51B6DD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B309D0-F53B-3D89-BC9F-63686F75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3A1B62-120C-268B-7897-0528A86A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86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828B5-3599-EE33-6C1A-23DD5DBE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237CBD-FB33-1EB8-82C3-1DC8D6A2E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232744-74DF-1FDC-B1C0-6B18E531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0A5911A-25F1-89AA-AF2A-011FA49E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DFEF8D-7344-1A51-B847-0B52BD7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B2FA9EF-AB5C-9B10-C1A0-82BB98FFF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7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756FE-CB99-4645-05A6-700024ED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F43EDE-8227-1B29-EBC8-364095AAD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4DB04B-CE4B-6A93-91F7-084CC2CC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577907-9077-F8D0-8F46-78E16132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236784-7677-34C0-D175-445DC371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940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2930E5-979E-319B-86B4-DC75F57E3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EF5AC4-1719-61DF-EE33-2A85AAAB1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E2224-E0C8-E109-0EC3-B3C4B928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52417B-2243-9D32-136E-E959A26A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B5DD71-C0F4-1323-59FE-4775067D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71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7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5A5391D-65D3-50FC-F584-6FD496A1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6850D7-12FC-593F-9CD6-755EC5EF7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02A7F3-5273-03FA-6A28-4682387AE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1375A-1AAC-4B35-8ADD-13CD9406E81B}" type="datetimeFigureOut">
              <a:rPr lang="fr-FR" smtClean="0"/>
              <a:t>09/07/2026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CF2554-2253-8623-36FB-7B88B0471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42E43A-792D-F52E-851B-CF00140FD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A4713-5C37-4D51-BA6F-D4C6BBFF94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039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17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data-warehouse/copilot-code-completion" TargetMode="External"/><Relationship Id="rId2" Type="http://schemas.openxmlformats.org/officeDocument/2006/relationships/hyperlink" Target="https://learn.microsoft.com/en-us/fabric/data-warehouse/copilot-chat-pan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microsoft.com/en-us/fabric/data-warehouse/copilot-quick-action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fabric/data-warehouse/copilot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fundamentals/copilot-fabric-data-factory#generate-a-data-pipeline-with-copilot" TargetMode="External"/><Relationship Id="rId2" Type="http://schemas.openxmlformats.org/officeDocument/2006/relationships/hyperlink" Target="https://learn.microsoft.com/en-us/fabric/fundamentals/copilot-fabric-data-factory#get-started-with-copilot-for-dataflow-gen2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fabric/fundamentals/copilot-fabric-data-factory#troubleshoot-pipeline-errors-with-copilot" TargetMode="External"/><Relationship Id="rId4" Type="http://schemas.openxmlformats.org/officeDocument/2006/relationships/hyperlink" Target="https://learn.microsoft.com/en-us/fabric/fundamentals/copilot-fabric-data-factory#summarize-a-data-pipeline-with-copilot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data-engineering/copilot-notebooks-overview#what-you-can-accomplish-with-copilot" TargetMode="External"/><Relationship Id="rId2" Type="http://schemas.openxmlformats.org/officeDocument/2006/relationships/hyperlink" Target="https://learn.microsoft.com/en-us/fabric/data-engineering/copilot-notebooks-chat-pane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fabric/data-engineering/copilot-notebooks-chat-pane#diagnose-notebook-failures" TargetMode="External"/><Relationship Id="rId4" Type="http://schemas.openxmlformats.org/officeDocument/2006/relationships/hyperlink" Target="https://learn.microsoft.com/en-us/fabric/data-engineering/copilot-notebooks-chat-pane#in-cell-copilot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real-time-intelligence/copilot-writing-queries" TargetMode="Externa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5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Assistance IA pour les Data Engineers dans  Microsoft Fabric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Engineering </a:t>
            </a: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Science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Peton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Data - Expertime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l'issue de la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vos Data Engineers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auront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Les </a:t>
            </a:r>
            <a:r>
              <a:rPr lang="en-US" sz="15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fonctionnalités</a:t>
            </a: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 Copilot dans Fabric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Dataflows, pipelines, SQL…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principes du vibe coding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 par assistance 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 dans VSC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Installation,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paramétrage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3931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</a:rPr>
              <a:t>Les interactions entre GitHub Copilot et les items Fabric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406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local,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distance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</a:t>
            </a: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Copilot dans Fabric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Chaque</a:t>
            </a: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</a:rPr>
              <a:t> workload dispose de son Copilot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199" y="1691640"/>
            <a:ext cx="4571999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Data Engineering &amp; Data Science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Data Factory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Data Warehouse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Real-Time Intelligence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SQL database</a:t>
            </a:r>
            <a:endParaRPr lang="en-US" sz="16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F9863D-7408-4FAD-2553-5900846AE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469" y="1183500"/>
            <a:ext cx="3069771" cy="37085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Requêtes</a:t>
            </a: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SQL dans le Data Warehouse</a:t>
            </a:r>
            <a:endParaRPr lang="en-US" sz="2800" dirty="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Suggérer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complétions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de code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Corriger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le code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Expliquer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le code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SQL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113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CE305-6E12-654B-9258-56C5FBD5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97349-08CC-440A-08A7-C025019532C7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C469F6-7A4B-3DB9-62DA-2D415B9A77CE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204220-A015-A350-04FF-4A50CC6667E4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AA8FF0C-BEE1-3DFF-9A40-4979A456C38C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dans Fabric Data Warehouse</a:t>
            </a:r>
            <a:endParaRPr lang="en-US" sz="280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F160A31-1713-F5A0-59D7-32534C6EA80D}"/>
              </a:ext>
            </a:extLst>
          </p:cNvPr>
          <p:cNvSpPr/>
          <p:nvPr/>
        </p:nvSpPr>
        <p:spPr>
          <a:xfrm>
            <a:off x="457200" y="115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650"/>
              </a:spcAft>
              <a:buNone/>
            </a:pP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Microsoft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Warehouse est un assistant IA conçu pour simplifier vos tâches d'entreposage de données. Voici ce que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peut faire :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</a:t>
            </a:r>
            <a:r>
              <a:rPr lang="fr-FR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SQL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décrivez votre besoin en langage courant, et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génère le T-SQL pour vous.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</a:t>
            </a:r>
            <a:r>
              <a:rPr lang="fr-FR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dès que vous commencez à écrire du T-SQL,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suggère des complétions pour écrire vos requêtes plus vite.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corrigez rapidement les erreurs de syntaxe SQL ou demandez à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d'expliquer l'objectif d'une requête directement dans l'éditeur.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Insights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: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fournit des suggestions et des analyses utiles à partir du schéma et des métadonnées de votre entrepôt.</a:t>
            </a:r>
          </a:p>
          <a:p>
            <a:pPr marL="0" indent="0">
              <a:lnSpc>
                <a:spcPct val="106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utiliser </a:t>
            </a:r>
            <a:r>
              <a:rPr lang="fr-FR" sz="11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 :</a:t>
            </a:r>
          </a:p>
          <a:p>
            <a:pPr marL="742950" indent="-285750">
              <a:lnSpc>
                <a:spcPct val="106000"/>
              </a:lnSpc>
              <a:spcAft>
                <a:spcPts val="400"/>
              </a:spcAft>
              <a:buSzPct val="100000"/>
              <a:buChar char="–"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 pane pour poser des questions et générer des requêtes.</a:t>
            </a:r>
          </a:p>
          <a:p>
            <a:pPr marL="742950" indent="-285750">
              <a:lnSpc>
                <a:spcPct val="106000"/>
              </a:lnSpc>
              <a:spcAft>
                <a:spcPts val="400"/>
              </a:spcAft>
              <a:buSzPct val="100000"/>
              <a:buChar char="–"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complétion de code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pendant l'écriture du SQL.</a:t>
            </a:r>
          </a:p>
          <a:p>
            <a:pPr marL="742950" indent="-285750">
              <a:lnSpc>
                <a:spcPct val="106000"/>
              </a:lnSpc>
              <a:spcAft>
                <a:spcPts val="450"/>
              </a:spcAft>
              <a:buSzPct val="100000"/>
              <a:buChar char="–"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quick actions (comme Fix et </a:t>
            </a:r>
            <a:r>
              <a:rPr lang="fr-FR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dans le ruban pour corriger les erreurs ou comprendre le code.</a:t>
            </a:r>
          </a:p>
          <a:p>
            <a:pPr marL="0" indent="0">
              <a:lnSpc>
                <a:spcPct val="106000"/>
              </a:lnSpc>
              <a:buNone/>
            </a:pPr>
            <a:endParaRPr lang="fr-FR" sz="11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plus de détails dans </a:t>
            </a:r>
            <a:r>
              <a:rPr lang="fr-FR" sz="1100" dirty="0">
                <a:solidFill>
                  <a:srgbClr val="065A82"/>
                </a:solidFill>
                <a:uFill>
                  <a:solidFill>
                    <a:srgbClr val="065A82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la documentation officielle</a:t>
            </a:r>
            <a:r>
              <a:rPr lang="fr-FR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53990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B480-2E0E-7859-5BC3-6B4248240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50CDFB-2A78-FAE2-1F6B-4ECC772F238F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72BDD9-E183-360F-A915-245C178C2A8A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FC3CFB-4C3B-E42A-9897-CD0CEC03E0B4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227F5E8-BDC5-3503-A7BF-292B35D16B12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Code Completion dans Fabric Data Warehouse (Preview)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34AEC86-EF02-AB3F-2A4F-8CC09E376471}"/>
              </a:ext>
            </a:extLst>
          </p:cNvPr>
          <p:cNvSpPr/>
          <p:nvPr/>
        </p:nvSpPr>
        <p:spPr>
          <a:xfrm>
            <a:off x="457200" y="115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spcAft>
                <a:spcPts val="650"/>
              </a:spcAft>
              <a:buNone/>
            </a:pPr>
            <a:r>
              <a:rPr lang="fr-FR" sz="110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</a:t>
            </a:r>
            <a:r>
              <a:rPr lang="fr-FR" sz="110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assiste les développeurs SQL en proposant des suggestions T-SQL intelligentes directement dans l’éditeur de requêtes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Warehouse. Il s’appuie sur le schéma du Data Warehouse et le contexte de la requête en cours afin de générer des complétions pertinentes en temps réel.</a:t>
            </a:r>
          </a:p>
          <a:p>
            <a:pPr marL="0" indent="0">
              <a:lnSpc>
                <a:spcPct val="106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fr-FR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automatique de requêtes T-SQL pendant la saisie.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contextuelles basées sur les tables, colonnes et objets du Data Warehouse.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blocs de code complets, et non seulement de quelques mots.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commandes DDL, DML et DQL.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 de générer du SQL à partir de commentaires rédigés en langage naturel.</a:t>
            </a:r>
          </a:p>
          <a:p>
            <a:pPr marL="342900" indent="-342900">
              <a:lnSpc>
                <a:spcPct val="106000"/>
              </a:lnSpc>
              <a:spcAft>
                <a:spcPts val="450"/>
              </a:spcAft>
              <a:buSzPct val="100000"/>
              <a:buChar char="•"/>
            </a:pP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plusieurs variantes de code pour une même demande.</a:t>
            </a:r>
          </a:p>
          <a:p>
            <a:pPr marL="0" indent="0">
              <a:lnSpc>
                <a:spcPct val="106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fr-FR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</a:p>
          <a:p>
            <a:pPr marL="0" indent="0">
              <a:lnSpc>
                <a:spcPct val="106000"/>
              </a:lnSpc>
              <a:buNone/>
            </a:pP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affiche des suggestions directement dans l’éditeur sous forme de texte grisé («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»). Les utilisateurs peuvent accepter l’intégralité d’une proposition, n’en sélectionner qu’une partie ou choisir parmi plusieurs alternatives. Les commentaires en langage naturel peuvent également être utilisés pour décrire l’intention métier, </a:t>
            </a:r>
            <a:r>
              <a:rPr lang="fr-FR" sz="110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générant ensuite la requête SQL correspondante.</a:t>
            </a:r>
          </a:p>
        </p:txBody>
      </p:sp>
    </p:spTree>
    <p:extLst>
      <p:ext uri="{BB962C8B-B14F-4D97-AF65-F5344CB8AC3E}">
        <p14:creationId xmlns:p14="http://schemas.microsoft.com/office/powerpoint/2010/main" val="419778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0A13F9A-0417-F13D-E1B4-1D91B90C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763"/>
            <a:ext cx="9144000" cy="43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11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86E5EC-8AC9-E829-C625-7FF91DC2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322" y="0"/>
            <a:ext cx="41073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07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1558AA1-4651-F90A-9296-0B219501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18"/>
            <a:ext cx="9144000" cy="45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08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2A8F08-72B4-6B43-E61A-7E8721BAF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355"/>
            <a:ext cx="9144000" cy="4552790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34FC9BA-66F3-6F12-B1B1-B02B3CF2FF2E}"/>
              </a:ext>
            </a:extLst>
          </p:cNvPr>
          <p:cNvSpPr/>
          <p:nvPr/>
        </p:nvSpPr>
        <p:spPr>
          <a:xfrm>
            <a:off x="1682885" y="4659549"/>
            <a:ext cx="1819072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64BB419-109B-32AD-7BE6-529C1CEBC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51" y="1313235"/>
            <a:ext cx="5388163" cy="443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2E313D2-1833-D9EA-768F-482E7444E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51" y="1908980"/>
            <a:ext cx="5023469" cy="2015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A7A54DF-4C66-ED78-25CA-F14B5A520CCC}"/>
              </a:ext>
            </a:extLst>
          </p:cNvPr>
          <p:cNvSpPr/>
          <p:nvPr/>
        </p:nvSpPr>
        <p:spPr>
          <a:xfrm>
            <a:off x="4324913" y="1066730"/>
            <a:ext cx="1180942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97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09ADF48-413E-A32E-68E2-37AD0E301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99"/>
            <a:ext cx="9144000" cy="4533701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1B80190-5116-ACCD-6D3E-6DAD5E010E79}"/>
              </a:ext>
            </a:extLst>
          </p:cNvPr>
          <p:cNvSpPr/>
          <p:nvPr/>
        </p:nvSpPr>
        <p:spPr>
          <a:xfrm>
            <a:off x="4324913" y="1066730"/>
            <a:ext cx="548644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06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D0F9BFA-CDAC-9F60-93C0-D6D7026F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516"/>
            <a:ext cx="9144000" cy="4550468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71DE278-1130-F949-37D6-67D1AC782DF5}"/>
              </a:ext>
            </a:extLst>
          </p:cNvPr>
          <p:cNvSpPr/>
          <p:nvPr/>
        </p:nvSpPr>
        <p:spPr>
          <a:xfrm>
            <a:off x="4850207" y="1066730"/>
            <a:ext cx="548644" cy="18859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286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400AD-65BD-A924-F280-FB95D8FA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pour Data Factory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Dataflows gen2</a:t>
            </a:r>
          </a:p>
          <a:p>
            <a:pPr marL="742950" indent="-285750">
              <a:spcAft>
                <a:spcPts val="8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une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nouvelle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</a:t>
            </a: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  <a:hlinkClick r:id="rId2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b="1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</a:p>
          <a:p>
            <a:pPr marL="742950" indent="-285750">
              <a:spcAft>
                <a:spcPts val="4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et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exécuter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un pipeline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742950" indent="-285750">
              <a:spcAft>
                <a:spcPts val="4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Résumer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un pipeline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742950" indent="-285750">
              <a:spcAft>
                <a:spcPts val="400"/>
              </a:spcAft>
              <a:buSzPct val="100000"/>
              <a:buChar char="–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Diagnostiquer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 les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erreurs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 de pipeline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875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4282E-275F-6020-B42A-B7B74A6B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B80F02-503D-FADC-AE53-EC2A8ABDB3D6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C80EEE-96FE-2F70-9EBB-73990DCC6CBB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D9F2D-1493-955B-68EB-DE17A7EC0D78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0DB0F53-0D17-075B-CF8D-0F6F7E9B3271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</a:t>
            </a: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transformations avec Copilot</a:t>
            </a:r>
            <a:endParaRPr lang="en-US" sz="2800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0BBB9CB-816F-9B6C-B181-E76D18B4B608}"/>
              </a:ext>
            </a:extLst>
          </p:cNvPr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Une fois les données chargées,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peut générer des étapes de transformation à partir d’une instruction textuelle.</a:t>
            </a: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ajoute alors une étape dans la requête sélectionnée. L’utilisateur peut vérifier le résultat dans :</a:t>
            </a:r>
          </a:p>
          <a:p>
            <a:pPr lvl="1" fontAlgn="t">
              <a:lnSpc>
                <a:spcPts val="155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la liste </a:t>
            </a:r>
            <a:r>
              <a:rPr lang="fr-FR" sz="1150" b="1" dirty="0" err="1">
                <a:latin typeface="Segoe UI" panose="020B0502040204020203" pitchFamily="34" charset="0"/>
              </a:rPr>
              <a:t>Applied</a:t>
            </a:r>
            <a:r>
              <a:rPr lang="fr-FR" sz="1150" b="1" dirty="0">
                <a:latin typeface="Segoe UI" panose="020B0502040204020203" pitchFamily="34" charset="0"/>
              </a:rPr>
              <a:t> </a:t>
            </a:r>
            <a:r>
              <a:rPr lang="fr-FR" sz="1150" b="1" dirty="0" err="1">
                <a:latin typeface="Segoe UI" panose="020B0502040204020203" pitchFamily="34" charset="0"/>
              </a:rPr>
              <a:t>steps</a:t>
            </a:r>
            <a:r>
              <a:rPr lang="fr-FR" sz="1150" dirty="0">
                <a:latin typeface="Segoe UI" panose="020B0502040204020203" pitchFamily="34" charset="0"/>
              </a:rPr>
              <a:t> ;</a:t>
            </a:r>
          </a:p>
          <a:p>
            <a:pPr lvl="1" fontAlgn="t">
              <a:lnSpc>
                <a:spcPts val="155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la barre de formule ;</a:t>
            </a:r>
          </a:p>
          <a:p>
            <a:pPr lvl="1" fontAlgn="t">
              <a:lnSpc>
                <a:spcPts val="155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l’aperçu des données.</a:t>
            </a: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endParaRPr lang="fr-FR" sz="1150" dirty="0">
              <a:latin typeface="Segoe UI" panose="020B0502040204020203" pitchFamily="34" charset="0"/>
            </a:endParaRP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peut aussi produire des agrégations.</a:t>
            </a:r>
          </a:p>
          <a:p>
            <a:pPr lvl="1" fontAlgn="t">
              <a:lnSpc>
                <a:spcPts val="1550"/>
              </a:lnSpc>
              <a:spcBef>
                <a:spcPts val="700"/>
              </a:spcBef>
            </a:pPr>
            <a:r>
              <a:rPr lang="fr-FR" sz="1150" dirty="0">
                <a:latin typeface="Segoe UI" panose="020B0502040204020203" pitchFamily="34" charset="0"/>
              </a:rPr>
              <a:t>Exemple : </a:t>
            </a:r>
            <a:r>
              <a:rPr lang="fr-FR" sz="1150" dirty="0">
                <a:latin typeface="Courier New" panose="02070309020205020404" pitchFamily="49" charset="0"/>
              </a:rPr>
              <a:t>Count the total </a:t>
            </a:r>
            <a:r>
              <a:rPr lang="fr-FR" sz="1150" dirty="0" err="1">
                <a:latin typeface="Courier New" panose="02070309020205020404" pitchFamily="49" charset="0"/>
              </a:rPr>
              <a:t>number</a:t>
            </a:r>
            <a:r>
              <a:rPr lang="fr-FR" sz="1150" dirty="0">
                <a:latin typeface="Courier New" panose="02070309020205020404" pitchFamily="49" charset="0"/>
              </a:rPr>
              <a:t> of </a:t>
            </a:r>
            <a:r>
              <a:rPr lang="fr-FR" sz="1150" dirty="0" err="1">
                <a:latin typeface="Courier New" panose="02070309020205020404" pitchFamily="49" charset="0"/>
              </a:rPr>
              <a:t>employees</a:t>
            </a:r>
            <a:r>
              <a:rPr lang="fr-FR" sz="1150" dirty="0">
                <a:latin typeface="Courier New" panose="02070309020205020404" pitchFamily="49" charset="0"/>
              </a:rPr>
              <a:t> by City</a:t>
            </a:r>
            <a:endParaRPr lang="fr-FR" sz="1150" dirty="0">
              <a:latin typeface="Segoe UI" panose="020B0502040204020203" pitchFamily="34" charset="0"/>
            </a:endParaRPr>
          </a:p>
          <a:p>
            <a:pPr fontAlgn="t">
              <a:lnSpc>
                <a:spcPts val="155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fr-FR" sz="1150" dirty="0">
                <a:latin typeface="Segoe UI" panose="020B0502040204020203" pitchFamily="34" charset="0"/>
              </a:rPr>
              <a:t> Il peut appliquer des filtres plus avancés.</a:t>
            </a:r>
          </a:p>
          <a:p>
            <a:pPr lvl="1" fontAlgn="t">
              <a:lnSpc>
                <a:spcPts val="1550"/>
              </a:lnSpc>
              <a:spcBef>
                <a:spcPts val="700"/>
              </a:spcBef>
            </a:pPr>
            <a:r>
              <a:rPr lang="fr-FR" sz="1150" dirty="0">
                <a:latin typeface="Segoe UI" panose="020B0502040204020203" pitchFamily="34" charset="0"/>
              </a:rPr>
              <a:t>Exemple : </a:t>
            </a:r>
            <a:r>
              <a:rPr lang="fr-FR" sz="1150" dirty="0">
                <a:latin typeface="Courier New" panose="02070309020205020404" pitchFamily="49" charset="0"/>
              </a:rPr>
              <a:t>Only </a:t>
            </a:r>
            <a:r>
              <a:rPr lang="fr-FR" sz="1150" dirty="0" err="1">
                <a:latin typeface="Courier New" panose="02070309020205020404" pitchFamily="49" charset="0"/>
              </a:rPr>
              <a:t>keep</a:t>
            </a:r>
            <a:r>
              <a:rPr lang="fr-FR" sz="1150" dirty="0">
                <a:latin typeface="Courier New" panose="02070309020205020404" pitchFamily="49" charset="0"/>
              </a:rPr>
              <a:t> </a:t>
            </a:r>
            <a:r>
              <a:rPr lang="fr-FR" sz="1150" dirty="0" err="1">
                <a:latin typeface="Courier New" panose="02070309020205020404" pitchFamily="49" charset="0"/>
              </a:rPr>
              <a:t>orders</a:t>
            </a:r>
            <a:r>
              <a:rPr lang="fr-FR" sz="1150" dirty="0">
                <a:latin typeface="Courier New" panose="02070309020205020404" pitchFamily="49" charset="0"/>
              </a:rPr>
              <a:t> </a:t>
            </a:r>
            <a:r>
              <a:rPr lang="fr-FR" sz="1150" dirty="0" err="1">
                <a:latin typeface="Courier New" panose="02070309020205020404" pitchFamily="49" charset="0"/>
              </a:rPr>
              <a:t>whose</a:t>
            </a:r>
            <a:r>
              <a:rPr lang="fr-FR" sz="1150" dirty="0">
                <a:latin typeface="Courier New" panose="02070309020205020404" pitchFamily="49" charset="0"/>
              </a:rPr>
              <a:t> </a:t>
            </a:r>
            <a:r>
              <a:rPr lang="fr-FR" sz="1150" dirty="0" err="1">
                <a:latin typeface="Courier New" panose="02070309020205020404" pitchFamily="49" charset="0"/>
              </a:rPr>
              <a:t>quantities</a:t>
            </a:r>
            <a:r>
              <a:rPr lang="fr-FR" sz="1150" dirty="0">
                <a:latin typeface="Courier New" panose="02070309020205020404" pitchFamily="49" charset="0"/>
              </a:rPr>
              <a:t> are </a:t>
            </a:r>
            <a:r>
              <a:rPr lang="fr-FR" sz="1150" dirty="0" err="1">
                <a:latin typeface="Courier New" panose="02070309020205020404" pitchFamily="49" charset="0"/>
              </a:rPr>
              <a:t>above</a:t>
            </a:r>
            <a:r>
              <a:rPr lang="fr-FR" sz="1150" dirty="0">
                <a:latin typeface="Courier New" panose="02070309020205020404" pitchFamily="49" charset="0"/>
              </a:rPr>
              <a:t> the </a:t>
            </a:r>
            <a:r>
              <a:rPr lang="fr-FR" sz="1150" dirty="0" err="1">
                <a:latin typeface="Courier New" panose="02070309020205020404" pitchFamily="49" charset="0"/>
              </a:rPr>
              <a:t>median</a:t>
            </a:r>
            <a:r>
              <a:rPr lang="fr-FR" sz="1150" dirty="0">
                <a:latin typeface="Courier New" panose="02070309020205020404" pitchFamily="49" charset="0"/>
              </a:rPr>
              <a:t> value</a:t>
            </a:r>
            <a:endParaRPr lang="fr-FR" sz="1150" dirty="0">
              <a:latin typeface="Segoe UI" panose="020B0502040204020203" pitchFamily="34" charset="0"/>
            </a:endParaRPr>
          </a:p>
          <a:p>
            <a:pPr fontAlgn="t">
              <a:lnSpc>
                <a:spcPts val="1550"/>
              </a:lnSpc>
              <a:spcBef>
                <a:spcPts val="700"/>
              </a:spcBef>
              <a:buNone/>
            </a:pPr>
            <a:r>
              <a:rPr lang="fr-FR" sz="1150" dirty="0">
                <a:latin typeface="Segoe UI" panose="020B0502040204020203" pitchFamily="34" charset="0"/>
              </a:rPr>
              <a:t>Les réponses de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 apparaissent sous forme de cartes dans le panneau </a:t>
            </a:r>
            <a:r>
              <a:rPr lang="fr-FR" sz="1150" dirty="0" err="1">
                <a:latin typeface="Segoe UI" panose="020B0502040204020203" pitchFamily="34" charset="0"/>
              </a:rPr>
              <a:t>Copilot</a:t>
            </a:r>
            <a:r>
              <a:rPr lang="fr-FR" sz="1150" dirty="0">
                <a:latin typeface="Segoe UI" panose="020B0502040204020203" pitchFamily="34" charset="0"/>
              </a:rPr>
              <a:t>, avec la possibilité d’annuler certaines actions tant que la requête n’a pas été modifiée manuellement.</a:t>
            </a:r>
          </a:p>
        </p:txBody>
      </p:sp>
    </p:spTree>
    <p:extLst>
      <p:ext uri="{BB962C8B-B14F-4D97-AF65-F5344CB8AC3E}">
        <p14:creationId xmlns:p14="http://schemas.microsoft.com/office/powerpoint/2010/main" val="479268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84E64-4F6B-EAE6-63FC-75F18CB5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42D73-9B1B-4423-D35F-064A3376B693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374437-F533-38E4-E803-E1A92840E62D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973B00-3D82-A8FB-D42A-BA6BA5A504A7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978999C-11AB-AF3B-1528-F4F1DC498314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 de requêtes de transformation par IA</a:t>
            </a:r>
            <a:endParaRPr lang="en-US" sz="2800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8BBEE8F-D04F-774A-2A73-F8931FEA4E0C}"/>
              </a:ext>
            </a:extLst>
          </p:cNvPr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</a:t>
            </a:r>
            <a:r>
              <a:rPr lang="fr-FR" sz="1250" dirty="0" err="1">
                <a:latin typeface="Segoe UI" panose="020B0502040204020203" pitchFamily="34" charset="0"/>
              </a:rPr>
              <a:t>Copilot</a:t>
            </a:r>
            <a:r>
              <a:rPr lang="fr-FR" sz="1250" dirty="0">
                <a:latin typeface="Segoe UI" panose="020B0502040204020203" pitchFamily="34" charset="0"/>
              </a:rPr>
              <a:t> facilite la création de transformations sans écrire manuellement le code Power Query / M.</a:t>
            </a: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L’utilisateur exprime son besoin en langage naturel.</a:t>
            </a: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</a:t>
            </a:r>
            <a:r>
              <a:rPr lang="fr-FR" sz="1250" dirty="0" err="1">
                <a:latin typeface="Segoe UI" panose="020B0502040204020203" pitchFamily="34" charset="0"/>
              </a:rPr>
              <a:t>Copilot</a:t>
            </a:r>
            <a:r>
              <a:rPr lang="fr-FR" sz="1250" dirty="0">
                <a:latin typeface="Segoe UI" panose="020B0502040204020203" pitchFamily="34" charset="0"/>
              </a:rPr>
              <a:t> traduit cette demande en étapes de transformation.</a:t>
            </a: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endParaRPr lang="fr-FR" sz="1250" dirty="0">
              <a:latin typeface="Segoe UI" panose="020B0502040204020203" pitchFamily="34" charset="0"/>
            </a:endParaRPr>
          </a:p>
          <a:p>
            <a:pPr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L’approche permet d’accélérer les tâches fréquentes :</a:t>
            </a:r>
          </a:p>
          <a:p>
            <a:pPr lvl="1" fontAlgn="t">
              <a:lnSpc>
                <a:spcPts val="18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filtrage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agrégation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nettoyage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enrichissement ;</a:t>
            </a:r>
          </a:p>
          <a:p>
            <a:pPr lvl="1" fontAlgn="t">
              <a:lnSpc>
                <a:spcPts val="18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fr-FR" sz="1250" dirty="0">
                <a:latin typeface="Segoe UI" panose="020B0502040204020203" pitchFamily="34" charset="0"/>
              </a:rPr>
              <a:t> préparation des données pour analyse.</a:t>
            </a:r>
          </a:p>
        </p:txBody>
      </p:sp>
    </p:spTree>
    <p:extLst>
      <p:ext uri="{BB962C8B-B14F-4D97-AF65-F5344CB8AC3E}">
        <p14:creationId xmlns:p14="http://schemas.microsoft.com/office/powerpoint/2010/main" val="342138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CD1CF5F-F3D9-1F74-9771-1163D03F8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654"/>
            <a:ext cx="9144000" cy="440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2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2632EFB-FBB2-E403-FE21-2ECEF1FC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983"/>
            <a:ext cx="9144000" cy="439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29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16FF6EE-B894-20FB-FA3B-0A1B63A1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812"/>
            <a:ext cx="9144000" cy="43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63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AE84719-286F-208D-8B32-15C25DCED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946"/>
            <a:ext cx="9144000" cy="440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23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A3F5C73-7CE7-92CA-F386-89F5E35A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577"/>
            <a:ext cx="9144000" cy="441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4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23D675C-6251-9A09-8E81-8DD70F3B2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521"/>
            <a:ext cx="9144000" cy="439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72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2B91FD6-EDF9-E1D6-53F6-0908AC8F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093"/>
            <a:ext cx="9144000" cy="439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88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7A11E-929A-AB0E-DBB8-25038494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pour Data Engineering et Data Science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Copilot chat pane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notebook, avec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refactorisation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validation de code à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l'échelle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notebook.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du code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du markdown dans les workflows de notebook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Ajouter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commentaires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corriger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erreurs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optimiser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 le code du notebook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Analyser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et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visualiser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les données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Fix with Copilot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résumés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d'erreurs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causes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corrections de code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validation,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chat pane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Copilot in-cell.</a:t>
            </a:r>
          </a:p>
        </p:txBody>
      </p:sp>
    </p:spTree>
    <p:extLst>
      <p:ext uri="{BB962C8B-B14F-4D97-AF65-F5344CB8AC3E}">
        <p14:creationId xmlns:p14="http://schemas.microsoft.com/office/powerpoint/2010/main" val="382587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9F56-10D2-3923-1F6F-DDA29822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03DA1C-EDFB-7B59-EF11-65B387476994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5B7D33-787D-6EAC-EB40-76E20D323741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8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955FE9-5672-5193-A428-01BE28FB1ABD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C57FEAB-763C-0538-33E7-AB97DD3CCFDF}"/>
              </a:ext>
            </a:extLst>
          </p:cNvPr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 Pane pour Data Engineering &amp; Data Science (Preview)</a:t>
            </a:r>
            <a:endParaRPr lang="en-US" sz="2800" dirty="0"/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102ED3E-770F-4DB3-BB18-67AF5B2E0FD7}"/>
              </a:ext>
            </a:extLst>
          </p:cNvPr>
          <p:cNvSpPr/>
          <p:nvPr/>
        </p:nvSpPr>
        <p:spPr>
          <a:xfrm>
            <a:off x="457200" y="115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notebooks 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agit comme un assistant IA conversationnel capable d’accompagner les utilisateurs tout au long du cycle de développement, d’analyse et d’optimisation de notebooks. Il exploite automatiquement le contexte du notebook (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tables, schémas, code existant et environnement d’exécution) pour fournir une assistance pertinente.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conversationnelle multi-étapes via un panneau de chat intégré.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 code 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Spark SQL et Python.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Exploration, profilage et validation des données.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Explication, correction, documentation et optimisation du code existant.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erreurs et assistance au dépannage des notebooks.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modifications avec visualisation des différences (diff 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avant validation.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conversations conservé entre les sessions.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avancées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code directement dans les cellules du notebook.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rapides :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expliquer le code.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corriger les erreurs.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documenter le code.</a:t>
            </a:r>
          </a:p>
          <a:p>
            <a:pPr marL="742950" indent="-285750">
              <a:lnSpc>
                <a:spcPct val="100000"/>
              </a:lnSpc>
              <a:spcAft>
                <a:spcPts val="100"/>
              </a:spcAft>
              <a:buSzPct val="100000"/>
              <a:buChar char="–"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850" b="1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optimiser les performances et la qualité du code.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spcAft>
                <a:spcPts val="100"/>
              </a:spcAft>
              <a:buNone/>
            </a:pPr>
            <a:r>
              <a:rPr lang="fr-FR" sz="85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l'optimisation et au diagnostic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sur les jointures, les </a:t>
            </a:r>
            <a:r>
              <a:rPr lang="fr-FR" sz="85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shuffles</a:t>
            </a: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les performances Spark.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 problèmes de qualité des données.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automatique des échecs d’exécution.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logs Spark et proposition de correctifs.</a:t>
            </a:r>
          </a:p>
          <a:p>
            <a:pPr marL="342900" indent="-3429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fr-FR" sz="8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de corrections applicables après validation de l’utilisateur.</a:t>
            </a:r>
          </a:p>
        </p:txBody>
      </p:sp>
    </p:spTree>
    <p:extLst>
      <p:ext uri="{BB962C8B-B14F-4D97-AF65-F5344CB8AC3E}">
        <p14:creationId xmlns:p14="http://schemas.microsoft.com/office/powerpoint/2010/main" val="958450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480060" y="342900"/>
            <a:ext cx="7543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900" b="1" kern="0" spc="22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CLÉ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0060" y="562356"/>
            <a:ext cx="82296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Prompter en contexte data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0060" y="1220724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12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prompt donne le contexte, pas seulement la demande : données, intention, contraintes.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0060" y="1680210"/>
            <a:ext cx="4011930" cy="1062990"/>
          </a:xfrm>
          <a:prstGeom prst="rect">
            <a:avLst/>
          </a:prstGeom>
          <a:solidFill>
            <a:srgbClr val="FBEDEC"/>
          </a:solidFill>
          <a:ln w="12700">
            <a:solidFill>
              <a:srgbClr val="E3B7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51510" y="1783080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863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VAGUE</a:t>
            </a:r>
            <a:endParaRPr lang="en-US" sz="8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51510" y="2023110"/>
            <a:ext cx="37033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i="1" dirty="0">
                <a:solidFill>
                  <a:srgbClr val="7A3B3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« écris du code PySpark pour agréger les ventes »</a:t>
            </a:r>
            <a:endParaRPr lang="en-US" sz="9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29150" y="1680210"/>
            <a:ext cx="4011930" cy="1062990"/>
          </a:xfrm>
          <a:prstGeom prst="rect">
            <a:avLst/>
          </a:prstGeom>
          <a:solidFill>
            <a:srgbClr val="E7F4F1"/>
          </a:solidFill>
          <a:ln w="12700">
            <a:solidFill>
              <a:srgbClr val="9AD3C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4290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863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CONTEXTUALISÉ</a:t>
            </a:r>
            <a:endParaRPr lang="en-US" sz="8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0600" y="2023110"/>
            <a:ext cx="370332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i="1" dirty="0">
                <a:solidFill>
                  <a:srgbClr val="134E4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« En PySpark, sur df_sales (date, montant, client_id) : CA mensuel par client, montants null → 0, trié décroissant »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" y="2983230"/>
            <a:ext cx="259232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85800" y="3202686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86" y="3319272"/>
            <a:ext cx="260604" cy="2606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3751326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Donner les données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" y="4011930"/>
            <a:ext cx="221513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DataFrame, colonnes, types, volumétrie.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64408" y="2983230"/>
            <a:ext cx="259232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470148" y="3202686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34" y="3319272"/>
            <a:ext cx="260604" cy="26060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70148" y="3751326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commentaire d'abord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70148" y="4011930"/>
            <a:ext cx="221513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l'intention en commentaire, laisser compléter.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048756" y="2983230"/>
            <a:ext cx="2592324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254496" y="3202686"/>
            <a:ext cx="493776" cy="49377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082" y="3319272"/>
            <a:ext cx="260604" cy="2606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54496" y="3751326"/>
            <a:ext cx="2180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Découper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254496" y="4011930"/>
            <a:ext cx="221513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38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cellule = une étape logique nommée.</a:t>
            </a:r>
            <a:endParaRPr lang="en-US" sz="93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457971" y="4766310"/>
            <a:ext cx="48006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85800"/>
            <a:r>
              <a:rPr lang="en-US" sz="7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1" name="Footer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</a:rPr>
              <a:t>Formation GitHub Copilot pour Microsoft Fabric  -  Expertime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0102BA5-C081-0EFF-2147-FBA4878E2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454"/>
            <a:ext cx="9144000" cy="45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96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6B9F548-6876-3D8A-DFD0-92005F1C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229" y="0"/>
            <a:ext cx="2750173" cy="51435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9FCF719-B271-96F5-753E-7BE3E2A0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0"/>
            <a:ext cx="27226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49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57B25D4-49A7-CD05-6B74-F91259ABC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527"/>
            <a:ext cx="9144000" cy="456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31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Screenshot of the chat history pane showing previous Copilot conversations.">
            <a:extLst>
              <a:ext uri="{FF2B5EF4-FFF2-40B4-BE49-F238E27FC236}">
                <a16:creationId xmlns:a16="http://schemas.microsoft.com/office/drawing/2014/main" id="{B79819EB-DE22-227B-0D8B-1050F614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39" y="579956"/>
            <a:ext cx="7160528" cy="398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6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3994F60-62DD-8F6F-5C0A-CAB5EAB3A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681"/>
            <a:ext cx="9144000" cy="454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04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0A84EB5-72C9-1218-8882-76DACF031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881"/>
            <a:ext cx="9144000" cy="45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94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18C6-188C-232D-CDB5-2F53A2171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25FA27F-2F67-C946-C29C-E02EE9F6A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043"/>
            <a:ext cx="9144000" cy="453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76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CA830-95AE-A5B4-84EA-9519FB34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A4EA06-FB18-782D-28E1-E36324865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488"/>
            <a:ext cx="9144000" cy="453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40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AEF10-EA32-AE05-01F4-435F74D0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98D21B7-72B4-FFFC-DB74-5224BFF3D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908"/>
            <a:ext cx="9144000" cy="454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92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208643F-C763-8966-6125-C3A2F2DA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542"/>
            <a:ext cx="9144000" cy="456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51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828FA9-38F5-738D-7457-A19557936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082"/>
            <a:ext cx="9144000" cy="454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83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4D4687-6CAE-548A-8AD6-A38712D2F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756"/>
            <a:ext cx="9144000" cy="458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79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53DE-A14A-0A80-AFE4-625C91DE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E52C263-4BA4-44D3-898F-F2E888CB7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554"/>
            <a:ext cx="9144000" cy="45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600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9F189CD-FB0B-3780-F2A4-2FE1F2A8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712"/>
            <a:ext cx="9144000" cy="456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9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721C-C478-12BE-6F33-4FB2274B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6D9FBC3-DEFA-B848-3B93-BF2C6C294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803"/>
            <a:ext cx="9144000" cy="450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630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C48E-12DE-0488-4491-309F4D253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0ECFF38-9CB3-C2DD-842B-AE41E99CC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504"/>
            <a:ext cx="9144000" cy="455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331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5A32-EEA0-2768-7741-C45648F6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95A8012-2DAE-6770-7559-326CC0B94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702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KQL queryset</a:t>
            </a:r>
            <a:endParaRPr lang="en-US" sz="2800"/>
          </a:p>
        </p:txBody>
      </p:sp>
      <p:sp>
        <p:nvSpPr>
          <p:cNvPr id="6" name="Body"/>
          <p:cNvSpPr/>
          <p:nvPr/>
        </p:nvSpPr>
        <p:spPr>
          <a:xfrm>
            <a:off x="457200" y="1440000"/>
            <a:ext cx="8229600" cy="3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des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KQL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Modifier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ou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explorer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une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requête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KQL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générée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précédemment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>
              <a:solidFill>
                <a:srgbClr val="1A2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Générer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du KQL pour les </a:t>
            </a:r>
            <a:r>
              <a:rPr lang="en-US" sz="16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raccourcis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 (preview)</a:t>
            </a: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2792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F1B57F-5FB3-9C89-590A-3012BDF4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F83385-71A6-038F-0402-C1C1388D384E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10BE27-88E8-3E92-8DDC-C4977AB0C288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dans Fabric -  Fondamentaux</a:t>
            </a:r>
            <a:endParaRPr lang="en-US"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14DA48-92B4-0775-491C-FC9D982259AC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EBE6AE6-CD01-1B53-6E1F-10C1F596889E}"/>
              </a:ext>
            </a:extLst>
          </p:cNvPr>
          <p:cNvSpPr/>
          <p:nvPr/>
        </p:nvSpPr>
        <p:spPr>
          <a:xfrm>
            <a:off x="457200" y="360000"/>
            <a:ext cx="8229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où </a:t>
            </a:r>
            <a:r>
              <a:rPr lang="fr-FR" sz="24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r>
              <a:rPr lang="fr-FR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apporte le plus de valeur</a:t>
            </a:r>
            <a:endParaRPr lang="en-US" sz="24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5A1BF56-4652-794C-77C7-524E61D89F64}"/>
              </a:ext>
            </a:extLst>
          </p:cNvPr>
          <p:cNvSpPr txBox="1"/>
          <p:nvPr/>
        </p:nvSpPr>
        <p:spPr>
          <a:xfrm>
            <a:off x="457200" y="1140000"/>
            <a:ext cx="8229600" cy="7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fr-FR" sz="1100" kern="100" dirty="0" err="1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Copilot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dans Microsoft </a:t>
            </a:r>
            <a:r>
              <a:rPr lang="fr-FR" sz="1100" kern="100" dirty="0" err="1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Fabric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ne remplace pas l’expertise data : il </a:t>
            </a:r>
            <a:r>
              <a:rPr lang="fr-FR" sz="1100" b="1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accélère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fr-FR" sz="1100" b="1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débloque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et </a:t>
            </a:r>
            <a:r>
              <a:rPr lang="fr-FR" sz="1100" b="1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standardise</a:t>
            </a: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endParaRPr lang="fr-FR" sz="1100" kern="100" dirty="0">
              <a:solidFill>
                <a:srgbClr val="1A233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lnSpc>
                <a:spcPct val="106000"/>
              </a:lnSpc>
              <a:buNone/>
            </a:pPr>
            <a:r>
              <a:rPr lang="fr-FR" sz="1100" b="1" kern="100" dirty="0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Les usages où </a:t>
            </a:r>
            <a:r>
              <a:rPr lang="fr-FR" sz="1100" b="1" kern="100" dirty="0" err="1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Copilot</a:t>
            </a:r>
            <a:r>
              <a:rPr lang="fr-FR" sz="1100" b="1" kern="100" dirty="0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est vraiment pertinent :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3400FE08-1F13-9F54-C2EA-79CF5031A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08611"/>
              </p:ext>
            </p:extLst>
          </p:nvPr>
        </p:nvGraphicFramePr>
        <p:xfrm>
          <a:off x="457200" y="1980000"/>
          <a:ext cx="8229600" cy="124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2926271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996765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b="1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Domaine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b="1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Apport réel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3023559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Data Engineering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Génération de transformations, explication de pipelines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388146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SQL / Lakehouse / Warehouse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Aide à l’écriture, compréhension et refactorisation de requêtes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294086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Data Science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Notebooks Python, feature engineering, explication de modèles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208256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Power BI intégré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Mesures DAX, narration, interprétation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2525365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Documentation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fr-FR" sz="1000" kern="100">
                          <a:effectLst/>
                          <a:latin typeface="Calibri" pitchFamily="34" charset="0"/>
                          <a:ea typeface="Calibri" pitchFamily="34" charset="0"/>
                          <a:cs typeface="Calibri" pitchFamily="34" charset="0"/>
                        </a:rPr>
                        <a:t>Résumés, commentaires, explication des flux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2209993989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B5A1BF56-4652-794C-77C7-524E61D89F65}"/>
              </a:ext>
            </a:extLst>
          </p:cNvPr>
          <p:cNvSpPr txBox="1"/>
          <p:nvPr/>
        </p:nvSpPr>
        <p:spPr>
          <a:xfrm>
            <a:off x="457200" y="3520000"/>
            <a:ext cx="8229600" cy="1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lnSpc>
                <a:spcPct val="106000"/>
              </a:lnSpc>
              <a:spcAft>
                <a:spcPts val="300"/>
              </a:spcAft>
              <a:buNone/>
            </a:pPr>
            <a:r>
              <a:rPr lang="fr-FR" sz="1100" b="1" kern="100" dirty="0">
                <a:solidFill>
                  <a:srgbClr val="065A8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Où il est moins efficace :</a:t>
            </a:r>
          </a:p>
          <a:p>
            <a:pPr marL="342900" indent="-342900">
              <a:lnSpc>
                <a:spcPct val="106000"/>
              </a:lnSpc>
              <a:spcAft>
                <a:spcPts val="200"/>
              </a:spcAft>
              <a:buSzPct val="100000"/>
              <a:buChar char="•"/>
            </a:pP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Logique métier complexe implicite</a:t>
            </a:r>
          </a:p>
          <a:p>
            <a:pPr marL="342900" indent="-342900">
              <a:lnSpc>
                <a:spcPct val="106000"/>
              </a:lnSpc>
              <a:spcAft>
                <a:spcPts val="200"/>
              </a:spcAft>
              <a:buSzPct val="100000"/>
              <a:buChar char="•"/>
            </a:pP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Cas de performance très spécifiques</a:t>
            </a:r>
          </a:p>
          <a:p>
            <a:pPr marL="342900" indent="-342900">
              <a:lnSpc>
                <a:spcPct val="106000"/>
              </a:lnSpc>
              <a:spcAft>
                <a:spcPts val="200"/>
              </a:spcAft>
              <a:buSzPct val="100000"/>
              <a:buChar char="•"/>
            </a:pPr>
            <a:r>
              <a:rPr lang="fr-FR" sz="1100" kern="100" dirty="0">
                <a:solidFill>
                  <a:srgbClr val="1A23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Design d’architecture cible (il aide, mais ne décide pas)</a:t>
            </a:r>
          </a:p>
        </p:txBody>
      </p:sp>
    </p:spTree>
    <p:extLst>
      <p:ext uri="{BB962C8B-B14F-4D97-AF65-F5344CB8AC3E}">
        <p14:creationId xmlns:p14="http://schemas.microsoft.com/office/powerpoint/2010/main" val="2431601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377190" y="288036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vibe coding », c'est quoi ?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34440"/>
            <a:ext cx="8387334" cy="78867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453896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16736"/>
            <a:ext cx="75438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en dialoguant avec l'IA : décrire l'intention, laisser l'assistant proposer, puis itérer. Un gain de vitesse réel — mais qui doit être encadré pour rester fiable.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77190" y="2228850"/>
            <a:ext cx="4080510" cy="236601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7190" y="2228850"/>
            <a:ext cx="4080510" cy="61722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434590"/>
            <a:ext cx="288036" cy="2880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420874"/>
            <a:ext cx="32918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Bénéfices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37794" y="2846070"/>
            <a:ext cx="36004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 et exploration d'API plus rapides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code répétitif (</a:t>
            </a:r>
            <a:r>
              <a:rPr lang="en-US" sz="1013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tests générés à la demande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compétence accélérée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84014" y="2228850"/>
            <a:ext cx="4080510" cy="236601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84014" y="2228850"/>
            <a:ext cx="4080510" cy="61722"/>
          </a:xfrm>
          <a:prstGeom prst="rect">
            <a:avLst/>
          </a:prstGeom>
          <a:solidFill>
            <a:srgbClr val="D1242F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044" y="2434590"/>
            <a:ext cx="288036" cy="2880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5524" y="2420874"/>
            <a:ext cx="329184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sans cadre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944618" y="2846070"/>
            <a:ext cx="360045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technique et code peu lisible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: API ou paramètres inexistants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accepté sans tests ni revue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525"/>
              </a:spcAft>
              <a:buSzPct val="100000"/>
              <a:buFontTx/>
              <a:buChar char="•"/>
            </a:pPr>
            <a:r>
              <a:rPr lang="en-US" sz="1013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secrets, dépendances douteuses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42900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54864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règles d'or du vibe coding encadré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371600"/>
            <a:ext cx="2674620" cy="3017520"/>
          </a:xfrm>
          <a:prstGeom prst="rect">
            <a:avLst/>
          </a:prstGeom>
          <a:solidFill>
            <a:srgbClr val="161B22"/>
          </a:solidFill>
          <a:ln w="15875">
            <a:solidFill>
              <a:srgbClr val="8957E5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37310" y="1680210"/>
            <a:ext cx="754380" cy="754380"/>
          </a:xfrm>
          <a:prstGeom prst="ellipse">
            <a:avLst/>
          </a:prstGeom>
          <a:solidFill>
            <a:srgbClr val="8957E5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37310" y="168021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2930" y="257175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4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explicite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7220" y="3051810"/>
            <a:ext cx="2194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les bons fichiers, fournir schémas et conventions. L'IA répond à ce qu'elle voit — pas à ce qu'on imagine.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30118" y="1371600"/>
            <a:ext cx="2674620" cy="3017520"/>
          </a:xfrm>
          <a:prstGeom prst="rect">
            <a:avLst/>
          </a:prstGeom>
          <a:solidFill>
            <a:srgbClr val="161B22"/>
          </a:solidFill>
          <a:ln w="15875">
            <a:solidFill>
              <a:srgbClr val="1F6FEB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90238" y="1680210"/>
            <a:ext cx="754380" cy="75438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90238" y="168021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35858" y="257175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4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Petites itérations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0148" y="3051810"/>
            <a:ext cx="2194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étape par étape. Jamais 200 lignes acceptées d'un coup : on lit, on teste, on avance.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3046" y="1371600"/>
            <a:ext cx="2674620" cy="3017520"/>
          </a:xfrm>
          <a:prstGeom prst="rect">
            <a:avLst/>
          </a:prstGeom>
          <a:solidFill>
            <a:srgbClr val="161B22"/>
          </a:solidFill>
          <a:ln w="15875">
            <a:solidFill>
              <a:srgbClr val="2EA043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43166" y="1680210"/>
            <a:ext cx="754380" cy="754380"/>
          </a:xfrm>
          <a:prstGeom prst="ellipse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3166" y="1680210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88786" y="2571750"/>
            <a:ext cx="2263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4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Rien sans test + revue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23076" y="3051810"/>
            <a:ext cx="2194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code généré n'est mergé sans tests verts et revue humaine en pull request.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pour Data Engineers ·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377190" y="288036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de GitHub Copilot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64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1597914"/>
            <a:ext cx="233172" cy="23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64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Complétion inline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64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au fil de la frappe, guidées par le code et les commentaires.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2326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4271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9791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271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4271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réponses et commandes : /explain, /fix, /tests, /doc.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6933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8878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514" y="1597914"/>
            <a:ext cx="233172" cy="2331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878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Edits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8878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cohérentes sur plusieurs fichiers à la fois.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7719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9664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3243834"/>
            <a:ext cx="233172" cy="2331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64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664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autonomes multi-étapes, sous supervision.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2326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44271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43834"/>
            <a:ext cx="233172" cy="2331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271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ciblé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4271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#file, #selection, @workspace pour cadrer la réponse.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06933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8878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3243834"/>
            <a:ext cx="233172" cy="2331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878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8878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d'équipe injectées automatiquement dans chaque prompt.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35" descr="Github Copilot Icon &amp; Logo | Dashboard Icons &amp; Logos">
            <a:extLst>
              <a:ext uri="{FF2B5EF4-FFF2-40B4-BE49-F238E27FC236}">
                <a16:creationId xmlns:a16="http://schemas.microsoft.com/office/drawing/2014/main" id="{CFDF9D08-D04B-10E7-7A09-7FCC1221AE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0480" y="190210"/>
            <a:ext cx="1079524" cy="85563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218943-D96F-6006-EEF3-0F6B481E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D492FA-2A21-E8AE-1A77-8315F9068517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64F7C2-E648-B8BE-E8D1-ED50C20F1C1A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613796-B7CC-3FEA-1997-95FBE3B86E16}"/>
              </a:ext>
            </a:extLst>
          </p:cNvPr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Les 3 facons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d'utiliser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 GitHub Copilot dans VS Code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343982C-858B-3F5F-88FB-8F0651A74CE7}"/>
              </a:ext>
            </a:extLst>
          </p:cNvPr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B3D462-B6F4-ED04-D8D6-90E542EE268E}"/>
              </a:ext>
            </a:extLst>
          </p:cNvPr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3DF421-E4C1-7ED3-47E9-19F792A52BF8}"/>
              </a:ext>
            </a:extLst>
          </p:cNvPr>
          <p:cNvSpPr/>
          <p:nvPr/>
        </p:nvSpPr>
        <p:spPr>
          <a:xfrm>
            <a:off x="64008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Inline completion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A09B55-7CE3-9863-9081-208D2A5EF241}"/>
              </a:ext>
            </a:extLst>
          </p:cNvPr>
          <p:cNvSpPr/>
          <p:nvPr/>
        </p:nvSpPr>
        <p:spPr>
          <a:xfrm>
            <a:off x="64008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3B16DB-4BE9-C803-DBA5-0E00ACEB832A}"/>
              </a:ext>
            </a:extLst>
          </p:cNvPr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 ecris du code, Copilot propose la suite.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D27C5D-25D6-21C0-7E61-A8D4633682A6}"/>
              </a:ext>
            </a:extLst>
          </p:cNvPr>
          <p:cNvSpPr/>
          <p:nvPr/>
        </p:nvSpPr>
        <p:spPr>
          <a:xfrm>
            <a:off x="64008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32FFFFB-BC2C-634F-7912-3577D52807E2}"/>
              </a:ext>
            </a:extLst>
          </p:cNvPr>
          <p:cNvSpPr/>
          <p:nvPr/>
        </p:nvSpPr>
        <p:spPr>
          <a:xfrm>
            <a:off x="64008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Boilerplate, imports, types, signatures.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B300E5-68A2-962C-1FD0-D7DEE1A84094}"/>
              </a:ext>
            </a:extLst>
          </p:cNvPr>
          <p:cNvSpPr/>
          <p:nvPr/>
        </p:nvSpPr>
        <p:spPr>
          <a:xfrm>
            <a:off x="64008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8BD920-8E15-A6B7-EC9C-509F58978135}"/>
              </a:ext>
            </a:extLst>
          </p:cNvPr>
          <p:cNvSpPr/>
          <p:nvPr/>
        </p:nvSpPr>
        <p:spPr>
          <a:xfrm>
            <a:off x="64008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Tab pour accepter, Esc pour refuser. Lire AVANT d'accepter.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C0054FC-4562-5788-6543-E6A149787C12}"/>
              </a:ext>
            </a:extLst>
          </p:cNvPr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EC9989-FF0F-D66E-B45C-E4A7BA792FE0}"/>
              </a:ext>
            </a:extLst>
          </p:cNvPr>
          <p:cNvSpPr/>
          <p:nvPr/>
        </p:nvSpPr>
        <p:spPr>
          <a:xfrm>
            <a:off x="3246120" y="128016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50E983-E776-5203-91EC-8C499066F198}"/>
              </a:ext>
            </a:extLst>
          </p:cNvPr>
          <p:cNvSpPr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Inline chat (Ctrl+I)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BCE2D93-788E-3F6E-C41C-B356662EE96F}"/>
              </a:ext>
            </a:extLst>
          </p:cNvPr>
          <p:cNvSpPr/>
          <p:nvPr/>
        </p:nvSpPr>
        <p:spPr>
          <a:xfrm>
            <a:off x="342900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4C3B1F-EC1E-3C04-20DB-158CC19B6806}"/>
              </a:ext>
            </a:extLst>
          </p:cNvPr>
          <p:cNvSpPr/>
          <p:nvPr/>
        </p:nvSpPr>
        <p:spPr>
          <a:xfrm>
            <a:off x="342900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 selectionnes du code et tu poses une question dessus.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0BD72C4-C41B-ABF2-5ED7-E1C1342CE827}"/>
              </a:ext>
            </a:extLst>
          </p:cNvPr>
          <p:cNvSpPr/>
          <p:nvPr/>
        </p:nvSpPr>
        <p:spPr>
          <a:xfrm>
            <a:off x="34290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88CD45-1FBC-2027-F899-4CE64105EC9C}"/>
              </a:ext>
            </a:extLst>
          </p:cNvPr>
          <p:cNvSpPr/>
          <p:nvPr/>
        </p:nvSpPr>
        <p:spPr>
          <a:xfrm>
            <a:off x="34290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local, explication, generation ciblee.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B144BDE-EEDC-CE89-209A-B43A10AB0DC1}"/>
              </a:ext>
            </a:extLst>
          </p:cNvPr>
          <p:cNvSpPr/>
          <p:nvPr/>
        </p:nvSpPr>
        <p:spPr>
          <a:xfrm>
            <a:off x="342900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8A5BABC-1BE6-5A53-55AE-C8C7A1D51584}"/>
              </a:ext>
            </a:extLst>
          </p:cNvPr>
          <p:cNvSpPr/>
          <p:nvPr/>
        </p:nvSpPr>
        <p:spPr>
          <a:xfrm>
            <a:off x="342900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Ideal pour transformer une cellule de notebook.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F34D661-2B38-B175-BEFD-C4419703D7D7}"/>
              </a:ext>
            </a:extLst>
          </p:cNvPr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49E4992-ED2C-D063-3823-CB646790B861}"/>
              </a:ext>
            </a:extLst>
          </p:cNvPr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DA91FEE-BCA2-E5F6-D66A-984AE69D5F3E}"/>
              </a:ext>
            </a:extLst>
          </p:cNvPr>
          <p:cNvSpPr/>
          <p:nvPr/>
        </p:nvSpPr>
        <p:spPr>
          <a:xfrm>
            <a:off x="62179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Chat panel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C6E66F7-81D9-16BF-2DC4-5E97EFF84F82}"/>
              </a:ext>
            </a:extLst>
          </p:cNvPr>
          <p:cNvSpPr/>
          <p:nvPr/>
        </p:nvSpPr>
        <p:spPr>
          <a:xfrm>
            <a:off x="621792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E9127DE-0A3A-A64F-3720-88DA75635A14}"/>
              </a:ext>
            </a:extLst>
          </p:cNvPr>
          <p:cNvSpPr/>
          <p:nvPr/>
        </p:nvSpPr>
        <p:spPr>
          <a:xfrm>
            <a:off x="62179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longue avec Copilot, multi-fichiers.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04845C1-8F0F-88D7-5815-409DE73F3395}"/>
              </a:ext>
            </a:extLst>
          </p:cNvPr>
          <p:cNvSpPr/>
          <p:nvPr/>
        </p:nvSpPr>
        <p:spPr>
          <a:xfrm>
            <a:off x="621792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B3E59BF-EE0B-586E-271C-7F94AD557D13}"/>
              </a:ext>
            </a:extLst>
          </p:cNvPr>
          <p:cNvSpPr/>
          <p:nvPr/>
        </p:nvSpPr>
        <p:spPr>
          <a:xfrm>
            <a:off x="621792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/explain, /tests, /fix, /doc.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F1053D4-B0D1-0364-0E05-640670644CE4}"/>
              </a:ext>
            </a:extLst>
          </p:cNvPr>
          <p:cNvSpPr/>
          <p:nvPr/>
        </p:nvSpPr>
        <p:spPr>
          <a:xfrm>
            <a:off x="621792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ASTUCE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2A183BB-84E1-6DF5-C9FF-BF78641C7DF4}"/>
              </a:ext>
            </a:extLst>
          </p:cNvPr>
          <p:cNvSpPr/>
          <p:nvPr/>
        </p:nvSpPr>
        <p:spPr>
          <a:xfrm>
            <a:off x="621792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2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Mentionner @workspace pour scanner tout le repo.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060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VS Code </a:t>
            </a:r>
            <a:r>
              <a:rPr lang="en-US" sz="28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plutôt</a:t>
            </a: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que le portail Fabric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Portail Fabric (web)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natif limite sur les notebooks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restreint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unitaires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multi-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natif puissant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cantonné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+ Copilot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branches, PR, code review fluides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multi-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Fabric Data Engineering :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locale,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cluster Spark Fabric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voit l'ensemble du repo (fichiers, contrats, exemples)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Bar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Text 0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440000"/>
            <a:ext cx="82296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Exécuter le notebook : local ou distant ?</a:t>
            </a:r>
            <a:endParaRPr lang="en-US" sz="2800"/>
          </a:p>
        </p:txBody>
      </p:sp>
      <p:sp>
        <p:nvSpPr>
          <p:cNvPr id="4" name="Banner"/>
          <p:cNvSpPr/>
          <p:nvPr/>
        </p:nvSpPr>
        <p:spPr>
          <a:xfrm>
            <a:off x="457200" y="1180000"/>
            <a:ext cx="8229600" cy="520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IconCircle"/>
          <p:cNvSpPr/>
          <p:nvPr/>
        </p:nvSpPr>
        <p:spPr>
          <a:xfrm>
            <a:off x="640080" y="1290000"/>
            <a:ext cx="300000" cy="3000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0" y="1362000"/>
            <a:ext cx="156000" cy="156000"/>
          </a:xfrm>
          <a:prstGeom prst="rect">
            <a:avLst/>
          </a:prstGeom>
        </p:spPr>
      </p:pic>
      <p:sp>
        <p:nvSpPr>
          <p:cNvPr id="7" name="BannerText"/>
          <p:cNvSpPr/>
          <p:nvPr/>
        </p:nvSpPr>
        <p:spPr>
          <a:xfrm>
            <a:off x="1080000" y="1180000"/>
            <a:ext cx="747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Local » = le calcul, pas les données.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du Lakehouse vivent dans OneLake (le cloud), jamais sur votre machine.</a:t>
            </a:r>
            <a:endParaRPr lang="en-US" sz="1100"/>
          </a:p>
        </p:txBody>
      </p:sp>
      <p:sp>
        <p:nvSpPr>
          <p:cNvPr id="8" name="LeftCard"/>
          <p:cNvSpPr/>
          <p:nvPr/>
        </p:nvSpPr>
        <p:spPr>
          <a:xfrm>
            <a:off x="457200" y="1820000"/>
            <a:ext cx="3931920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LeftHeaderBar"/>
          <p:cNvSpPr/>
          <p:nvPr/>
        </p:nvSpPr>
        <p:spPr>
          <a:xfrm>
            <a:off x="457200" y="1820000"/>
            <a:ext cx="3931920" cy="560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LeftHeaderText"/>
          <p:cNvSpPr/>
          <p:nvPr/>
        </p:nvSpPr>
        <p:spPr>
          <a:xfrm>
            <a:off x="457200" y="1820000"/>
            <a:ext cx="39319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kern="0" spc="15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 POUR VALIDER</a:t>
            </a:r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Fabric distant</a:t>
            </a:r>
            <a:endParaRPr lang="en-US" sz="1400"/>
          </a:p>
        </p:txBody>
      </p:sp>
      <p:sp>
        <p:nvSpPr>
          <p:cNvPr id="12" name="LeftBullets"/>
          <p:cNvSpPr/>
          <p:nvPr/>
        </p:nvSpPr>
        <p:spPr>
          <a:xfrm>
            <a:off x="685800" y="2470000"/>
            <a:ext cx="347532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tourne sur le pool Spark du workspace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pour notebookutils / mssparkutils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fidèle : Delta, V-Order, Lakehouse attaché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l'environnement de production</a:t>
            </a:r>
            <a:endParaRPr lang="en-US" sz="1100"/>
          </a:p>
        </p:txBody>
      </p:sp>
      <p:sp>
        <p:nvSpPr>
          <p:cNvPr id="13" name="RightCard"/>
          <p:cNvSpPr/>
          <p:nvPr/>
        </p:nvSpPr>
        <p:spPr>
          <a:xfrm>
            <a:off x="4754880" y="1820000"/>
            <a:ext cx="3931920" cy="2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ightHeaderBar"/>
          <p:cNvSpPr/>
          <p:nvPr/>
        </p:nvSpPr>
        <p:spPr>
          <a:xfrm>
            <a:off x="4754880" y="1820000"/>
            <a:ext cx="3931920" cy="5600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RightHeaderText"/>
          <p:cNvSpPr/>
          <p:nvPr/>
        </p:nvSpPr>
        <p:spPr>
          <a:xfrm>
            <a:off x="4754880" y="1820000"/>
            <a:ext cx="39319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kern="0" spc="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ITÉRER VITE</a:t>
            </a:r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local</a:t>
            </a:r>
            <a:endParaRPr lang="en-US" sz="1400"/>
          </a:p>
        </p:txBody>
      </p:sp>
      <p:sp>
        <p:nvSpPr>
          <p:cNvPr id="17" name="RightBullets"/>
          <p:cNvSpPr/>
          <p:nvPr/>
        </p:nvSpPr>
        <p:spPr>
          <a:xfrm>
            <a:off x="4983480" y="2470000"/>
            <a:ext cx="3475320" cy="1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local (runtime 1.1/1.2) ou devcontainer Docker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rapide : lint, tests, Git, Copilot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OneLake via chemin ABFSS + Service Principal</a:t>
            </a:r>
            <a:endParaRPr lang="en-US" sz="1100"/>
          </a:p>
          <a:p>
            <a:pPr marL="285750" indent="-28575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1.3+ : plus de conda local ; notebookutils indisponible</a:t>
            </a:r>
            <a:endParaRPr lang="en-US" sz="1100"/>
          </a:p>
        </p:txBody>
      </p:sp>
      <p:sp>
        <p:nvSpPr>
          <p:cNvPr id="18" name="BottomNote"/>
          <p:cNvSpPr/>
          <p:nvPr/>
        </p:nvSpPr>
        <p:spPr>
          <a:xfrm>
            <a:off x="457200" y="4420000"/>
            <a:ext cx="82296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itérer en local, mais toujours valider sur le runtime distant avant de publier.</a:t>
            </a:r>
            <a:endParaRPr lang="en-US" sz="1000"/>
          </a:p>
        </p:txBody>
      </p:sp>
      <p:sp>
        <p:nvSpPr>
          <p:cNvPr id="19" name="Footer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programme en 4 niveaux progressifs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niveau s'appuie sur le precedent. Le but : passer de la prise en main a l'autonomie qualitative.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039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journee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Installer, configurer, utiliser sans danger.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4380" y="2286000"/>
            <a:ext cx="0" cy="11887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404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efficace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752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42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bon contexte pour du code juste.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" y="2999232"/>
            <a:ext cx="0" cy="11887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118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Fabric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journee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255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Medallion, tests, migrations, CI/CD.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" y="3712464"/>
            <a:ext cx="0" cy="11887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3849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Qualite &amp; gouvernance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178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journee + suivi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9684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Revue, securite, mesure d'impact.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685EE-BD8C-FCCA-1AD0-D6752238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F1B3B2-C40A-F2D5-DAC7-50D56F83F3DA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58318B-93C1-F3DC-93BC-AC276D5FA74C}"/>
              </a:ext>
            </a:extLst>
          </p:cNvPr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 -  Fondamentaux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6C8DCE-FCBA-85F8-A5A0-E2B75723E470}"/>
              </a:ext>
            </a:extLst>
          </p:cNvPr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B039CF0-B51D-79F5-DB89-9621B203494C}"/>
              </a:ext>
            </a:extLst>
          </p:cNvPr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EE152F-0DE0-0455-6EA2-46017AB64BCC}"/>
              </a:ext>
            </a:extLst>
          </p:cNvPr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A7C8C2-F047-1AFC-DC47-4C186C8F6281}"/>
              </a:ext>
            </a:extLst>
          </p:cNvPr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 - installer &amp; configurer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4B42A7-E0D5-49B8-545B-834332799201}"/>
              </a:ext>
            </a:extLst>
          </p:cNvPr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à installer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9BE833A-CCCA-A4C3-A7F1-B8419576DC09}"/>
              </a:ext>
            </a:extLst>
          </p:cNvPr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(à jour)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GitHub Copilot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GitHub Copilot Chat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Fabric (Microsoft)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Fabric Data Engineering (Microsoft)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Pylance, Jupyter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Jupyter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Ruff / Black formatter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1939474-5B05-52F5-C79F-7E6F391EEE63}"/>
              </a:ext>
            </a:extLst>
          </p:cNvPr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&amp; sécurité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0D6441-CB33-D517-75E6-9DD16951C044}"/>
              </a:ext>
            </a:extLst>
          </p:cNvPr>
          <p:cNvSpPr/>
          <p:nvPr/>
        </p:nvSpPr>
        <p:spPr>
          <a:xfrm>
            <a:off x="4572000" y="169164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GitHub d'organisation (pas de compte personnel)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</a:t>
            </a: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exclusion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repos sensibles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 Fabric via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l'extension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dédiée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code public similaire :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49074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 -  Prompting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 fait 80% de la qualite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200400" cy="18288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qualite d'une suggestion vient du contexte fourni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contexte que Copilot utilise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16916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ouvert (curseur + autour)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onglets ouverts dans VS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commentaires en haut du fichier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.github/copilot-instructions.md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présents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repo (examples/)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</a:t>
            </a:r>
            <a:r>
              <a:rPr lang="en-US" sz="1200" b="1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si Copilot hallucine, ce n'est pas Copilot qui est mauvais - c'est le contexte qui manque.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 -  Patterns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patterns de prompts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efficaces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data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7498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188720" y="128016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 </a:t>
            </a:r>
            <a:r>
              <a:rPr lang="en-US" sz="14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schéma</a:t>
            </a: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commentaire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71907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un DESCRIBE TABLE ou la liste des colonnes en commentaire AVANT la fonction. Precision +++ sur les transformations.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423160"/>
            <a:ext cx="7498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188720" y="242316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 contrat YAML vers notebook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86207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contracts/silver_&lt;table&gt;.yaml decrit les colonnes, types, regles. Demander a Copilot de generer le notebook a partir du contrat + template.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188720" y="3566160"/>
            <a:ext cx="73152" cy="960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417320" y="36576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 moteur cible explicite 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005072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Preciser : genere ceci en PySpark DataFrame API, pas en Spark SQL, cible Fabric Lakehouse Runtime 1.3. Evite les confusions T-SQL / Spark.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 -  Multiplicateur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fichier .github/copilot-instructions.md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chaque interaction Copilot Chat. Le levier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pour la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code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15468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Contexte projet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Plateforme : Microsoft Fabric (Lakehouse + Warehouse).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: medallion Bronze/Silver/Gold sur OneLake (Delta).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Langages : PySpark 3.5, Spark SQL, T-SQL (Warehouse).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Conventions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Notebooks : 1 notebook = 1 table cible. Nommage nb_&lt;layer&gt;_&lt;table&gt;.py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Tables Delta : snake_case, partition par ingestion_date en Bronze.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Secrets : notebookutils.credentials, jamais en clair.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eviter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 de .collect() sur DataFrames non bornes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 d'API Synapse legacy (mssparkutils -&gt; notebookutils)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 de code Databricks (dbutils, %run) - Fabric ne le supporte pas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 -  Patterns Fabric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d'usage Fabric à forte valeur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Génération</a:t>
            </a: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medallion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Bronze/Silver/Gold a partir d'un contrat YAML et d'un template du repo.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unitaires PySpark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limites (nulls, doublons, types) generes avec pytest + chispa.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85800" y="2450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T-SQL vers Spark 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770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/explain + /fix sur les fonctions non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supportées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(CHARINDEX, STRING_AGG...).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59152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63440" y="2359152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92040" y="2450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fabric-cicd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70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Azure DevOps / GitHub Actions pour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workspaces et items.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438144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5800" y="3529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d'admin Fabric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849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workspaces, lakehouses, </a:t>
            </a:r>
            <a:r>
              <a:rPr lang="en-US" sz="105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</a:t>
            </a: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Fabric REST API.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438144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663440" y="3438144"/>
            <a:ext cx="73152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92040" y="3529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auto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849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tables markdown + schemas JSON à partir des Delta tables.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  -  Qualite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457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revue d'un code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généré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nulls explicite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verifiés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.collect() cache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broadcast()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documenté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table &lt; 50 MB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4612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en clair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notebookutils.credentials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chemin OneLake en dur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03504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286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relu ligne par ligne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copie de code public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anonymisé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données sensibles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efficace pour Data Engineers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64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1597914"/>
            <a:ext cx="233172" cy="23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64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contexte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64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Schémas, fichiers, conventions. Référencer #file, #selection, @workspace.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2326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4271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9791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271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entrées / sorties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4271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contraintes, volumétrie, idempotence attendue.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6933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8878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514" y="1597914"/>
            <a:ext cx="233172" cy="2331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878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Itérer petit à petit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8878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intention à la fois ; reformuler plutôt qu'accumuler.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7719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9664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3243834"/>
            <a:ext cx="233172" cy="2331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64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les tests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664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Systématiquement /tests, avec cas nominaux et cas limites.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2326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44271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43834"/>
            <a:ext cx="233172" cy="2331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271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justifier le code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4271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Explique pourquoi cette approche » avant de valider.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06933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8878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3243834"/>
            <a:ext cx="233172" cy="2331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878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63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Capitaliser</a:t>
            </a:r>
            <a:endParaRPr lang="en-US" sz="116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8878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Gabarits de prompts et copilot-instructions.md partagés.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22416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Pieges a eviter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Pièges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spécifiques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Fabric que Copilot ignore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massivement entraine sur Databricks et Synapse Analytics. A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cadrer les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Fabric.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 Copilot (à corriger)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 pratique Fabric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dbutils.fs / dbutils.secrets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notebookutils.fs / notebookutils.credentials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4963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%run "./other_notebook"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4963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notebookutils.notebook.run('other_notebook')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spark.read.format('delta').load('/mnt/...')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02666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Chemin abfss:// ou nom de table Lakehouse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5570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mssparkutils (Synapse legacy)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5570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notebookutils (Fabric)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87368"/>
            <a:ext cx="822960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40873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T-SQL types Synapse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40873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SQL ou T-SQL Fabric Warehouse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77190" y="493776"/>
            <a:ext cx="78867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875" b="1" dirty="0">
                <a:solidFill>
                  <a:srgbClr val="1B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Industrialisation Git — GitHub ou Azure DevOps</a:t>
            </a:r>
            <a:endParaRPr lang="en-US" sz="18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77190" y="1028700"/>
            <a:ext cx="8387334" cy="425196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7190" y="1028700"/>
            <a:ext cx="61722" cy="425196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2930" y="1028700"/>
            <a:ext cx="80924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  </a:t>
            </a:r>
            <a:r>
              <a:rPr lang="en-US" sz="1013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passer le code généré dans un flux Git complet : branche, pull request et CI. Choisir la piste selon l'outillage de l'équipe.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7190" y="1611630"/>
            <a:ext cx="4080510" cy="250317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77190" y="1611630"/>
            <a:ext cx="4080510" cy="480060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" y="17145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4410" y="1611630"/>
            <a:ext cx="33604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 GitHub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794" y="2228850"/>
            <a:ext cx="36004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 commit avec messages générés par Copilot, puis pull request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assistée : description de PR, @copilot, checklist de revue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Actions (lint + pytest) co-écrit avec Copilot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84014" y="1611630"/>
            <a:ext cx="4080510" cy="250317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84014" y="1611630"/>
            <a:ext cx="4080510" cy="48006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17145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1234" y="1611630"/>
            <a:ext cx="33604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27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Piste Azure DevOps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944618" y="2228850"/>
            <a:ext cx="360045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+ Pull Request reliée à un Work Item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contenu de PR et des critères d'acceptation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675"/>
              </a:spcAft>
              <a:buSzPct val="100000"/>
              <a:buFontTx/>
              <a:buChar char="•"/>
            </a:pPr>
            <a:r>
              <a:rPr lang="en-US" sz="1013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YAML Azure Pipelines (lint + tests) assisté par Copilot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77190" y="4251960"/>
            <a:ext cx="8387334" cy="3429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27398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4251960"/>
            <a:ext cx="7818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13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  </a:t>
            </a:r>
            <a:r>
              <a:rPr lang="en-US" sz="1013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pull request avec intégration continue verte (lint + tests).</a:t>
            </a:r>
            <a:endParaRPr lang="en-US" sz="101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pour Data Engineers ·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idées-clés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212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n'est pas magique : le contexte (instructions, exemples, schema) fait 80% de la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Fabric, le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penche vers Databricks et Synapse.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l’équipe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cadrer.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7673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champion, sans rituel et sans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formation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s’évapore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3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op Band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&amp; gouvernance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664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" y="1597914"/>
            <a:ext cx="233172" cy="233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664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secret exposé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664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 ou Key Vault — jamais dans le code ni dans les prompts.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2326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4271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597914"/>
            <a:ext cx="233172" cy="233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271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données sensibles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4271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et périmètre clair avant tout partage avec l'assistant.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69330" y="126873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88786" y="148818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514" y="1597914"/>
            <a:ext cx="233172" cy="2331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8786" y="199567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les dépendances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88786" y="224256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chaque librairie suggérée : version, maintenance, licence.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7719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9664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" y="3243834"/>
            <a:ext cx="233172" cy="2331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64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exclusions &amp; politiques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9664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exclus du contexte, politiques d'entreprise Copilot appliquées.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22326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44271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3243834"/>
            <a:ext cx="233172" cy="2331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4271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en pull request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344271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code généré passe en PR : revue humaine et historique conservés.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069330" y="2914650"/>
            <a:ext cx="2695194" cy="1495044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A2332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6288786" y="3134106"/>
            <a:ext cx="452628" cy="4526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514" y="3243834"/>
            <a:ext cx="233172" cy="2331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88786" y="3641598"/>
            <a:ext cx="22837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125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&amp; responsabilité</a:t>
            </a:r>
            <a:endParaRPr lang="en-US" sz="11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288786" y="3888486"/>
            <a:ext cx="22837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L'auteur reste responsable du code mergé — Copilot assiste, ne décide pas.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étapes </a:t>
            </a:r>
            <a:r>
              <a:rPr lang="en-US" sz="1300" b="1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clés</a:t>
            </a:r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et leur logique d’enchaînement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7670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7670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1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Dev en VS Code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Développer localement ou à distance, publier vers Fabric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83714" y="2023110"/>
            <a:ext cx="288036" cy="37719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0604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6839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16839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2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7749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Git Fabric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7749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Versionner les items, organiser branches et PR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75404" y="2023110"/>
            <a:ext cx="288036" cy="37719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9773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26008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6008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3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6918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Notebooks propres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6918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Réduire les diffs, éviter secrets et chemins en dur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67094" y="2023110"/>
            <a:ext cx="288036" cy="37719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789420" y="1062990"/>
            <a:ext cx="1817370" cy="236601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351776" y="1289304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51776" y="142646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500" b="1">
                <a:solidFill>
                  <a:srgbClr val="FFFFFF"/>
                </a:solidFill>
                <a:latin typeface="Calibri"/>
              </a:rPr>
              <a:t>4</a:t>
            </a:r>
            <a:endParaRPr lang="en-US" sz="15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60870" y="2139696"/>
            <a:ext cx="14744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CI/CD as code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60870" y="2551176"/>
            <a:ext cx="1474470" cy="5349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algn="ctr" defTabSz="685800"/>
            <a:r>
              <a:rPr lang="en-US" sz="788">
                <a:solidFill>
                  <a:srgbClr val="1A2332"/>
                </a:solidFill>
                <a:latin typeface="Calibri"/>
              </a:rPr>
              <a:t>Déployer via fabric-cicd et pipeline automatisé</a:t>
            </a:r>
            <a:endParaRPr lang="en-US" sz="78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02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705e75c5f1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Développer dans VS Code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Local vs distant : distinguer le confort de développement du runtime de production.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03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4760D33-5F6B-36D0-93F3-4828BE56A92C}"/>
              </a:ext>
            </a:extLst>
          </p:cNvPr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1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comme environnement de développement Fabric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5770" y="720090"/>
            <a:ext cx="270891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45770" y="720090"/>
            <a:ext cx="61722" cy="15773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17220" y="843534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À installer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7220" y="1179576"/>
            <a:ext cx="2400300" cy="10012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• Fabric Data Engineering : explorer Lakehouse, développer et débugger des notebooks Spark</a:t>
            </a:r>
            <a:endParaRPr lang="en-US" sz="848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• Microsoft Fabric : gérer workspaces et items</a:t>
            </a:r>
            <a:endParaRPr lang="en-US" sz="848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• Jupyter + JDK + conda si exécution locale</a:t>
            </a:r>
            <a:endParaRPr lang="en-US" sz="84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26130" y="720090"/>
            <a:ext cx="270891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326130" y="720090"/>
            <a:ext cx="61722" cy="15773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97580" y="843534"/>
            <a:ext cx="24003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Deux modes de travail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97580" y="1179576"/>
            <a:ext cx="2400300" cy="10012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Local mode : télécharger l’item, éditer, publier.</a:t>
            </a:r>
            <a:endParaRPr lang="en-US" sz="848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VFS mode : éditer les items distants sans téléchargement, avec plusieurs workspaces dans une même fenêtre.</a:t>
            </a:r>
            <a:endParaRPr lang="en-US" sz="84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06490" y="720090"/>
            <a:ext cx="2400300" cy="15773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206490" y="720090"/>
            <a:ext cx="61722" cy="15773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377940" y="843534"/>
            <a:ext cx="20916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Point clé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77940" y="1179576"/>
            <a:ext cx="2091690" cy="10012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Les données du Lakehouse restent dans OneLake. “Local” concerne le moteur de calcul, pas l’emplacement des données.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029075" cy="32232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7220" y="2832354"/>
            <a:ext cx="389191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50" b="1">
                <a:solidFill>
                  <a:srgbClr val="FFFFFF"/>
                </a:solidFill>
                <a:latin typeface="Calibri"/>
              </a:rPr>
              <a:t>Runtime Fabric distant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7715" y="2743200"/>
            <a:ext cx="4029075" cy="32232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646295" y="2832354"/>
            <a:ext cx="389191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750" b="1">
                <a:solidFill>
                  <a:srgbClr val="FFFFFF"/>
                </a:solidFill>
                <a:latin typeface="Calibri"/>
              </a:rPr>
              <a:t>Spark local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3065526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58368" y="3134106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Calcul sur le pool Spark du workspace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7715" y="3065526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87443" y="3134106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Conda local ou devcontainer Docker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3387852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8368" y="3456432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Obligatoire pour notebookutils / mssparkutils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7715" y="3387852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87443" y="3456432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Itération rapide : lint, tests, Git, Copilot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3710178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8368" y="3778758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Comportement fidèle : Delta, V-Order, lakehouse attaché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7715" y="3710178"/>
            <a:ext cx="4029075" cy="32232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87443" y="3778758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Accès OneLake via chemin ABFSS + Service Principal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4032504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58368" y="4101084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Environnement de production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7715" y="4032504"/>
            <a:ext cx="4029075" cy="32232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687443" y="4101084"/>
            <a:ext cx="380961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750">
                <a:solidFill>
                  <a:srgbClr val="1A2332"/>
                </a:solidFill>
                <a:latin typeface="Calibri"/>
              </a:rPr>
              <a:t>Runtime 1.3+ : plus de conda local intégré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04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35661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89154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7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6172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Exercice 3.1 — exécuter en local puis publier</a:t>
            </a:r>
            <a:endParaRPr lang="en-US" sz="97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4350" y="788670"/>
            <a:ext cx="4114800" cy="32232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Installer les extensions, se connecter et sélectionner le workspace.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Ouvrir ou créer un notebook ; explorer le Lakehouse et copier le chemin ABFSS d’une table.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la table en PySpark et exécuter la cellule sur un kernel local.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Basculer sur le runtime Fabric distant pour valider notebookutils et le comportement réel.
</a:t>
            </a:r>
            <a:endParaRPr lang="en-US" sz="1050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1050" dirty="0">
                <a:solidFill>
                  <a:srgbClr val="1A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Publier le notebook vers le workspace.</a:t>
            </a:r>
            <a:endParaRPr lang="en-US" sz="10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34890" y="822960"/>
            <a:ext cx="3909060" cy="2228850"/>
          </a:xfrm>
          <a:prstGeom prst="roundRect">
            <a:avLst>
              <a:gd name="adj" fmla="val 184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958334" y="932688"/>
            <a:ext cx="366903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7FA8C9"/>
                </a:solidFill>
                <a:latin typeface="Aptos"/>
              </a:rPr>
              <a:t>notebook — pattern local / distant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58334" y="1124712"/>
            <a:ext cx="3669030" cy="184480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Un seul code, deux modes : bascule via un flag d'environnement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import os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os.environ.get("LocalDevelopment") == "1":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from spark_setup import get_local_spark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spark = get_local_spark()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sinon : exécution normale sur le runtime Fabric distant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df = spark.read.format("delta").load(lakehouse_path)</a:t>
            </a:r>
            <a:endParaRPr lang="en-US" sz="638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34890" y="3257550"/>
            <a:ext cx="390906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834890" y="3257550"/>
            <a:ext cx="61722" cy="85725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06340" y="3380994"/>
            <a:ext cx="36004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 dirty="0">
                <a:solidFill>
                  <a:srgbClr val="0B2545"/>
                </a:solidFill>
                <a:latin typeface="Aptos"/>
              </a:rPr>
              <a:t>Résultat attendu</a:t>
            </a:r>
            <a:endParaRPr lang="en-US" sz="112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06340" y="3717036"/>
            <a:ext cx="360045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 dirty="0">
                <a:solidFill>
                  <a:srgbClr val="1A2433"/>
                </a:solidFill>
                <a:latin typeface="Aptos"/>
              </a:rPr>
              <a:t>Le notebook lit la table du Lakehouse, tourne en local pour l’itération, est validé sur le runtime distant, puis publié.</a:t>
            </a:r>
            <a:endParaRPr lang="en-US" sz="9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05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9C289DE-8CCF-9757-2FE9-C881AE62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36" y="152399"/>
            <a:ext cx="5900880" cy="3547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74046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03654AA-05CA-CC81-29E6-DA2D380A4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39"/>
            <a:ext cx="9144000" cy="48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699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81BFC82-5654-E180-CE7A-2A47B9AB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74"/>
            <a:ext cx="9144000" cy="48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013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7682d69e5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2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Versioning avec Git integration Fabric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Connecter le workspace au dépôt, sérialiser les items et instaurer le workflow de revue.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06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Git versionne dans Fabric — et ce qu’il ne touche pas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685800"/>
            <a:ext cx="8092440" cy="6172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14350" y="685800"/>
            <a:ext cx="61722" cy="6172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809244"/>
            <a:ext cx="77838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Point clé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049274"/>
            <a:ext cx="7783830" cy="240030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1000">
                <a:solidFill>
                  <a:srgbClr val="1A2332"/>
                </a:solidFill>
                <a:latin typeface="Calibri"/>
              </a:rPr>
              <a:t>Seules les métadonnées sont versionnées. Git ne touche jamais aux données des tables Delta ni aux fichiers du Lakehouse.</a:t>
            </a:r>
            <a:endParaRPr lang="en-US" sz="10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2930" y="1543050"/>
            <a:ext cx="3994785" cy="49377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0" name="Text 8"/>
          <p:cNvSpPr/>
          <p:nvPr/>
        </p:nvSpPr>
        <p:spPr>
          <a:xfrm>
            <a:off x="651510" y="1632204"/>
            <a:ext cx="385762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>
                <a:solidFill>
                  <a:srgbClr val="FFFFFF"/>
                </a:solidFill>
                <a:latin typeface="Calibri"/>
              </a:rPr>
              <a:t>Se versionne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7715" y="1543050"/>
            <a:ext cx="3994785" cy="493776"/>
          </a:xfrm>
          <a:prstGeom prst="rect">
            <a:avLst/>
          </a:prstGeom>
          <a:solidFill>
            <a:srgbClr val="065A82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2" name="Text 10"/>
          <p:cNvSpPr/>
          <p:nvPr/>
        </p:nvSpPr>
        <p:spPr>
          <a:xfrm>
            <a:off x="4646295" y="1632204"/>
            <a:ext cx="3857625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050" b="1">
                <a:solidFill>
                  <a:srgbClr val="FFFFFF"/>
                </a:solidFill>
                <a:latin typeface="Calibri"/>
              </a:rPr>
              <a:t>Ne se versionne pas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2930" y="2036826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4" name="Text 12"/>
          <p:cNvSpPr/>
          <p:nvPr/>
        </p:nvSpPr>
        <p:spPr>
          <a:xfrm>
            <a:off x="692658" y="2105406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Définition des notebooks (code)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7715" y="2036826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6" name="Text 14"/>
          <p:cNvSpPr/>
          <p:nvPr/>
        </p:nvSpPr>
        <p:spPr>
          <a:xfrm>
            <a:off x="4687443" y="2105406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Données des tables Delta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2930" y="2530602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18" name="Text 16"/>
          <p:cNvSpPr/>
          <p:nvPr/>
        </p:nvSpPr>
        <p:spPr>
          <a:xfrm>
            <a:off x="692658" y="2599182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Définition des data pipelines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7715" y="2530602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0" name="Text 18"/>
          <p:cNvSpPr/>
          <p:nvPr/>
        </p:nvSpPr>
        <p:spPr>
          <a:xfrm>
            <a:off x="4687443" y="2599182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Fichiers stockés dans OneLake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" y="3024378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2" name="Text 20"/>
          <p:cNvSpPr/>
          <p:nvPr/>
        </p:nvSpPr>
        <p:spPr>
          <a:xfrm>
            <a:off x="692658" y="3092958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Métadonnées du Lakehouse : nom, GUID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7715" y="3024378"/>
            <a:ext cx="3994785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4" name="Text 22"/>
          <p:cNvSpPr/>
          <p:nvPr/>
        </p:nvSpPr>
        <p:spPr>
          <a:xfrm>
            <a:off x="4687443" y="3092958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Outputs d’exécution des notebooks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2930" y="3518154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6" name="Text 24"/>
          <p:cNvSpPr/>
          <p:nvPr/>
        </p:nvSpPr>
        <p:spPr>
          <a:xfrm>
            <a:off x="692658" y="3586734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Métadonnées des shortcuts OneLake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7715" y="3518154"/>
            <a:ext cx="3994785" cy="493776"/>
          </a:xfrm>
          <a:prstGeom prst="rect">
            <a:avLst/>
          </a:prstGeom>
          <a:solidFill>
            <a:srgbClr val="F8FAFC"/>
          </a:solidFill>
          <a:ln w="762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fr-FR" sz="3200"/>
          </a:p>
        </p:txBody>
      </p:sp>
      <p:sp>
        <p:nvSpPr>
          <p:cNvPr id="28" name="Text 26"/>
          <p:cNvSpPr/>
          <p:nvPr/>
        </p:nvSpPr>
        <p:spPr>
          <a:xfrm>
            <a:off x="4687443" y="3586734"/>
            <a:ext cx="3775329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État runtime : sessions, caches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07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branches, workspaces et Pull Requests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5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1435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feature/*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bac à sable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Git Sync bidirectionnel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97430" y="1165860"/>
            <a:ext cx="260604" cy="30861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60604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60604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7749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dev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7749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DEV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Git Sync bidirectionnel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89120" y="1165860"/>
            <a:ext cx="260604" cy="30861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9773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9773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6918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uat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6918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UAT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Déployé par pipeline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80810" y="1165860"/>
            <a:ext cx="260604" cy="30861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789420" y="857250"/>
            <a:ext cx="1796796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789420" y="857250"/>
            <a:ext cx="6172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960870" y="980694"/>
            <a:ext cx="14881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main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60870" y="1316736"/>
            <a:ext cx="1488186" cy="38404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Workspace PROD</a:t>
            </a:r>
            <a:endParaRPr lang="en-US" sz="863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Déployé par pipeline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56357" y="2571750"/>
            <a:ext cx="380619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856357" y="2571750"/>
            <a:ext cx="61722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027807" y="2695194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Règles d’équipe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27807" y="3031236"/>
            <a:ext cx="3497580" cy="65836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PR obligatoire vers dev / main</a:t>
            </a:r>
            <a:endParaRPr lang="en-US" sz="900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Pas de commit direct</a:t>
            </a:r>
            <a:endParaRPr lang="en-US" sz="900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Squash merge pour un historique lisible</a:t>
            </a:r>
            <a:endParaRPr lang="en-US" sz="900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• Revue ciblée sur le code généré par l’assistant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08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29471a7fa0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3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Notebooks propres et versionnables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Réduire les conflits de merge et sécuriser le passage d’un environnement à l’autre.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09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d’un notebook prêt à être commité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2930" y="78867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54380" y="97383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54380" y="100812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4440" y="98069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 b="1">
                <a:solidFill>
                  <a:srgbClr val="1A2332"/>
                </a:solidFill>
                <a:latin typeface="Calibri"/>
              </a:rPr>
              <a:t>Vider les outputs avant chaque commit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34890" y="78867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006340" y="97383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06340" y="100812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0" y="98069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Nommer les cellules et structurer en sections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2930" y="185166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754380" y="203682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4380" y="207111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04368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Une cellule = une étape logique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34890" y="185166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006340" y="203682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06340" y="207111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0" y="204368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 b="1">
                <a:solidFill>
                  <a:srgbClr val="1A2332"/>
                </a:solidFill>
                <a:latin typeface="Calibri"/>
              </a:rPr>
              <a:t>Externaliser secrets et connexions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" y="291465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54380" y="309981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54380" y="313410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310667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Paramétrer le notebook plutôt que coder les chemins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34890" y="2914650"/>
            <a:ext cx="3806190" cy="74066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006340" y="3099816"/>
            <a:ext cx="356616" cy="3566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06340" y="3134106"/>
            <a:ext cx="356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75" b="1">
                <a:solidFill>
                  <a:srgbClr val="FFFFFF"/>
                </a:solidFill>
                <a:latin typeface="Calibri"/>
              </a:rPr>
              <a:t>✓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0" y="3106674"/>
            <a:ext cx="29832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050">
                <a:solidFill>
                  <a:srgbClr val="1A2332"/>
                </a:solidFill>
                <a:latin typeface="Calibri"/>
              </a:rPr>
              <a:t>Relire le diff Git avant de pousser</a:t>
            </a:r>
            <a:endParaRPr lang="en-US" sz="10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2930" y="4114800"/>
            <a:ext cx="8058150" cy="5143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82930" y="4114800"/>
            <a:ext cx="61722" cy="51435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54380" y="4238244"/>
            <a:ext cx="77495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Pourquoi ?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2950" y="4464558"/>
            <a:ext cx="7749540" cy="17830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38">
                <a:solidFill>
                  <a:srgbClr val="1A2332"/>
                </a:solidFill>
                <a:latin typeface="Calibri"/>
              </a:rPr>
              <a:t>Un notebook avec outputs et chemins codés en dur produit des diffs illisibles, des conflits de merge et casse au déploiement entre environnements.</a:t>
            </a:r>
            <a:endParaRPr lang="en-US" sz="93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10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Assainir</a:t>
            </a:r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 notebook « sale »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720090"/>
            <a:ext cx="2537460" cy="99441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720090"/>
            <a:ext cx="61722" cy="99441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20090" y="843534"/>
            <a:ext cx="22288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Point de départ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0090" y="1179576"/>
            <a:ext cx="2228850" cy="41833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>
                <a:solidFill>
                  <a:srgbClr val="1A2332"/>
                </a:solidFill>
                <a:latin typeface="Calibri"/>
              </a:rPr>
              <a:t>Notebook fourni avec outputs présents, chemin Lakehouse codé en dur et cellules fourre-tout.</a:t>
            </a:r>
            <a:endParaRPr lang="en-US" sz="8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720090"/>
            <a:ext cx="2674620" cy="99441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720090"/>
            <a:ext cx="61722" cy="99441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63290" y="843534"/>
            <a:ext cx="23660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Actions à réaliser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63290" y="1179576"/>
            <a:ext cx="2366010" cy="41833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48">
                <a:solidFill>
                  <a:srgbClr val="1A2332"/>
                </a:solidFill>
                <a:latin typeface="Calibri"/>
              </a:rPr>
              <a:t>Vider les outputs, découper les cellules, remplacer le chemin en dur par un paramètre widget, générer un en-tête de documentation avec l’assistant.</a:t>
            </a:r>
            <a:endParaRPr lang="en-US" sz="84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720090"/>
            <a:ext cx="2297430" cy="99441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172200" y="720090"/>
            <a:ext cx="61722" cy="99441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343650" y="843534"/>
            <a:ext cx="19888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Validation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43650" y="1179576"/>
            <a:ext cx="1988820" cy="41833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85">
                <a:solidFill>
                  <a:srgbClr val="1A2332"/>
                </a:solidFill>
                <a:latin typeface="Calibri"/>
              </a:rPr>
              <a:t>Commiter et comparer le diff avant / après.</a:t>
            </a:r>
            <a:endParaRPr lang="en-US" sz="88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4380" y="2297430"/>
            <a:ext cx="3291840" cy="1234440"/>
          </a:xfrm>
          <a:prstGeom prst="roundRect">
            <a:avLst>
              <a:gd name="adj" fmla="val 3333"/>
            </a:avLst>
          </a:prstGeom>
          <a:solidFill>
            <a:srgbClr val="FFF5F3"/>
          </a:solidFill>
          <a:ln w="12700">
            <a:solidFill>
              <a:srgbClr val="F3C4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25830" y="2455164"/>
            <a:ext cx="7543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>
                <a:solidFill>
                  <a:srgbClr val="B85042"/>
                </a:solidFill>
                <a:latin typeface="Calibri"/>
              </a:rPr>
              <a:t>AVANT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5830" y="2708910"/>
            <a:ext cx="29146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Outputs + chemins en dur + cellules monolithiques</a:t>
            </a:r>
            <a:endParaRPr lang="en-US" sz="975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→ diff long, bruité, fragile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17670" y="2688336"/>
            <a:ext cx="514350" cy="445770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69180" y="2297430"/>
            <a:ext cx="3291840" cy="1234440"/>
          </a:xfrm>
          <a:prstGeom prst="roundRect">
            <a:avLst>
              <a:gd name="adj" fmla="val 3333"/>
            </a:avLst>
          </a:prstGeom>
          <a:solidFill>
            <a:srgbClr val="F0FFF6"/>
          </a:solidFill>
          <a:ln w="12700">
            <a:solidFill>
              <a:srgbClr val="BFE8C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40630" y="2455164"/>
            <a:ext cx="7543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>
                <a:solidFill>
                  <a:srgbClr val="2F855A"/>
                </a:solidFill>
                <a:latin typeface="Calibri"/>
              </a:rPr>
              <a:t>APRÈS</a:t>
            </a:r>
            <a:endParaRPr lang="en-US" sz="7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40630" y="2708910"/>
            <a:ext cx="291465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Diff court et lisible, aucun secret, aucun chemin en dur</a:t>
            </a:r>
            <a:endParaRPr lang="en-US" sz="975">
              <a:solidFill>
                <a:prstClr val="black"/>
              </a:solidFill>
              <a:latin typeface="Calibri"/>
            </a:endParaRPr>
          </a:p>
          <a:p>
            <a:pPr defTabSz="685800"/>
            <a:r>
              <a:rPr lang="en-US" sz="975">
                <a:solidFill>
                  <a:srgbClr val="1A2332"/>
                </a:solidFill>
                <a:latin typeface="Calibri"/>
              </a:rPr>
              <a:t>→ notebook paramétré par environnement</a:t>
            </a:r>
            <a:endParaRPr lang="en-US" sz="97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11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6a59851e89.png"/>
          <p:cNvPicPr>
            <a:picLocks noChangeAspect="1"/>
          </p:cNvPicPr>
          <p:nvPr/>
        </p:nvPicPr>
        <p:blipFill>
          <a:blip r:embed="rId3"/>
          <a:srcRect l="18978" r="18978"/>
          <a:stretch/>
        </p:blipFill>
        <p:spPr>
          <a:xfrm>
            <a:off x="4354830" y="0"/>
            <a:ext cx="4786884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4830" y="0"/>
            <a:ext cx="4786884" cy="5143500"/>
          </a:xfrm>
          <a:prstGeom prst="rect">
            <a:avLst/>
          </a:prstGeom>
          <a:solidFill>
            <a:srgbClr val="0B2545">
              <a:alpha val="60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8006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45770" y="891540"/>
            <a:ext cx="2057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750" b="1" dirty="0">
                <a:solidFill>
                  <a:srgbClr val="7FA8C9"/>
                </a:solidFill>
                <a:latin typeface="Aptos"/>
              </a:rPr>
              <a:t>ETAPE 4</a:t>
            </a:r>
            <a:endParaRPr lang="en-US" sz="7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5770" y="1220724"/>
            <a:ext cx="39776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</a:t>
            </a:r>
            <a:r>
              <a:rPr lang="en-US" sz="255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pilotée</a:t>
            </a:r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par code</a:t>
            </a:r>
            <a:endParaRPr lang="en-US" sz="25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6344" y="2297430"/>
            <a:ext cx="37033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200" dirty="0">
                <a:solidFill>
                  <a:srgbClr val="D6E4F0"/>
                </a:solidFill>
                <a:latin typeface="Aptos"/>
              </a:rPr>
              <a:t>Industrialiser les déploiements Fabric avec fabric-cicd, GitHub Actions ou Azure DevOps.</a:t>
            </a:r>
            <a:endParaRPr lang="en-US" sz="1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" y="3223260"/>
            <a:ext cx="1508760" cy="0"/>
          </a:xfrm>
          <a:prstGeom prst="line">
            <a:avLst/>
          </a:prstGeom>
          <a:noFill/>
          <a:ln w="508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12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40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308610" y="185000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4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150000"/>
            <a:ext cx="740664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00" b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Briques nécessaires pour un déploiement code-first</a:t>
            </a:r>
            <a:endParaRPr lang="en-US" sz="13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2930" y="55092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82930" y="55092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54380" y="67437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fabric-cicd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4380" y="101041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publish_all_items() déploie le dépôt vers un workspace cible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2930" y="267690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82930" y="267690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54380" y="280035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parameter.yml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4380" y="313639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Remplace GUID / connexions par environnement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2930" y="160248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82930" y="160248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54380" y="172593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Variable Libraries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4380" y="206197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Paramétrage runtime : Notebooks, Pipelines, Dataflows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2930" y="3743706"/>
            <a:ext cx="3806190" cy="857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82930" y="3743706"/>
            <a:ext cx="61722" cy="85725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54380" y="3867150"/>
            <a:ext cx="34975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>
                <a:solidFill>
                  <a:srgbClr val="065A82"/>
                </a:solidFill>
                <a:latin typeface="Calibri"/>
              </a:rPr>
              <a:t>Service Principal + Key Vault</a:t>
            </a:r>
            <a:endParaRPr lang="en-US" sz="112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380" y="4203192"/>
            <a:ext cx="3497580" cy="28117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900">
                <a:solidFill>
                  <a:srgbClr val="1A2332"/>
                </a:solidFill>
                <a:latin typeface="Calibri"/>
              </a:rPr>
              <a:t>Authentification sécurisée à l’API Fabric</a:t>
            </a:r>
            <a:endParaRPr lang="en-US" sz="9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94310" y="4959096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>
                <a:solidFill>
                  <a:srgbClr val="64748B"/>
                </a:solidFill>
                <a:latin typeface="Calibri"/>
              </a:rPr>
              <a:t>Formation GitHub Copilot pour Microsoft Fabric  -  Expertime</a:t>
            </a:r>
            <a:endParaRPr lang="en-US" sz="56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>
                <a:solidFill>
                  <a:srgbClr val="64748B"/>
                </a:solidFill>
                <a:latin typeface="Calibri"/>
              </a:rPr>
              <a:t>13</a:t>
            </a:r>
            <a:endParaRPr lang="en-US" sz="6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5CF38442-A772-FB1F-A803-1BC9F8D2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252" y="1253490"/>
            <a:ext cx="4035988" cy="2950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35661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08610" y="89154"/>
            <a:ext cx="1371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b="1" dirty="0">
                <a:solidFill>
                  <a:srgbClr val="7F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7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71600" y="6172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75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Exemples de script de déploiement et de parameter.yml</a:t>
            </a:r>
            <a:endParaRPr lang="en-US" sz="97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0060" y="720090"/>
            <a:ext cx="4183380" cy="3429000"/>
          </a:xfrm>
          <a:prstGeom prst="roundRect">
            <a:avLst>
              <a:gd name="adj" fmla="val 12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03504" y="829818"/>
            <a:ext cx="39433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7FA8C9"/>
                </a:solidFill>
                <a:latin typeface="Aptos"/>
              </a:rPr>
              <a:t>deploy.py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1021842"/>
            <a:ext cx="3943350" cy="304495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azure.identity import AzureCliCredential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fabric_cicd import FabricWorkspace, publish_all_items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ws = FabricWorkspace(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workspace_id="&lt;workspace-id&gt;",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environment="PROD",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repository_directory="./workspace",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item_type_in_scope=["Notebook", "DataPipeline", "Environment"],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token_credential=AzureCliCredential(),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publish_all_items(ws)</a:t>
            </a:r>
            <a:endParaRPr lang="en-US" sz="638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34890" y="720090"/>
            <a:ext cx="3840480" cy="164592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58334" y="829818"/>
            <a:ext cx="360045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00" dirty="0">
                <a:solidFill>
                  <a:srgbClr val="7FA8C9"/>
                </a:solidFill>
                <a:latin typeface="Aptos"/>
              </a:rPr>
              <a:t>parameter.yml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58334" y="1021842"/>
            <a:ext cx="3600450" cy="1261872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find_replace: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- find_value: "&lt;dev-lakehouse-guid&gt;"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replace_value: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TEST: "&lt;test-lakehouse-guid&gt;"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PROD: "&lt;prod-lakehouse-guid&gt;"</a:t>
            </a:r>
            <a:endParaRPr lang="en-US" sz="638" dirty="0">
              <a:solidFill>
                <a:prstClr val="black"/>
              </a:solidFill>
              <a:latin typeface="Aptos"/>
            </a:endParaRPr>
          </a:p>
          <a:p>
            <a:pPr defTabSz="685800"/>
            <a:r>
              <a:rPr lang="en-US" sz="638" dirty="0">
                <a:solidFill>
                  <a:srgbClr val="D6E4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item_type: "Notebook"</a:t>
            </a:r>
            <a:endParaRPr lang="en-US" sz="638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34890" y="2640330"/>
            <a:ext cx="3840480" cy="106299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34890" y="2640330"/>
            <a:ext cx="61722" cy="106299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06340" y="2763774"/>
            <a:ext cx="35318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defTabSz="685800"/>
            <a:r>
              <a:rPr lang="en-US" sz="1125" b="1" dirty="0">
                <a:solidFill>
                  <a:srgbClr val="0B2545"/>
                </a:solidFill>
                <a:latin typeface="Aptos"/>
              </a:rPr>
              <a:t>Exercice 7.1 — Dev → Test</a:t>
            </a:r>
            <a:endParaRPr lang="en-US" sz="1125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06340" y="3099816"/>
            <a:ext cx="3531870" cy="486918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pPr defTabSz="685800"/>
            <a:r>
              <a:rPr lang="en-US" sz="863" dirty="0">
                <a:solidFill>
                  <a:srgbClr val="1A2433"/>
                </a:solidFill>
                <a:latin typeface="Aptos"/>
              </a:rPr>
              <a:t>Récupérer la structure fournie, renseigner les GUID Test, lancer le pipeline sur merge vers la branche cible, vérifier que les items sont déployés et pointent vers les bonnes connexions.</a:t>
            </a:r>
            <a:endParaRPr lang="en-US" sz="8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8610" y="4924044"/>
            <a:ext cx="8538210" cy="0"/>
          </a:xfrm>
          <a:prstGeom prst="line">
            <a:avLst/>
          </a:prstGeom>
          <a:noFill/>
          <a:ln w="10160">
            <a:solidFill>
              <a:srgbClr val="DDE7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08610" y="4965192"/>
            <a:ext cx="43205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563" dirty="0">
                <a:solidFill>
                  <a:srgbClr val="5B6B7B"/>
                </a:solidFill>
                <a:latin typeface="Aptos"/>
              </a:rPr>
              <a:t>Formation Data Engineers · Fabric · Copilot &amp; CI/CD</a:t>
            </a:r>
            <a:endParaRPr lang="en-US" sz="563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03920" y="4951476"/>
            <a:ext cx="3086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00" dirty="0">
                <a:solidFill>
                  <a:srgbClr val="5B6B7B"/>
                </a:solidFill>
                <a:latin typeface="Aptos"/>
              </a:rPr>
              <a:t>14</a:t>
            </a:r>
            <a:endParaRPr lang="en-US" sz="600" dirty="0">
              <a:solidFill>
                <a:prstClr val="black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l'impact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mesurer </a:t>
            </a:r>
            <a:r>
              <a:rPr lang="en-US" sz="26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l'impact</a:t>
            </a: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à 3 mois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metriques, le budget Copilot sera coupe. Ces 4 KPIs suffisent.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ticket vers merge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avant/apres sur stories comparables.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73736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d'acceptation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Au-dela : on accepte trop vite.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37744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post-prod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rester stable. Le KPI le plus important.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58368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NPS interne 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Trimestriel, anonyme.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351743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Structurer la diffusion : champions + rituels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 Copilot par squad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3258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senior volontaire, forme en premier. Maintient le copilot-instructions.md et les exemples. Debloque ses pairs.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1984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hours hebdomadaires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9842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ouvert. C'est la que remontent les vraies questions, pas en formation.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85800" y="2642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 Teams dedie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64261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prompts qui marchent, pieges, suggestions a eviter. Memoire collective vivante.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5800" y="33009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Rituel mensuel inter-squads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30098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min. Chaque champion partage 1 prompt-pattern utile et 1 echec instructif.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73152" cy="5669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580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Buddy system pour juniors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9593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premieres semaines, toute suggestion Copilot validee par un senior avant merge.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62323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deploiement sur 8 semaines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vagues, des champions en avance de 2 semaines, premiere revue d'impact a la semaine 8.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niveau, selection des champions, setup repo de 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193852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formes (N1+N2+N3 condenses). Redaction du copilot-instructions.md v1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3225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32257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 (4-6 DE) : niveaux 1 et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70662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 : niveau 3. Demarrage des office hours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0906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 : niveaux 1 et 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3474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 : niveau 3. Vague 1 passe au niveau 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58768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8587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en autonomie. Rituel mensuel lance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42816"/>
            <a:ext cx="64008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2428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24281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revue d'impact (KPIs) avec la direction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53641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900" b="1" kern="0" spc="150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CO-CONSTRUIRE EN ÉQUIPE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2250" b="1" dirty="0">
                <a:solidFill>
                  <a:srgbClr val="1B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 « vibe coding encadré »</a:t>
            </a:r>
            <a:endParaRPr lang="en-US" sz="2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7190" y="1268730"/>
            <a:ext cx="4080510" cy="332613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77190" y="1268730"/>
            <a:ext cx="4080510" cy="493776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" y="1371600"/>
            <a:ext cx="288036" cy="2880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4410" y="1268730"/>
            <a:ext cx="33604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faire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1510" y="1920240"/>
            <a:ext cx="356616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 contexte : schémas, fichiers, conventions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Itérer en petites étapes vérifiables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générer et lire les tests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expliquer le code par Copilot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secrets via env / Key Vault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humaine obligatoire en pull request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84014" y="1268730"/>
            <a:ext cx="4080510" cy="3326130"/>
          </a:xfrm>
          <a:prstGeom prst="rect">
            <a:avLst/>
          </a:prstGeom>
          <a:solidFill>
            <a:srgbClr val="F4F6F9"/>
          </a:solidFill>
          <a:ln w="12700">
            <a:solidFill>
              <a:srgbClr val="D7DEE6"/>
            </a:solidFill>
            <a:prstDash val="solid"/>
          </a:ln>
          <a:effectLst>
            <a:outerShdw blurRad="88900" dist="38100" dir="8100000" algn="bl" rotWithShape="0">
              <a:srgbClr val="1B2530">
                <a:alpha val="12000"/>
              </a:srgbClr>
            </a:outerShdw>
          </a:effectLst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4014" y="1268730"/>
            <a:ext cx="4080510" cy="493776"/>
          </a:xfrm>
          <a:prstGeom prst="rect">
            <a:avLst/>
          </a:prstGeom>
          <a:solidFill>
            <a:srgbClr val="D1242F"/>
          </a:solidFill>
          <a:ln/>
        </p:spPr>
        <p:txBody>
          <a:bodyPr/>
          <a:lstStyle/>
          <a:p>
            <a:pPr defTabSz="685800"/>
            <a:endParaRPr lang="fr-FR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70" y="1371600"/>
            <a:ext cx="288036" cy="2880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1234" y="1268730"/>
            <a:ext cx="33604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éviter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58334" y="1920240"/>
            <a:ext cx="356616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un bloc sans le lire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centaines de lignes d'un coup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Merger sans test ni revue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confiance aux API « plausibles »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des credentials dans un prompt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spcAft>
                <a:spcPts val="825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44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l'IA auto-merger son propre code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7190" y="4855464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pour Data Engineers · Expertime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/>
            <a:r>
              <a:rPr lang="en-US" sz="675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75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Copilot pour Microsoft Fabric  -  Expertime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contacts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docs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- Data Engineering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fabric-cicd (GitHub Microsoft)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notebookutils reference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chispa - tests PySpark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le repo de 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.github/copilot-instructions.md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 - notebooks de reference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 - Bronze, Silver, Gold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- pytest + chispa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 - fabric-cicd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  -  Paul Peton  -  ppeton@expertime.com  -  Architecte Data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B26E5D-0DDF-EB10-A68C-4EB139B34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09"/>
            <a:ext cx="9144000" cy="486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6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4627</TotalTime>
  <Words>5791</Words>
  <Application>Microsoft Office PowerPoint</Application>
  <PresentationFormat>Affichage à l'écran (16:9)</PresentationFormat>
  <Paragraphs>813</Paragraphs>
  <Slides>84</Slides>
  <Notes>57</Notes>
  <HiddenSlides>14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84</vt:i4>
      </vt:variant>
    </vt:vector>
  </HeadingPairs>
  <TitlesOfParts>
    <vt:vector size="98" baseType="lpstr">
      <vt:lpstr>Aptos</vt:lpstr>
      <vt:lpstr>Aptos Display</vt:lpstr>
      <vt:lpstr>Aptos Mono</vt:lpstr>
      <vt:lpstr>Arial</vt:lpstr>
      <vt:lpstr>Calibri</vt:lpstr>
      <vt:lpstr>Cambria</vt:lpstr>
      <vt:lpstr>Consolas</vt:lpstr>
      <vt:lpstr>Courier New</vt:lpstr>
      <vt:lpstr>DejaVu Sans Mono</vt:lpstr>
      <vt:lpstr>Georgia</vt:lpstr>
      <vt:lpstr>Segoe UI</vt:lpstr>
      <vt:lpstr>Office Theme</vt:lpstr>
      <vt:lpstr>Thème Office</vt:lpstr>
      <vt:lpstr>1_Office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pour Fabric - Formation Data Engineers</dc:title>
  <dc:subject>PptxGenJS Presentation</dc:subject>
  <dc:creator>Paul Peton - Expertime</dc:creator>
  <cp:lastModifiedBy>Paul PETON</cp:lastModifiedBy>
  <cp:revision>9</cp:revision>
  <dcterms:created xsi:type="dcterms:W3CDTF">2026-05-22T10:20:56Z</dcterms:created>
  <dcterms:modified xsi:type="dcterms:W3CDTF">2026-07-10T12:59:10Z</dcterms:modified>
</cp:coreProperties>
</file>