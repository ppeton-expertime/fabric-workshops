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83" r:id="rId3"/>
  </p:sldMasterIdLst>
  <p:notesMasterIdLst>
    <p:notesMasterId r:id="rId109"/>
  </p:notesMasterIdLst>
  <p:sldIdLst>
    <p:sldId id="256" r:id="rId4"/>
    <p:sldId id="2147481843" r:id="rId5"/>
    <p:sldId id="2147481844" r:id="rId6"/>
    <p:sldId id="257" r:id="rId7"/>
    <p:sldId id="2147481854" r:id="rId8"/>
    <p:sldId id="2147481858" r:id="rId9"/>
    <p:sldId id="2147481855" r:id="rId10"/>
    <p:sldId id="2147481857" r:id="rId11"/>
    <p:sldId id="2147481856" r:id="rId12"/>
    <p:sldId id="2147481845" r:id="rId13"/>
    <p:sldId id="2147481849" r:id="rId14"/>
    <p:sldId id="258" r:id="rId15"/>
    <p:sldId id="260" r:id="rId16"/>
    <p:sldId id="2147481848" r:id="rId17"/>
    <p:sldId id="2147481714" r:id="rId18"/>
    <p:sldId id="261" r:id="rId19"/>
    <p:sldId id="2147481846" r:id="rId20"/>
    <p:sldId id="265" r:id="rId21"/>
    <p:sldId id="266" r:id="rId22"/>
    <p:sldId id="2147481718" r:id="rId23"/>
    <p:sldId id="267" r:id="rId24"/>
    <p:sldId id="268" r:id="rId25"/>
    <p:sldId id="269" r:id="rId26"/>
    <p:sldId id="270" r:id="rId27"/>
    <p:sldId id="2147481717" r:id="rId28"/>
    <p:sldId id="2147481778" r:id="rId29"/>
    <p:sldId id="2147481783" r:id="rId30"/>
    <p:sldId id="2147481784" r:id="rId31"/>
    <p:sldId id="2147481786" r:id="rId32"/>
    <p:sldId id="2147481822" r:id="rId33"/>
    <p:sldId id="2147481823" r:id="rId34"/>
    <p:sldId id="2147481824" r:id="rId35"/>
    <p:sldId id="2147481825" r:id="rId36"/>
    <p:sldId id="2147481826" r:id="rId37"/>
    <p:sldId id="2147481827" r:id="rId38"/>
    <p:sldId id="271" r:id="rId39"/>
    <p:sldId id="2147481794" r:id="rId40"/>
    <p:sldId id="262" r:id="rId41"/>
    <p:sldId id="263" r:id="rId42"/>
    <p:sldId id="2147481719" r:id="rId43"/>
    <p:sldId id="2147481795" r:id="rId44"/>
    <p:sldId id="2147481796" r:id="rId45"/>
    <p:sldId id="2147481797" r:id="rId46"/>
    <p:sldId id="2147481798" r:id="rId47"/>
    <p:sldId id="2147481799" r:id="rId48"/>
    <p:sldId id="2147481800" r:id="rId49"/>
    <p:sldId id="2147481803" r:id="rId50"/>
    <p:sldId id="2147481804" r:id="rId51"/>
    <p:sldId id="2147481805" r:id="rId52"/>
    <p:sldId id="264" r:id="rId53"/>
    <p:sldId id="2147481842" r:id="rId54"/>
    <p:sldId id="272" r:id="rId55"/>
    <p:sldId id="273" r:id="rId56"/>
    <p:sldId id="274" r:id="rId57"/>
    <p:sldId id="279" r:id="rId58"/>
    <p:sldId id="281" r:id="rId59"/>
    <p:sldId id="280" r:id="rId60"/>
    <p:sldId id="283" r:id="rId61"/>
    <p:sldId id="282" r:id="rId62"/>
    <p:sldId id="284" r:id="rId63"/>
    <p:sldId id="285" r:id="rId64"/>
    <p:sldId id="2147481847" r:id="rId65"/>
    <p:sldId id="2147481775" r:id="rId66"/>
    <p:sldId id="2147481807" r:id="rId67"/>
    <p:sldId id="2147481808" r:id="rId68"/>
    <p:sldId id="2147481793" r:id="rId69"/>
    <p:sldId id="2147481777" r:id="rId70"/>
    <p:sldId id="2147481811" r:id="rId71"/>
    <p:sldId id="2147481812" r:id="rId72"/>
    <p:sldId id="2147481813" r:id="rId73"/>
    <p:sldId id="2147481851" r:id="rId74"/>
    <p:sldId id="2580" r:id="rId75"/>
    <p:sldId id="2147481852" r:id="rId76"/>
    <p:sldId id="2147481834" r:id="rId77"/>
    <p:sldId id="2147481835" r:id="rId78"/>
    <p:sldId id="2147481836" r:id="rId79"/>
    <p:sldId id="2147481837" r:id="rId80"/>
    <p:sldId id="2147481838" r:id="rId81"/>
    <p:sldId id="2147481839" r:id="rId82"/>
    <p:sldId id="2147481840" r:id="rId83"/>
    <p:sldId id="2147481841" r:id="rId84"/>
    <p:sldId id="2147481853" r:id="rId85"/>
    <p:sldId id="276" r:id="rId86"/>
    <p:sldId id="277" r:id="rId87"/>
    <p:sldId id="278" r:id="rId88"/>
    <p:sldId id="2147481720" r:id="rId89"/>
    <p:sldId id="2147481721" r:id="rId90"/>
    <p:sldId id="2147481861" r:id="rId91"/>
    <p:sldId id="275" r:id="rId92"/>
    <p:sldId id="2147481850" r:id="rId93"/>
    <p:sldId id="2147481814" r:id="rId94"/>
    <p:sldId id="2147481815" r:id="rId95"/>
    <p:sldId id="2147481816" r:id="rId96"/>
    <p:sldId id="2147481817" r:id="rId97"/>
    <p:sldId id="2147481830" r:id="rId98"/>
    <p:sldId id="2147481831" r:id="rId99"/>
    <p:sldId id="2147481832" r:id="rId100"/>
    <p:sldId id="2147481818" r:id="rId101"/>
    <p:sldId id="2147481819" r:id="rId102"/>
    <p:sldId id="2147481829" r:id="rId103"/>
    <p:sldId id="2147481828" r:id="rId104"/>
    <p:sldId id="2147481820" r:id="rId105"/>
    <p:sldId id="2147481821" r:id="rId106"/>
    <p:sldId id="2147481859" r:id="rId107"/>
    <p:sldId id="2147481860" r:id="rId10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AB43779F-E72B-4BA1-BCBC-EF39F0D6806D}">
          <p14:sldIdLst>
            <p14:sldId id="256"/>
            <p14:sldId id="2147481843"/>
            <p14:sldId id="2147481844"/>
            <p14:sldId id="257"/>
          </p14:sldIdLst>
        </p14:section>
        <p14:section name="Rappels Data Agents" id="{2EF7F7D1-212F-4A91-8F5E-A02E9EE387C5}">
          <p14:sldIdLst>
            <p14:sldId id="2147481854"/>
            <p14:sldId id="2147481858"/>
            <p14:sldId id="2147481855"/>
            <p14:sldId id="2147481857"/>
            <p14:sldId id="2147481856"/>
          </p14:sldIdLst>
        </p14:section>
        <p14:section name="Agenda" id="{F2E9D7EE-46C5-4BCF-88D4-6364927FC1EA}">
          <p14:sldIdLst>
            <p14:sldId id="2147481845"/>
          </p14:sldIdLst>
        </p14:section>
        <p14:section name="Introduction" id="{D431AE49-D830-4356-9F6B-D4347A9690F4}">
          <p14:sldIdLst>
            <p14:sldId id="2147481849"/>
            <p14:sldId id="258"/>
            <p14:sldId id="260"/>
            <p14:sldId id="2147481848"/>
            <p14:sldId id="2147481714"/>
            <p14:sldId id="261"/>
            <p14:sldId id="2147481846"/>
          </p14:sldIdLst>
        </p14:section>
        <p14:section name="Q&amp;A conversationnel" id="{82BA04CB-583A-471B-BD34-4FFD00C88116}">
          <p14:sldIdLst>
            <p14:sldId id="265"/>
            <p14:sldId id="266"/>
            <p14:sldId id="2147481718"/>
            <p14:sldId id="267"/>
            <p14:sldId id="268"/>
          </p14:sldIdLst>
        </p14:section>
        <p14:section name="Résumés et insights automatiques" id="{58CD11B9-9F67-4D4A-9B60-FF675D2221A2}">
          <p14:sldIdLst>
            <p14:sldId id="269"/>
            <p14:sldId id="270"/>
            <p14:sldId id="2147481717"/>
            <p14:sldId id="2147481778"/>
            <p14:sldId id="2147481783"/>
            <p14:sldId id="2147481784"/>
            <p14:sldId id="2147481786"/>
            <p14:sldId id="2147481822"/>
            <p14:sldId id="2147481823"/>
            <p14:sldId id="2147481824"/>
            <p14:sldId id="2147481825"/>
            <p14:sldId id="2147481826"/>
            <p14:sldId id="2147481827"/>
            <p14:sldId id="271"/>
            <p14:sldId id="2147481794"/>
          </p14:sldIdLst>
        </p14:section>
        <p14:section name="Génération de rapports assistée par l'IA" id="{D68950F3-DE1D-42F1-BAE4-4D80E942B6FE}">
          <p14:sldIdLst>
            <p14:sldId id="262"/>
            <p14:sldId id="263"/>
            <p14:sldId id="2147481719"/>
            <p14:sldId id="2147481795"/>
            <p14:sldId id="2147481796"/>
            <p14:sldId id="2147481797"/>
            <p14:sldId id="2147481798"/>
            <p14:sldId id="2147481799"/>
            <p14:sldId id="2147481800"/>
            <p14:sldId id="2147481803"/>
            <p14:sldId id="2147481804"/>
            <p14:sldId id="2147481805"/>
            <p14:sldId id="264"/>
            <p14:sldId id="2147481842"/>
          </p14:sldIdLst>
        </p14:section>
        <p14:section name="Création de visuels à la volée" id="{C89BB328-C370-4AAF-A9C5-A9B2CB5572C0}">
          <p14:sldIdLst>
            <p14:sldId id="272"/>
            <p14:sldId id="273"/>
            <p14:sldId id="274"/>
          </p14:sldIdLst>
        </p14:section>
        <p14:section name="Sécurité, limites &amp; Bonnes pratiques" id="{FBF03D5A-E919-49B3-AF53-9A07E958F2CE}">
          <p14:sldIdLst>
            <p14:sldId id="279"/>
            <p14:sldId id="281"/>
            <p14:sldId id="280"/>
            <p14:sldId id="283"/>
            <p14:sldId id="282"/>
            <p14:sldId id="284"/>
            <p14:sldId id="285"/>
          </p14:sldIdLst>
        </p14:section>
        <p14:section name="Fabrikam sales" id="{E4A939CB-8931-4CF6-9F4A-EDED47DCEEB5}">
          <p14:sldIdLst>
            <p14:sldId id="2147481847"/>
            <p14:sldId id="2147481775"/>
          </p14:sldIdLst>
        </p14:section>
        <p14:section name="Annexes" id="{C8AF6161-0A9A-40FC-B51F-15A09BF29204}">
          <p14:sldIdLst>
            <p14:sldId id="2147481807"/>
            <p14:sldId id="2147481808"/>
            <p14:sldId id="2147481793"/>
            <p14:sldId id="2147481777"/>
            <p14:sldId id="2147481811"/>
            <p14:sldId id="2147481812"/>
            <p14:sldId id="2147481813"/>
          </p14:sldIdLst>
        </p14:section>
        <p14:section name="Synthèse bonnes pratiques" id="{303295AA-56E9-4034-8C6C-8BCCA5A8F246}">
          <p14:sldIdLst>
            <p14:sldId id="2147481851"/>
            <p14:sldId id="2580"/>
          </p14:sldIdLst>
        </p14:section>
        <p14:section name="Types de visuels" id="{1ACF809A-26EB-49E6-855D-090173923278}">
          <p14:sldIdLst>
            <p14:sldId id="2147481852"/>
            <p14:sldId id="2147481834"/>
            <p14:sldId id="2147481835"/>
            <p14:sldId id="2147481836"/>
            <p14:sldId id="2147481837"/>
            <p14:sldId id="2147481838"/>
            <p14:sldId id="2147481839"/>
            <p14:sldId id="2147481840"/>
            <p14:sldId id="2147481841"/>
          </p14:sldIdLst>
        </p14:section>
        <p14:section name="Génération DAX &amp; Agent autonome" id="{78564EB3-21BD-47D4-B0A2-389B42D55F19}">
          <p14:sldIdLst>
            <p14:sldId id="2147481853"/>
            <p14:sldId id="276"/>
            <p14:sldId id="277"/>
            <p14:sldId id="278"/>
            <p14:sldId id="2147481720"/>
            <p14:sldId id="2147481721"/>
            <p14:sldId id="2147481861"/>
          </p14:sldIdLst>
        </p14:section>
        <p14:section name="7 fonctionnalités" id="{34B155A2-6AC5-4A13-AF83-45B17FB9B983}">
          <p14:sldIdLst>
            <p14:sldId id="275"/>
            <p14:sldId id="2147481850"/>
            <p14:sldId id="2147481814"/>
            <p14:sldId id="2147481815"/>
            <p14:sldId id="2147481816"/>
            <p14:sldId id="2147481817"/>
            <p14:sldId id="2147481830"/>
            <p14:sldId id="2147481831"/>
            <p14:sldId id="2147481832"/>
            <p14:sldId id="2147481818"/>
            <p14:sldId id="2147481819"/>
            <p14:sldId id="2147481829"/>
            <p14:sldId id="2147481828"/>
            <p14:sldId id="2147481820"/>
            <p14:sldId id="2147481821"/>
            <p14:sldId id="2147481859"/>
            <p14:sldId id="21474818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66" autoAdjust="0"/>
    <p:restoredTop sz="94915" autoAdjust="0"/>
  </p:normalViewPr>
  <p:slideViewPr>
    <p:cSldViewPr snapToGrid="0" snapToObjects="1">
      <p:cViewPr varScale="1">
        <p:scale>
          <a:sx n="102" d="100"/>
          <a:sy n="102" d="100"/>
        </p:scale>
        <p:origin x="108" y="1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9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theme" Target="theme/theme1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tableStyles" Target="tableStyles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14" Type="http://schemas.microsoft.com/office/2016/11/relationships/changesInfo" Target="changesInfos/changesInfo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presProps" Target="presProp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PETON" userId="f452c416-63c5-497b-b3b2-f4c1c92748fa" providerId="ADAL" clId="{0D64DA26-F7AF-44DE-BEDF-5EB92BBC41B4}"/>
    <pc:docChg chg="undo redo custSel addSld delSld modSld sldOrd addSection delSection modSection">
      <pc:chgData name="Paul PETON" userId="f452c416-63c5-497b-b3b2-f4c1c92748fa" providerId="ADAL" clId="{0D64DA26-F7AF-44DE-BEDF-5EB92BBC41B4}" dt="2026-09-02T15:27:02.433" v="2797" actId="729"/>
      <pc:docMkLst>
        <pc:docMk/>
      </pc:docMkLst>
      <pc:sldChg chg="modSp mod">
        <pc:chgData name="Paul PETON" userId="f452c416-63c5-497b-b3b2-f4c1c92748fa" providerId="ADAL" clId="{0D64DA26-F7AF-44DE-BEDF-5EB92BBC41B4}" dt="2026-09-02T14:22:09.988" v="2696" actId="20577"/>
        <pc:sldMkLst>
          <pc:docMk/>
          <pc:sldMk cId="0" sldId="260"/>
        </pc:sldMkLst>
        <pc:spChg chg="mod">
          <ac:chgData name="Paul PETON" userId="f452c416-63c5-497b-b3b2-f4c1c92748fa" providerId="ADAL" clId="{0D64DA26-F7AF-44DE-BEDF-5EB92BBC41B4}" dt="2026-09-02T14:22:09.988" v="2696" actId="20577"/>
          <ac:spMkLst>
            <pc:docMk/>
            <pc:sldMk cId="0" sldId="260"/>
            <ac:spMk id="28" creationId="{00000000-0000-0000-0000-000000000000}"/>
          </ac:spMkLst>
        </pc:spChg>
      </pc:sldChg>
      <pc:sldChg chg="modSp mod">
        <pc:chgData name="Paul PETON" userId="f452c416-63c5-497b-b3b2-f4c1c92748fa" providerId="ADAL" clId="{0D64DA26-F7AF-44DE-BEDF-5EB92BBC41B4}" dt="2026-09-02T14:25:14.444" v="2697" actId="20577"/>
        <pc:sldMkLst>
          <pc:docMk/>
          <pc:sldMk cId="0" sldId="261"/>
        </pc:sldMkLst>
        <pc:spChg chg="mod">
          <ac:chgData name="Paul PETON" userId="f452c416-63c5-497b-b3b2-f4c1c92748fa" providerId="ADAL" clId="{0D64DA26-F7AF-44DE-BEDF-5EB92BBC41B4}" dt="2026-09-02T14:25:14.444" v="2697" actId="20577"/>
          <ac:spMkLst>
            <pc:docMk/>
            <pc:sldMk cId="0" sldId="261"/>
            <ac:spMk id="25" creationId="{00000000-0000-0000-0000-000000000000}"/>
          </ac:spMkLst>
        </pc:spChg>
      </pc:sldChg>
      <pc:sldChg chg="modSp mod">
        <pc:chgData name="Paul PETON" userId="f452c416-63c5-497b-b3b2-f4c1c92748fa" providerId="ADAL" clId="{0D64DA26-F7AF-44DE-BEDF-5EB92BBC41B4}" dt="2026-09-02T14:45:08.027" v="2767" actId="1076"/>
        <pc:sldMkLst>
          <pc:docMk/>
          <pc:sldMk cId="0" sldId="264"/>
        </pc:sldMkLst>
        <pc:spChg chg="mod">
          <ac:chgData name="Paul PETON" userId="f452c416-63c5-497b-b3b2-f4c1c92748fa" providerId="ADAL" clId="{0D64DA26-F7AF-44DE-BEDF-5EB92BBC41B4}" dt="2026-09-02T14:45:08.027" v="2767" actId="1076"/>
          <ac:spMkLst>
            <pc:docMk/>
            <pc:sldMk cId="0" sldId="264"/>
            <ac:spMk id="29" creationId="{00000000-0000-0000-0000-000000000000}"/>
          </ac:spMkLst>
        </pc:spChg>
      </pc:sldChg>
      <pc:sldChg chg="modSp mod">
        <pc:chgData name="Paul PETON" userId="f452c416-63c5-497b-b3b2-f4c1c92748fa" providerId="ADAL" clId="{0D64DA26-F7AF-44DE-BEDF-5EB92BBC41B4}" dt="2026-09-02T14:31:48.036" v="2765" actId="20577"/>
        <pc:sldMkLst>
          <pc:docMk/>
          <pc:sldMk cId="0" sldId="266"/>
        </pc:sldMkLst>
        <pc:spChg chg="mod">
          <ac:chgData name="Paul PETON" userId="f452c416-63c5-497b-b3b2-f4c1c92748fa" providerId="ADAL" clId="{0D64DA26-F7AF-44DE-BEDF-5EB92BBC41B4}" dt="2026-09-02T14:31:48.036" v="2765" actId="20577"/>
          <ac:spMkLst>
            <pc:docMk/>
            <pc:sldMk cId="0" sldId="266"/>
            <ac:spMk id="15" creationId="{00000000-0000-0000-0000-000000000000}"/>
          </ac:spMkLst>
        </pc:spChg>
      </pc:sldChg>
      <pc:sldChg chg="modNotesTx">
        <pc:chgData name="Paul PETON" userId="f452c416-63c5-497b-b3b2-f4c1c92748fa" providerId="ADAL" clId="{0D64DA26-F7AF-44DE-BEDF-5EB92BBC41B4}" dt="2026-09-02T15:25:13.791" v="2793" actId="20577"/>
        <pc:sldMkLst>
          <pc:docMk/>
          <pc:sldMk cId="0" sldId="276"/>
        </pc:sldMkLst>
      </pc:sldChg>
      <pc:sldChg chg="modSp mod">
        <pc:chgData name="Paul PETON" userId="f452c416-63c5-497b-b3b2-f4c1c92748fa" providerId="ADAL" clId="{0D64DA26-F7AF-44DE-BEDF-5EB92BBC41B4}" dt="2026-09-02T14:49:37.429" v="2777" actId="20577"/>
        <pc:sldMkLst>
          <pc:docMk/>
          <pc:sldMk cId="0" sldId="280"/>
        </pc:sldMkLst>
        <pc:spChg chg="mod">
          <ac:chgData name="Paul PETON" userId="f452c416-63c5-497b-b3b2-f4c1c92748fa" providerId="ADAL" clId="{0D64DA26-F7AF-44DE-BEDF-5EB92BBC41B4}" dt="2026-09-02T14:49:37.429" v="2777" actId="20577"/>
          <ac:spMkLst>
            <pc:docMk/>
            <pc:sldMk cId="0" sldId="280"/>
            <ac:spMk id="27" creationId="{00000000-0000-0000-0000-000000000000}"/>
          </ac:spMkLst>
        </pc:spChg>
      </pc:sldChg>
      <pc:sldChg chg="mod modShow">
        <pc:chgData name="Paul PETON" userId="f452c416-63c5-497b-b3b2-f4c1c92748fa" providerId="ADAL" clId="{0D64DA26-F7AF-44DE-BEDF-5EB92BBC41B4}" dt="2026-09-02T14:50:41.182" v="2778" actId="729"/>
        <pc:sldMkLst>
          <pc:docMk/>
          <pc:sldMk cId="0" sldId="282"/>
        </pc:sldMkLst>
      </pc:sldChg>
      <pc:sldChg chg="modSp mod">
        <pc:chgData name="Paul PETON" userId="f452c416-63c5-497b-b3b2-f4c1c92748fa" providerId="ADAL" clId="{0D64DA26-F7AF-44DE-BEDF-5EB92BBC41B4}" dt="2026-09-02T14:51:07.437" v="2791" actId="20577"/>
        <pc:sldMkLst>
          <pc:docMk/>
          <pc:sldMk cId="0" sldId="284"/>
        </pc:sldMkLst>
        <pc:spChg chg="mod">
          <ac:chgData name="Paul PETON" userId="f452c416-63c5-497b-b3b2-f4c1c92748fa" providerId="ADAL" clId="{0D64DA26-F7AF-44DE-BEDF-5EB92BBC41B4}" dt="2026-09-02T14:51:07.437" v="2791" actId="20577"/>
          <ac:spMkLst>
            <pc:docMk/>
            <pc:sldMk cId="0" sldId="284"/>
            <ac:spMk id="13" creationId="{00000000-0000-0000-0000-000000000000}"/>
          </ac:spMkLst>
        </pc:spChg>
      </pc:sldChg>
      <pc:sldChg chg="addSp delSp new mod modClrScheme modShow chgLayout">
        <pc:chgData name="Paul PETON" userId="f452c416-63c5-497b-b3b2-f4c1c92748fa" providerId="ADAL" clId="{0D64DA26-F7AF-44DE-BEDF-5EB92BBC41B4}" dt="2026-09-02T15:27:02.433" v="2797" actId="729"/>
        <pc:sldMkLst>
          <pc:docMk/>
          <pc:sldMk cId="2889146046" sldId="2147481861"/>
        </pc:sldMkLst>
        <pc:picChg chg="add">
          <ac:chgData name="Paul PETON" userId="f452c416-63c5-497b-b3b2-f4c1c92748fa" providerId="ADAL" clId="{0D64DA26-F7AF-44DE-BEDF-5EB92BBC41B4}" dt="2026-09-02T15:27:00.280" v="2796" actId="22"/>
          <ac:picMkLst>
            <pc:docMk/>
            <pc:sldMk cId="2889146046" sldId="2147481861"/>
            <ac:picMk id="6" creationId="{48311093-88DD-E591-0973-140BB8140D74}"/>
          </ac:picMkLst>
        </pc:picChg>
      </pc:sldChg>
    </pc:docChg>
  </pc:docChgLst>
  <pc:docChgLst>
    <pc:chgData name="Laurent GAGLIARDI" userId="578fe5dc-1c1b-4514-a972-5099e044bcb5" providerId="ADAL" clId="{11EFAE25-7F04-4261-A74D-A1C585C9654A}"/>
    <pc:docChg chg="undo custSel modSld">
      <pc:chgData name="Laurent GAGLIARDI" userId="578fe5dc-1c1b-4514-a972-5099e044bcb5" providerId="ADAL" clId="{11EFAE25-7F04-4261-A74D-A1C585C9654A}" dt="2026-09-04T08:31:40.258" v="2" actId="1036"/>
      <pc:docMkLst>
        <pc:docMk/>
      </pc:docMkLst>
      <pc:sldChg chg="addSp delSp modSp mod">
        <pc:chgData name="Laurent GAGLIARDI" userId="578fe5dc-1c1b-4514-a972-5099e044bcb5" providerId="ADAL" clId="{11EFAE25-7F04-4261-A74D-A1C585C9654A}" dt="2026-09-04T08:31:40.258" v="2" actId="1036"/>
        <pc:sldMkLst>
          <pc:docMk/>
          <pc:sldMk cId="3825774700" sldId="2147481848"/>
        </pc:sldMkLst>
        <pc:spChg chg="add del">
          <ac:chgData name="Laurent GAGLIARDI" userId="578fe5dc-1c1b-4514-a972-5099e044bcb5" providerId="ADAL" clId="{11EFAE25-7F04-4261-A74D-A1C585C9654A}" dt="2026-09-04T08:30:20.135" v="1" actId="22"/>
          <ac:spMkLst>
            <pc:docMk/>
            <pc:sldMk cId="3825774700" sldId="2147481848"/>
            <ac:spMk id="13" creationId="{A3574F2F-6579-DF8E-40C4-6F62FBFB3AD7}"/>
          </ac:spMkLst>
        </pc:spChg>
        <pc:spChg chg="mod">
          <ac:chgData name="Laurent GAGLIARDI" userId="578fe5dc-1c1b-4514-a972-5099e044bcb5" providerId="ADAL" clId="{11EFAE25-7F04-4261-A74D-A1C585C9654A}" dt="2026-09-04T08:31:40.258" v="2" actId="1036"/>
          <ac:spMkLst>
            <pc:docMk/>
            <pc:sldMk cId="3825774700" sldId="2147481848"/>
            <ac:spMk id="28" creationId="{6228AE41-5EB3-99B3-FFC6-9F838644D474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53:46.95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0,'725'5'0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1584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power-bi/create-reports/copilot-prepare-data-ai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power-bi/create-reports/copilot-create-desktop-report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sft-shreyas/fabconeu-2025-dataagent-tutorial/blob/main/Lab%204/Fabrikam%20Company%20Sales%20Report.pbix" TargetMode="External"/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power-bi/explore-reports/mobile/mobile-copilot-overview" TargetMode="External"/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7C2E3-5942-B09B-1468-1114621D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4C6CF-9E9E-F573-C62E-B56E23F16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50FA3-2CED-CF3F-0766-EC83034C4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3D296-0402-06FA-517D-E1A0799BE4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80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76A5E-C3C9-B822-CE28-0CAD462C5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3C71B-30A6-0A86-060A-E8D530FD7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8ECC2-1DDD-FDD2-0D70-109DC3702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07B79-470F-0409-01EC-A4FE0C0857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9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704DF-09FE-E275-72E1-855C0621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16EF3-4000-52D8-162A-446D47D96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FB2FF-FDCA-221D-7FEE-0C62E8849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CF589-014D-A761-7478-2AF131E753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73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B6D7-65FC-9A8F-DC5E-EC78B6571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C993D-E810-98F3-32C6-614088B70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ABB33-0588-BE9B-0BEF-90BF06707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CA765-1180-A14D-F1B7-5F7BB8B898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31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52E4A-9567-2335-8BDA-7ED7974AB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01CFA-20B4-6737-A356-21E662A24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F755C4-F5DE-098E-420E-3086D491B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9DAF0-76D9-7EC5-BC77-411D5F9CB2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3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C9F10-1C40-C37D-8E59-3089CC181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66FCB-B90B-E040-D706-E6646E7B0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FFF5A-F4FC-50F7-4F08-84F39233C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E3CCB-BFC2-FA03-2AA1-BE09E3D7A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48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FF813-C05C-C5F3-709B-7FA18618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30D05-83D3-D235-BBC2-8868DF3A3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3FEC6-FCE3-6833-4D72-749DC2AA8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44509-0E79-0A2B-A677-CAA6EAA2C4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1750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8016D-F247-5E7F-9CA5-953CB46B0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81569-7570-6597-01D7-FE735CD2C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784A8-D4C9-CD74-3899-0BF5771AD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7E211-8EED-92D5-E074-6C060C3B77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267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Fabric </a:t>
            </a:r>
          </a:p>
          <a:p>
            <a:r>
              <a:rPr lang="fr-FR">
                <a:sym typeface="Wingdings" panose="05000000000000000000" pitchFamily="2" charset="2"/>
              </a:rPr>
              <a:t>Workspace : Copilot Fabric Agents </a:t>
            </a:r>
          </a:p>
          <a:p>
            <a:r>
              <a:rPr lang="fr-FR" err="1">
                <a:sym typeface="Wingdings" panose="05000000000000000000" pitchFamily="2" charset="2"/>
              </a:rPr>
              <a:t>Artificial</a:t>
            </a:r>
            <a:r>
              <a:rPr lang="fr-FR">
                <a:sym typeface="Wingdings" panose="05000000000000000000" pitchFamily="2" charset="2"/>
              </a:rPr>
              <a:t> Intelligence </a:t>
            </a:r>
            <a:r>
              <a:rPr lang="fr-FR" err="1">
                <a:sym typeface="Wingdings" panose="05000000000000000000" pitchFamily="2" charset="2"/>
              </a:rPr>
              <a:t>Sample</a:t>
            </a:r>
            <a:r>
              <a:rPr lang="fr-FR">
                <a:sym typeface="Wingdings" panose="05000000000000000000" pitchFamily="2" charset="2"/>
              </a:rPr>
              <a:t> (Report)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6FF32-AF5B-4774-8442-2DE6F693416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4793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68747-14B2-11B1-277A-7270CBC3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7689BB6-5730-C907-4167-ABF919128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E00328C-23DD-937C-B12E-21B455CD1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https://learn.microsoft.com/en-us/power-bi/create-reports/copilot-integration#responsible-use-of-copilot-in-power-bi</a:t>
            </a:r>
          </a:p>
          <a:p>
            <a:endParaRPr lang="fr-FR" dirty="0"/>
          </a:p>
          <a:p>
            <a:r>
              <a:rPr lang="fr-FR" b="1" dirty="0" err="1"/>
              <a:t>Governance</a:t>
            </a:r>
            <a:r>
              <a:rPr lang="fr-FR" b="1" dirty="0"/>
              <a:t>:</a:t>
            </a:r>
            <a:r>
              <a:rPr lang="fr-FR" dirty="0"/>
              <a:t> Set up </a:t>
            </a:r>
            <a:r>
              <a:rPr lang="fr-FR" dirty="0" err="1"/>
              <a:t>security</a:t>
            </a:r>
            <a:r>
              <a:rPr lang="fr-FR" dirty="0"/>
              <a:t> groups and </a:t>
            </a:r>
            <a:r>
              <a:rPr lang="fr-FR" dirty="0" err="1"/>
              <a:t>grant</a:t>
            </a:r>
            <a:r>
              <a:rPr lang="fr-FR" dirty="0"/>
              <a:t> </a:t>
            </a:r>
            <a:r>
              <a:rPr lang="fr-FR" dirty="0" err="1"/>
              <a:t>access</a:t>
            </a:r>
            <a:r>
              <a:rPr lang="fr-FR" dirty="0"/>
              <a:t> to </a:t>
            </a:r>
            <a:r>
              <a:rPr lang="fr-FR" dirty="0" err="1"/>
              <a:t>Copilot</a:t>
            </a:r>
            <a:r>
              <a:rPr lang="fr-FR" dirty="0"/>
              <a:t> in Power BI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users</a:t>
            </a:r>
            <a:r>
              <a:rPr lang="fr-FR" dirty="0"/>
              <a:t> </a:t>
            </a:r>
            <a:r>
              <a:rPr lang="fr-FR" dirty="0" err="1"/>
              <a:t>complete</a:t>
            </a:r>
            <a:r>
              <a:rPr lang="fr-FR" dirty="0"/>
              <a:t> training or </a:t>
            </a:r>
            <a:r>
              <a:rPr lang="fr-FR" dirty="0" err="1"/>
              <a:t>demonstrate</a:t>
            </a:r>
            <a:r>
              <a:rPr lang="fr-FR" dirty="0"/>
              <a:t>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understanding</a:t>
            </a:r>
            <a:r>
              <a:rPr lang="fr-FR" dirty="0"/>
              <a:t> of the </a:t>
            </a:r>
            <a:r>
              <a:rPr lang="fr-FR" dirty="0" err="1"/>
              <a:t>technology</a:t>
            </a:r>
            <a:r>
              <a:rPr lang="fr-FR" dirty="0"/>
              <a:t>, </a:t>
            </a:r>
            <a:r>
              <a:rPr lang="fr-FR" dirty="0" err="1"/>
              <a:t>its</a:t>
            </a:r>
            <a:r>
              <a:rPr lang="fr-FR" dirty="0"/>
              <a:t> limitations, and </a:t>
            </a:r>
            <a:r>
              <a:rPr lang="fr-FR" dirty="0" err="1"/>
              <a:t>its</a:t>
            </a:r>
            <a:r>
              <a:rPr lang="fr-FR" dirty="0"/>
              <a:t> use cases. If </a:t>
            </a:r>
            <a:r>
              <a:rPr lang="fr-FR" dirty="0" err="1"/>
              <a:t>you're</a:t>
            </a:r>
            <a:r>
              <a:rPr lang="fr-FR" dirty="0"/>
              <a:t> </a:t>
            </a:r>
            <a:r>
              <a:rPr lang="fr-FR" dirty="0" err="1"/>
              <a:t>enabling</a:t>
            </a:r>
            <a:r>
              <a:rPr lang="fr-FR" dirty="0"/>
              <a:t> </a:t>
            </a:r>
            <a:r>
              <a:rPr lang="fr-FR" dirty="0" err="1"/>
              <a:t>Copilot</a:t>
            </a:r>
            <a:r>
              <a:rPr lang="fr-FR" dirty="0"/>
              <a:t> for the first time, use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approach</a:t>
            </a:r>
            <a:r>
              <a:rPr lang="fr-FR" dirty="0"/>
              <a:t> to </a:t>
            </a:r>
            <a:r>
              <a:rPr lang="fr-FR" dirty="0" err="1"/>
              <a:t>incrementally</a:t>
            </a:r>
            <a:r>
              <a:rPr lang="fr-FR" dirty="0"/>
              <a:t> roll out </a:t>
            </a:r>
            <a:r>
              <a:rPr lang="fr-FR" dirty="0" err="1"/>
              <a:t>Copilot</a:t>
            </a:r>
            <a:r>
              <a:rPr lang="fr-FR" dirty="0"/>
              <a:t> in Power BI in phases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you're</a:t>
            </a:r>
            <a:r>
              <a:rPr lang="fr-FR" dirty="0"/>
              <a:t> </a:t>
            </a:r>
            <a:r>
              <a:rPr lang="fr-FR" dirty="0" err="1"/>
              <a:t>ready</a:t>
            </a:r>
            <a:r>
              <a:rPr lang="fr-FR" dirty="0"/>
              <a:t>.</a:t>
            </a:r>
          </a:p>
          <a:p>
            <a:r>
              <a:rPr lang="fr-FR" b="1" dirty="0" err="1"/>
              <a:t>Preparation</a:t>
            </a:r>
            <a:r>
              <a:rPr lang="fr-FR" b="1" dirty="0"/>
              <a:t> of </a:t>
            </a:r>
            <a:r>
              <a:rPr lang="fr-FR" b="1" dirty="0" err="1"/>
              <a:t>semantic</a:t>
            </a:r>
            <a:r>
              <a:rPr lang="fr-FR" b="1" dirty="0"/>
              <a:t> </a:t>
            </a:r>
            <a:r>
              <a:rPr lang="fr-FR" b="1" dirty="0" err="1"/>
              <a:t>models</a:t>
            </a:r>
            <a:r>
              <a:rPr lang="fr-FR" b="1" dirty="0"/>
              <a:t>:</a:t>
            </a:r>
            <a:r>
              <a:rPr lang="fr-FR" dirty="0"/>
              <a:t> Put </a:t>
            </a:r>
            <a:r>
              <a:rPr lang="fr-FR" dirty="0" err="1"/>
              <a:t>significant</a:t>
            </a:r>
            <a:r>
              <a:rPr lang="fr-FR" dirty="0"/>
              <a:t> effort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preparing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semantic</a:t>
            </a:r>
            <a:r>
              <a:rPr lang="fr-FR" dirty="0"/>
              <a:t> model to </a:t>
            </a:r>
            <a:r>
              <a:rPr lang="fr-FR" dirty="0" err="1"/>
              <a:t>work</a:t>
            </a:r>
            <a:r>
              <a:rPr lang="fr-FR" dirty="0"/>
              <a:t> </a:t>
            </a:r>
            <a:r>
              <a:rPr lang="fr-FR" dirty="0" err="1"/>
              <a:t>well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Copilot</a:t>
            </a:r>
            <a:r>
              <a:rPr lang="fr-FR" dirty="0"/>
              <a:t>.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preparations</a:t>
            </a:r>
            <a:r>
              <a:rPr lang="fr-FR" dirty="0"/>
              <a:t> </a:t>
            </a:r>
            <a:r>
              <a:rPr lang="fr-FR" dirty="0" err="1"/>
              <a:t>include</a:t>
            </a:r>
            <a:r>
              <a:rPr lang="fr-FR" dirty="0"/>
              <a:t> </a:t>
            </a:r>
            <a:r>
              <a:rPr lang="fr-FR" dirty="0" err="1"/>
              <a:t>ensuring</a:t>
            </a:r>
            <a:r>
              <a:rPr lang="fr-FR" dirty="0"/>
              <a:t> </a:t>
            </a:r>
            <a:r>
              <a:rPr lang="fr-FR" dirty="0" err="1"/>
              <a:t>proper</a:t>
            </a:r>
            <a:r>
              <a:rPr lang="fr-FR" dirty="0"/>
              <a:t> </a:t>
            </a:r>
            <a:r>
              <a:rPr lang="fr-FR" dirty="0" err="1"/>
              <a:t>naming</a:t>
            </a:r>
            <a:r>
              <a:rPr lang="fr-FR" dirty="0"/>
              <a:t> conventions, </a:t>
            </a:r>
            <a:r>
              <a:rPr lang="fr-FR" dirty="0" err="1"/>
              <a:t>field</a:t>
            </a:r>
            <a:r>
              <a:rPr lang="fr-FR" dirty="0"/>
              <a:t> descriptions, </a:t>
            </a:r>
            <a:r>
              <a:rPr lang="fr-FR" dirty="0" err="1"/>
              <a:t>following</a:t>
            </a:r>
            <a:r>
              <a:rPr lang="fr-FR" dirty="0"/>
              <a:t> good modeling practices, setting up </a:t>
            </a:r>
            <a:r>
              <a:rPr lang="fr-FR" dirty="0" err="1"/>
              <a:t>linguistic</a:t>
            </a:r>
            <a:r>
              <a:rPr lang="fr-FR" dirty="0"/>
              <a:t> modeling, and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steps</a:t>
            </a:r>
            <a:r>
              <a:rPr lang="fr-FR" dirty="0"/>
              <a:t>. </a:t>
            </a:r>
            <a:r>
              <a:rPr lang="fr-FR" dirty="0" err="1"/>
              <a:t>Neglecting</a:t>
            </a:r>
            <a:r>
              <a:rPr lang="fr-FR" dirty="0"/>
              <a:t>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preparations</a:t>
            </a:r>
            <a:r>
              <a:rPr lang="fr-FR" dirty="0"/>
              <a:t> can lead to </a:t>
            </a:r>
            <a:r>
              <a:rPr lang="fr-FR" dirty="0" err="1"/>
              <a:t>Copilot</a:t>
            </a:r>
            <a:r>
              <a:rPr lang="fr-FR" dirty="0"/>
              <a:t> </a:t>
            </a:r>
            <a:r>
              <a:rPr lang="fr-FR" dirty="0" err="1"/>
              <a:t>producing</a:t>
            </a:r>
            <a:r>
              <a:rPr lang="fr-FR" dirty="0"/>
              <a:t> more </a:t>
            </a:r>
            <a:r>
              <a:rPr lang="fr-FR" dirty="0" err="1"/>
              <a:t>unhelpful</a:t>
            </a:r>
            <a:r>
              <a:rPr lang="fr-FR" dirty="0"/>
              <a:t> and </a:t>
            </a:r>
            <a:r>
              <a:rPr lang="fr-FR" dirty="0" err="1"/>
              <a:t>inaccurate</a:t>
            </a:r>
            <a:r>
              <a:rPr lang="fr-FR" dirty="0"/>
              <a:t> </a:t>
            </a:r>
            <a:r>
              <a:rPr lang="fr-FR" dirty="0" err="1"/>
              <a:t>results</a:t>
            </a:r>
            <a:r>
              <a:rPr lang="fr-FR" dirty="0"/>
              <a:t>. The standalone </a:t>
            </a:r>
            <a:r>
              <a:rPr lang="fr-FR" dirty="0" err="1"/>
              <a:t>Copilot</a:t>
            </a:r>
            <a:r>
              <a:rPr lang="fr-FR" dirty="0"/>
              <a:t> </a:t>
            </a:r>
            <a:r>
              <a:rPr lang="fr-FR" dirty="0" err="1"/>
              <a:t>experience</a:t>
            </a:r>
            <a:r>
              <a:rPr lang="fr-FR" dirty="0"/>
              <a:t> in Power BI mobile apps surfaces </a:t>
            </a:r>
            <a:r>
              <a:rPr lang="fr-FR" dirty="0" err="1"/>
              <a:t>clear</a:t>
            </a:r>
            <a:r>
              <a:rPr lang="fr-FR" dirty="0"/>
              <a:t> warnings </a:t>
            </a:r>
            <a:r>
              <a:rPr lang="fr-FR" dirty="0" err="1"/>
              <a:t>when</a:t>
            </a:r>
            <a:r>
              <a:rPr lang="fr-FR" dirty="0"/>
              <a:t> a </a:t>
            </a:r>
            <a:r>
              <a:rPr lang="fr-FR" dirty="0" err="1"/>
              <a:t>semantic</a:t>
            </a:r>
            <a:r>
              <a:rPr lang="fr-FR" dirty="0"/>
              <a:t> model </a:t>
            </a:r>
            <a:r>
              <a:rPr lang="fr-FR" dirty="0" err="1"/>
              <a:t>isn't</a:t>
            </a:r>
            <a:r>
              <a:rPr lang="fr-FR" dirty="0"/>
              <a:t> </a:t>
            </a:r>
            <a:r>
              <a:rPr lang="fr-FR" dirty="0" err="1"/>
              <a:t>prepared</a:t>
            </a:r>
            <a:r>
              <a:rPr lang="fr-FR" dirty="0"/>
              <a:t> for AI and directs </a:t>
            </a:r>
            <a:r>
              <a:rPr lang="fr-FR" dirty="0" err="1"/>
              <a:t>users</a:t>
            </a:r>
            <a:r>
              <a:rPr lang="fr-FR" dirty="0"/>
              <a:t> to </a:t>
            </a:r>
            <a:r>
              <a:rPr lang="fr-FR" dirty="0" err="1">
                <a:hlinkClick r:id="rId3"/>
              </a:rPr>
              <a:t>preparation</a:t>
            </a:r>
            <a:r>
              <a:rPr lang="fr-FR" dirty="0">
                <a:hlinkClick r:id="rId3"/>
              </a:rPr>
              <a:t> guidance</a:t>
            </a:r>
            <a:r>
              <a:rPr lang="fr-FR" dirty="0"/>
              <a:t>.</a:t>
            </a:r>
          </a:p>
          <a:p>
            <a:r>
              <a:rPr lang="fr-FR" b="1" dirty="0" err="1"/>
              <a:t>Preparation</a:t>
            </a:r>
            <a:r>
              <a:rPr lang="fr-FR" b="1" dirty="0"/>
              <a:t> of business </a:t>
            </a:r>
            <a:r>
              <a:rPr lang="fr-FR" b="1" dirty="0" err="1"/>
              <a:t>users</a:t>
            </a:r>
            <a:r>
              <a:rPr lang="fr-FR" b="1" dirty="0"/>
              <a:t>:</a:t>
            </a:r>
            <a:r>
              <a:rPr lang="fr-FR" dirty="0"/>
              <a:t> If business </a:t>
            </a:r>
            <a:r>
              <a:rPr lang="fr-FR" dirty="0" err="1"/>
              <a:t>users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use </a:t>
            </a:r>
            <a:r>
              <a:rPr lang="fr-FR" dirty="0" err="1"/>
              <a:t>Copilot</a:t>
            </a:r>
            <a:r>
              <a:rPr lang="fr-FR" dirty="0"/>
              <a:t> in Power BI, </a:t>
            </a:r>
            <a:r>
              <a:rPr lang="fr-FR" dirty="0" err="1"/>
              <a:t>explain</a:t>
            </a:r>
            <a:r>
              <a:rPr lang="fr-FR" dirty="0"/>
              <a:t> to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to use </a:t>
            </a:r>
            <a:r>
              <a:rPr lang="fr-FR" dirty="0" err="1"/>
              <a:t>Copilot</a:t>
            </a:r>
            <a:r>
              <a:rPr lang="fr-FR" dirty="0"/>
              <a:t> and </a:t>
            </a:r>
            <a:r>
              <a:rPr lang="fr-FR" dirty="0" err="1"/>
              <a:t>when</a:t>
            </a:r>
            <a:r>
              <a:rPr lang="fr-FR" dirty="0"/>
              <a:t> to </a:t>
            </a:r>
            <a:r>
              <a:rPr lang="fr-FR" dirty="0" err="1"/>
              <a:t>simply</a:t>
            </a:r>
            <a:r>
              <a:rPr lang="fr-FR" dirty="0"/>
              <a:t> look at and use </a:t>
            </a:r>
            <a:r>
              <a:rPr lang="fr-FR" dirty="0" err="1"/>
              <a:t>their</a:t>
            </a:r>
            <a:r>
              <a:rPr lang="fr-FR" dirty="0"/>
              <a:t> reports. </a:t>
            </a:r>
            <a:r>
              <a:rPr lang="fr-FR" dirty="0" err="1"/>
              <a:t>Encouraging</a:t>
            </a:r>
            <a:r>
              <a:rPr lang="fr-FR" dirty="0"/>
              <a:t> business </a:t>
            </a:r>
            <a:r>
              <a:rPr lang="fr-FR" dirty="0" err="1"/>
              <a:t>users</a:t>
            </a:r>
            <a:r>
              <a:rPr lang="fr-FR" dirty="0"/>
              <a:t> to use </a:t>
            </a:r>
            <a:r>
              <a:rPr lang="fr-FR" dirty="0" err="1"/>
              <a:t>Copilot</a:t>
            </a:r>
            <a:r>
              <a:rPr lang="fr-FR" dirty="0"/>
              <a:t> </a:t>
            </a:r>
            <a:r>
              <a:rPr lang="fr-FR" dirty="0" err="1"/>
              <a:t>instead</a:t>
            </a:r>
            <a:r>
              <a:rPr lang="fr-FR" dirty="0"/>
              <a:t> of </a:t>
            </a:r>
            <a:r>
              <a:rPr lang="fr-FR" dirty="0" err="1"/>
              <a:t>interacting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reports can lead to </a:t>
            </a:r>
            <a:r>
              <a:rPr lang="fr-FR" dirty="0" err="1"/>
              <a:t>increased</a:t>
            </a:r>
            <a:r>
              <a:rPr lang="fr-FR" dirty="0"/>
              <a:t> </a:t>
            </a:r>
            <a:r>
              <a:rPr lang="fr-FR" dirty="0" err="1"/>
              <a:t>capacity</a:t>
            </a:r>
            <a:r>
              <a:rPr lang="fr-FR" dirty="0"/>
              <a:t> usage and </a:t>
            </a:r>
            <a:r>
              <a:rPr lang="fr-FR" dirty="0" err="1"/>
              <a:t>inefficiency</a:t>
            </a:r>
            <a:r>
              <a:rPr lang="fr-FR" dirty="0"/>
              <a:t>, as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spend</a:t>
            </a:r>
            <a:r>
              <a:rPr lang="fr-FR" dirty="0"/>
              <a:t> more time </a:t>
            </a:r>
            <a:r>
              <a:rPr lang="fr-FR" dirty="0" err="1"/>
              <a:t>writing</a:t>
            </a:r>
            <a:r>
              <a:rPr lang="fr-FR" dirty="0"/>
              <a:t> prompts and </a:t>
            </a:r>
            <a:r>
              <a:rPr lang="fr-FR" dirty="0" err="1"/>
              <a:t>reading</a:t>
            </a:r>
            <a:r>
              <a:rPr lang="fr-FR" dirty="0"/>
              <a:t> outputs </a:t>
            </a:r>
            <a:r>
              <a:rPr lang="fr-FR" dirty="0" err="1"/>
              <a:t>than</a:t>
            </a:r>
            <a:r>
              <a:rPr lang="fr-FR" dirty="0"/>
              <a:t> </a:t>
            </a:r>
            <a:r>
              <a:rPr lang="fr-FR" dirty="0" err="1"/>
              <a:t>reading</a:t>
            </a:r>
            <a:r>
              <a:rPr lang="fr-FR" dirty="0"/>
              <a:t> and </a:t>
            </a:r>
            <a:r>
              <a:rPr lang="fr-FR" dirty="0" err="1"/>
              <a:t>interpreting</a:t>
            </a:r>
            <a:r>
              <a:rPr lang="fr-FR" dirty="0"/>
              <a:t> </a:t>
            </a:r>
            <a:r>
              <a:rPr lang="fr-FR" dirty="0" err="1"/>
              <a:t>visuals</a:t>
            </a:r>
            <a:r>
              <a:rPr lang="fr-FR" dirty="0"/>
              <a:t>. </a:t>
            </a:r>
            <a:r>
              <a:rPr lang="fr-FR" dirty="0" err="1"/>
              <a:t>Instead</a:t>
            </a:r>
            <a:r>
              <a:rPr lang="fr-FR" dirty="0"/>
              <a:t>, </a:t>
            </a:r>
            <a:r>
              <a:rPr lang="fr-FR" dirty="0" err="1"/>
              <a:t>they</a:t>
            </a:r>
            <a:r>
              <a:rPr lang="fr-FR" dirty="0"/>
              <a:t> can use </a:t>
            </a:r>
            <a:r>
              <a:rPr lang="fr-FR" dirty="0" err="1"/>
              <a:t>Copilot</a:t>
            </a:r>
            <a:r>
              <a:rPr lang="fr-FR" dirty="0"/>
              <a:t> to help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find</a:t>
            </a:r>
            <a:r>
              <a:rPr lang="fr-FR" dirty="0"/>
              <a:t> and </a:t>
            </a:r>
            <a:r>
              <a:rPr lang="fr-FR" dirty="0" err="1"/>
              <a:t>interpret</a:t>
            </a:r>
            <a:r>
              <a:rPr lang="fr-FR" dirty="0"/>
              <a:t> information in </a:t>
            </a:r>
            <a:r>
              <a:rPr lang="fr-FR" dirty="0" err="1"/>
              <a:t>busy</a:t>
            </a:r>
            <a:r>
              <a:rPr lang="fr-FR" dirty="0"/>
              <a:t> reports, </a:t>
            </a:r>
            <a:r>
              <a:rPr lang="fr-FR" dirty="0" err="1"/>
              <a:t>particularly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can't</a:t>
            </a:r>
            <a:r>
              <a:rPr lang="fr-FR" dirty="0"/>
              <a:t> </a:t>
            </a:r>
            <a:r>
              <a:rPr lang="fr-FR" dirty="0" err="1"/>
              <a:t>find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.</a:t>
            </a:r>
          </a:p>
          <a:p>
            <a:r>
              <a:rPr lang="fr-FR" b="1" dirty="0"/>
              <a:t>Evaluation of outputs:</a:t>
            </a:r>
            <a:r>
              <a:rPr lang="fr-FR" dirty="0"/>
              <a:t> </a:t>
            </a:r>
            <a:r>
              <a:rPr lang="fr-FR" dirty="0" err="1"/>
              <a:t>Copilot</a:t>
            </a:r>
            <a:r>
              <a:rPr lang="fr-FR" dirty="0"/>
              <a:t> outputs can </a:t>
            </a:r>
            <a:r>
              <a:rPr lang="fr-FR" dirty="0" err="1"/>
              <a:t>contain</a:t>
            </a:r>
            <a:r>
              <a:rPr lang="fr-FR" dirty="0"/>
              <a:t> </a:t>
            </a:r>
            <a:r>
              <a:rPr lang="fr-FR" dirty="0" err="1"/>
              <a:t>inaccurate</a:t>
            </a:r>
            <a:r>
              <a:rPr lang="fr-FR" dirty="0"/>
              <a:t> and </a:t>
            </a:r>
            <a:r>
              <a:rPr lang="fr-FR" dirty="0" err="1"/>
              <a:t>low-quality</a:t>
            </a:r>
            <a:r>
              <a:rPr lang="fr-FR" dirty="0"/>
              <a:t> content. Outputs are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nondeterministic</a:t>
            </a:r>
            <a:r>
              <a:rPr lang="fr-FR" dirty="0"/>
              <a:t>, </a:t>
            </a:r>
            <a:r>
              <a:rPr lang="fr-FR" dirty="0" err="1"/>
              <a:t>meaning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it's</a:t>
            </a:r>
            <a:r>
              <a:rPr lang="fr-FR" dirty="0"/>
              <a:t> possible </a:t>
            </a:r>
            <a:r>
              <a:rPr lang="fr-FR" dirty="0" err="1"/>
              <a:t>that</a:t>
            </a:r>
            <a:r>
              <a:rPr lang="fr-FR" dirty="0"/>
              <a:t> a user </a:t>
            </a:r>
            <a:r>
              <a:rPr lang="fr-FR" dirty="0" err="1"/>
              <a:t>receives</a:t>
            </a:r>
            <a:r>
              <a:rPr lang="fr-FR" dirty="0"/>
              <a:t> a </a:t>
            </a:r>
            <a:r>
              <a:rPr lang="fr-FR" dirty="0" err="1"/>
              <a:t>different</a:t>
            </a:r>
            <a:r>
              <a:rPr lang="fr-FR" dirty="0"/>
              <a:t> output </a:t>
            </a:r>
            <a:r>
              <a:rPr lang="fr-FR" dirty="0" err="1"/>
              <a:t>from</a:t>
            </a:r>
            <a:r>
              <a:rPr lang="fr-FR" dirty="0"/>
              <a:t> a </a:t>
            </a:r>
            <a:r>
              <a:rPr lang="fr-FR" dirty="0" err="1"/>
              <a:t>Copilot</a:t>
            </a:r>
            <a:r>
              <a:rPr lang="fr-FR" dirty="0"/>
              <a:t> </a:t>
            </a:r>
            <a:r>
              <a:rPr lang="fr-FR" dirty="0" err="1"/>
              <a:t>experience</a:t>
            </a:r>
            <a:r>
              <a:rPr lang="fr-FR" dirty="0"/>
              <a:t>, </a:t>
            </a:r>
            <a:r>
              <a:rPr lang="fr-FR" dirty="0" err="1"/>
              <a:t>despite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 </a:t>
            </a:r>
            <a:r>
              <a:rPr lang="fr-FR" dirty="0" err="1"/>
              <a:t>same</a:t>
            </a:r>
            <a:r>
              <a:rPr lang="fr-FR" dirty="0"/>
              <a:t> prompt and </a:t>
            </a:r>
            <a:r>
              <a:rPr lang="fr-FR" dirty="0" err="1"/>
              <a:t>grounding</a:t>
            </a:r>
            <a:r>
              <a:rPr lang="fr-FR" dirty="0"/>
              <a:t> data. </a:t>
            </a:r>
            <a:r>
              <a:rPr lang="fr-FR" dirty="0" err="1"/>
              <a:t>It's</a:t>
            </a:r>
            <a:r>
              <a:rPr lang="fr-FR" dirty="0"/>
              <a:t> important to set expectations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users</a:t>
            </a:r>
            <a:r>
              <a:rPr lang="fr-FR" dirty="0"/>
              <a:t> </a:t>
            </a:r>
            <a:r>
              <a:rPr lang="fr-FR" dirty="0" err="1"/>
              <a:t>so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know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kinds</a:t>
            </a:r>
            <a:r>
              <a:rPr lang="fr-FR" dirty="0"/>
              <a:t> of outputs to </a:t>
            </a:r>
            <a:r>
              <a:rPr lang="fr-FR" dirty="0" err="1"/>
              <a:t>expect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Copilot</a:t>
            </a:r>
            <a:r>
              <a:rPr lang="fr-FR" dirty="0"/>
              <a:t>, and how </a:t>
            </a:r>
            <a:r>
              <a:rPr lang="fr-FR" dirty="0" err="1"/>
              <a:t>they</a:t>
            </a:r>
            <a:r>
              <a:rPr lang="fr-FR" dirty="0"/>
              <a:t> can </a:t>
            </a:r>
            <a:r>
              <a:rPr lang="fr-FR" dirty="0" err="1"/>
              <a:t>evaluate</a:t>
            </a:r>
            <a:r>
              <a:rPr lang="fr-FR" dirty="0"/>
              <a:t> or </a:t>
            </a:r>
            <a:r>
              <a:rPr lang="fr-FR" dirty="0" err="1"/>
              <a:t>validate</a:t>
            </a:r>
            <a:r>
              <a:rPr lang="fr-FR" dirty="0"/>
              <a:t> </a:t>
            </a:r>
            <a:r>
              <a:rPr lang="fr-FR" dirty="0" err="1"/>
              <a:t>these</a:t>
            </a:r>
            <a:r>
              <a:rPr lang="fr-FR" dirty="0"/>
              <a:t> outputs, for </a:t>
            </a:r>
            <a:r>
              <a:rPr lang="fr-FR" dirty="0" err="1"/>
              <a:t>themselves</a:t>
            </a:r>
            <a:r>
              <a:rPr lang="fr-FR" dirty="0"/>
              <a:t>.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52948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F499A-FAE6-5DFC-D701-8B6F3C23F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804C31-D1B9-84B6-75DA-9502FF328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8A51AB-17C8-F411-EF92-8CFCC47CD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2717C-3150-03D7-A74E-BF4E57283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6FF32-AF5B-4774-8442-2DE6F693416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2155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DB0B-B698-9551-C122-54850BD8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6C6C8-CE1B-DC5A-38CA-080030D22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AE599A-8D8C-5F27-5AA1-9EB58208C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F7CA5-D932-F039-C70B-C8F0037B4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6FF32-AF5B-4774-8442-2DE6F693416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807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9D5A6-5B65-7B02-8409-63F0CEDDC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3443B-B65A-EB6A-D000-2F5E0AB74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3C3FF-74F5-4555-CE51-F3E720ABE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Ouvrir le modèle sémantique associé.</a:t>
            </a:r>
          </a:p>
          <a:p>
            <a:r>
              <a:rPr lang="fr-FR"/>
              <a:t>Passer en mode « Edition »</a:t>
            </a:r>
          </a:p>
          <a:p>
            <a:r>
              <a:rPr lang="fr-FR"/>
              <a:t>Choisir une mesure…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F91A1-8706-19C2-1C1B-E134C5384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6FF32-AF5B-4774-8442-2DE6F693416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41534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2D0C5-AF21-271E-D5F6-4FCB77140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0D897-FBE8-76E9-7DE0-9B3C1BBF4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4C103-C893-5C2C-6D16-9C4B37D99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Ouvrir le modèle sémantique associé.</a:t>
            </a:r>
          </a:p>
          <a:p>
            <a:r>
              <a:rPr lang="fr-FR"/>
              <a:t>Passer en mode « Edition »</a:t>
            </a:r>
          </a:p>
          <a:p>
            <a:r>
              <a:rPr lang="fr-FR"/>
              <a:t>Choisir une mesure…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FA068-D24C-CC08-DEBB-6BED1605E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6FF32-AF5B-4774-8442-2DE6F693416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3540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7FE3A-AA36-EDE8-5555-C217C6762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FA45C-AF8A-1DFF-8835-D98DA070D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664DB-317E-0CA0-49DF-C13D0E2AB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Ouvrir le modèle sémantique associé.</a:t>
            </a:r>
          </a:p>
          <a:p>
            <a:r>
              <a:rPr lang="fr-FR"/>
              <a:t>Passer en mode « Edition »</a:t>
            </a:r>
          </a:p>
          <a:p>
            <a:r>
              <a:rPr lang="fr-FR"/>
              <a:t>Choisir une mesure…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1E5B8-5EBF-80D3-3A77-129E674F0E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6FF32-AF5B-4774-8442-2DE6F693416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83711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58931-A858-31BC-88C4-B59253020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CB22B-DCCD-02B7-1F3E-F1871865F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4FF0A-CBF9-4EC3-8559-AC7173B0A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Ouvrir le modèle sémantique associé.</a:t>
            </a:r>
          </a:p>
          <a:p>
            <a:r>
              <a:rPr lang="fr-FR"/>
              <a:t>Passer en mode « Edition »</a:t>
            </a:r>
          </a:p>
          <a:p>
            <a:r>
              <a:rPr lang="fr-FR"/>
              <a:t>Choisir une mesure…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EF114-74DC-E8AE-F4DF-5D4E30771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6FF32-AF5B-4774-8442-2DE6F693416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74368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6FE91-FCA0-068E-487E-5F03DA1F7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493A4-2D43-0910-61AD-9CC80F32B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C50FE-76C7-BB92-6107-9871721B6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Possibilité d’aller plus loin avec Power BI Desktop sur la personnalisation ! Notamment tout ce qui est </a:t>
            </a:r>
            <a:r>
              <a:rPr lang="fr-FR" err="1"/>
              <a:t>theme</a:t>
            </a:r>
            <a:r>
              <a:rPr lang="fr-FR"/>
              <a:t>.</a:t>
            </a:r>
          </a:p>
          <a:p>
            <a:r>
              <a:rPr lang="en-US">
                <a:hlinkClick r:id="rId3"/>
              </a:rPr>
              <a:t>Create reports in Power BI Desktop with Copilot - Power BI | Microsoft Learn</a:t>
            </a:r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DB6D6-588C-F9D7-2382-98DBB1DF3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6FF32-AF5B-4774-8442-2DE6F693416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08606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an </a:t>
            </a:r>
            <a:r>
              <a:rPr lang="fr-FR" dirty="0" err="1"/>
              <a:t>Executive</a:t>
            </a:r>
            <a:r>
              <a:rPr lang="fr-FR" dirty="0"/>
              <a:t> </a:t>
            </a:r>
            <a:r>
              <a:rPr lang="fr-FR" dirty="0" err="1"/>
              <a:t>Overview</a:t>
            </a:r>
            <a:r>
              <a:rPr lang="fr-FR" dirty="0"/>
              <a:t> page for the </a:t>
            </a:r>
            <a:r>
              <a:rPr lang="fr-FR" dirty="0" err="1"/>
              <a:t>Fabrikam</a:t>
            </a:r>
            <a:r>
              <a:rPr lang="fr-FR" dirty="0"/>
              <a:t> </a:t>
            </a:r>
            <a:r>
              <a:rPr lang="fr-FR" dirty="0" err="1"/>
              <a:t>semantic</a:t>
            </a:r>
            <a:r>
              <a:rPr lang="fr-FR" dirty="0"/>
              <a:t> model.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The objective of </a:t>
            </a:r>
            <a:r>
              <a:rPr lang="fr-FR" dirty="0" err="1"/>
              <a:t>this</a:t>
            </a:r>
            <a:r>
              <a:rPr lang="fr-FR" dirty="0"/>
              <a:t> page </a:t>
            </a:r>
            <a:r>
              <a:rPr lang="fr-FR" dirty="0" err="1"/>
              <a:t>is</a:t>
            </a:r>
            <a:r>
              <a:rPr lang="fr-FR" dirty="0"/>
              <a:t> to </a:t>
            </a:r>
            <a:r>
              <a:rPr lang="fr-FR" dirty="0" err="1"/>
              <a:t>provide</a:t>
            </a:r>
            <a:r>
              <a:rPr lang="fr-FR" dirty="0"/>
              <a:t> a high-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overview</a:t>
            </a:r>
            <a:r>
              <a:rPr lang="fr-FR" dirty="0"/>
              <a:t> of commercial performance and help </a:t>
            </a:r>
            <a:r>
              <a:rPr lang="fr-FR" dirty="0" err="1"/>
              <a:t>executives</a:t>
            </a:r>
            <a:r>
              <a:rPr lang="fr-FR" dirty="0"/>
              <a:t> </a:t>
            </a:r>
            <a:r>
              <a:rPr lang="fr-FR" dirty="0" err="1"/>
              <a:t>quickly</a:t>
            </a:r>
            <a:r>
              <a:rPr lang="fr-FR" dirty="0"/>
              <a:t> </a:t>
            </a:r>
            <a:r>
              <a:rPr lang="fr-FR" dirty="0" err="1"/>
              <a:t>identify</a:t>
            </a:r>
            <a:r>
              <a:rPr lang="fr-FR" dirty="0"/>
              <a:t> key business drivers.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Focus on </a:t>
            </a:r>
            <a:r>
              <a:rPr lang="fr-FR" dirty="0" err="1"/>
              <a:t>answering</a:t>
            </a:r>
            <a:r>
              <a:rPr lang="fr-FR" dirty="0"/>
              <a:t> the </a:t>
            </a:r>
            <a:r>
              <a:rPr lang="fr-FR" dirty="0" err="1"/>
              <a:t>following</a:t>
            </a:r>
            <a:r>
              <a:rPr lang="fr-FR" dirty="0"/>
              <a:t> questions: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-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current</a:t>
            </a:r>
            <a:r>
              <a:rPr lang="fr-FR" dirty="0"/>
              <a:t> sales performance?</a:t>
            </a:r>
          </a:p>
          <a:p>
            <a:r>
              <a:rPr lang="fr-FR" dirty="0"/>
              <a:t>- How are sales </a:t>
            </a:r>
            <a:r>
              <a:rPr lang="fr-FR" dirty="0" err="1"/>
              <a:t>trending</a:t>
            </a:r>
            <a:r>
              <a:rPr lang="fr-FR" dirty="0"/>
              <a:t> over time?</a:t>
            </a:r>
          </a:p>
          <a:p>
            <a:r>
              <a:rPr lang="fr-FR" dirty="0"/>
              <a:t>- </a:t>
            </a:r>
            <a:r>
              <a:rPr lang="fr-FR" dirty="0" err="1"/>
              <a:t>Which</a:t>
            </a:r>
            <a:r>
              <a:rPr lang="fr-FR" dirty="0"/>
              <a:t> countries </a:t>
            </a:r>
            <a:r>
              <a:rPr lang="fr-FR" dirty="0" err="1"/>
              <a:t>generate</a:t>
            </a:r>
            <a:r>
              <a:rPr lang="fr-FR" dirty="0"/>
              <a:t> the </a:t>
            </a:r>
            <a:r>
              <a:rPr lang="fr-FR" dirty="0" err="1"/>
              <a:t>most</a:t>
            </a:r>
            <a:r>
              <a:rPr lang="fr-FR" dirty="0"/>
              <a:t> revenue?</a:t>
            </a:r>
          </a:p>
          <a:p>
            <a:r>
              <a:rPr lang="fr-FR" dirty="0"/>
              <a:t>-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products</a:t>
            </a:r>
            <a:r>
              <a:rPr lang="fr-FR" dirty="0"/>
              <a:t> are </a:t>
            </a:r>
            <a:r>
              <a:rPr lang="fr-FR" dirty="0" err="1"/>
              <a:t>driving</a:t>
            </a:r>
            <a:r>
              <a:rPr lang="fr-FR" dirty="0"/>
              <a:t> sales?</a:t>
            </a:r>
          </a:p>
          <a:p>
            <a:r>
              <a:rPr lang="fr-FR" dirty="0"/>
              <a:t>-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resellers</a:t>
            </a:r>
            <a:r>
              <a:rPr lang="fr-FR" dirty="0"/>
              <a:t> </a:t>
            </a:r>
            <a:r>
              <a:rPr lang="fr-FR" dirty="0" err="1"/>
              <a:t>contribute</a:t>
            </a:r>
            <a:r>
              <a:rPr lang="fr-FR" dirty="0"/>
              <a:t> the </a:t>
            </a:r>
            <a:r>
              <a:rPr lang="fr-FR" dirty="0" err="1"/>
              <a:t>most</a:t>
            </a:r>
            <a:r>
              <a:rPr lang="fr-FR" dirty="0"/>
              <a:t>?</a:t>
            </a:r>
          </a:p>
          <a:p>
            <a:r>
              <a:rPr lang="fr-FR" dirty="0"/>
              <a:t>- Are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significant</a:t>
            </a:r>
            <a:r>
              <a:rPr lang="fr-FR" dirty="0"/>
              <a:t> positive or </a:t>
            </a:r>
            <a:r>
              <a:rPr lang="fr-FR" dirty="0" err="1"/>
              <a:t>negative</a:t>
            </a:r>
            <a:r>
              <a:rPr lang="fr-FR" dirty="0"/>
              <a:t> trends?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 err="1"/>
              <a:t>Include</a:t>
            </a:r>
            <a:r>
              <a:rPr lang="fr-FR" dirty="0"/>
              <a:t> the </a:t>
            </a:r>
            <a:r>
              <a:rPr lang="fr-FR" dirty="0" err="1"/>
              <a:t>following</a:t>
            </a:r>
            <a:r>
              <a:rPr lang="fr-FR" dirty="0"/>
              <a:t> </a:t>
            </a:r>
            <a:r>
              <a:rPr lang="fr-FR" dirty="0" err="1"/>
              <a:t>visuals</a:t>
            </a:r>
            <a:r>
              <a:rPr lang="fr-FR" dirty="0"/>
              <a:t>: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1. KPI </a:t>
            </a:r>
            <a:r>
              <a:rPr lang="fr-FR" dirty="0" err="1"/>
              <a:t>cards</a:t>
            </a:r>
            <a:r>
              <a:rPr lang="fr-FR" dirty="0"/>
              <a:t>:</a:t>
            </a:r>
          </a:p>
          <a:p>
            <a:r>
              <a:rPr lang="fr-FR" dirty="0"/>
              <a:t>   - Sales </a:t>
            </a:r>
            <a:r>
              <a:rPr lang="fr-FR" dirty="0" err="1"/>
              <a:t>Amount</a:t>
            </a:r>
            <a:endParaRPr lang="fr-FR" dirty="0"/>
          </a:p>
          <a:p>
            <a:r>
              <a:rPr lang="fr-FR" dirty="0"/>
              <a:t>   - Sales YoY %</a:t>
            </a:r>
          </a:p>
          <a:p>
            <a:r>
              <a:rPr lang="fr-FR" dirty="0"/>
              <a:t>   - Gross </a:t>
            </a:r>
            <a:r>
              <a:rPr lang="fr-FR" dirty="0" err="1"/>
              <a:t>Margin</a:t>
            </a:r>
            <a:endParaRPr lang="fr-FR" dirty="0"/>
          </a:p>
          <a:p>
            <a:r>
              <a:rPr lang="fr-FR" dirty="0"/>
              <a:t>   - GM %</a:t>
            </a:r>
          </a:p>
          <a:p>
            <a:r>
              <a:rPr lang="fr-FR" dirty="0"/>
              <a:t>   - </a:t>
            </a:r>
            <a:r>
              <a:rPr lang="fr-FR" dirty="0" err="1"/>
              <a:t>Quantity</a:t>
            </a:r>
            <a:r>
              <a:rPr lang="fr-FR" dirty="0"/>
              <a:t> Sold</a:t>
            </a:r>
          </a:p>
          <a:p>
            <a:r>
              <a:rPr lang="fr-FR" dirty="0"/>
              <a:t>   - </a:t>
            </a:r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/>
              <a:t>Order</a:t>
            </a:r>
            <a:r>
              <a:rPr lang="fr-FR" dirty="0"/>
              <a:t> Value</a:t>
            </a:r>
          </a:p>
          <a:p>
            <a:r>
              <a:rPr lang="fr-FR" dirty="0"/>
              <a:t>   - Number of Orders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2. A line chart </a:t>
            </a:r>
            <a:r>
              <a:rPr lang="fr-FR" dirty="0" err="1"/>
              <a:t>showing</a:t>
            </a:r>
            <a:r>
              <a:rPr lang="fr-FR" dirty="0"/>
              <a:t> sales trends over time.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3. A </a:t>
            </a:r>
            <a:r>
              <a:rPr lang="fr-FR" dirty="0" err="1"/>
              <a:t>map</a:t>
            </a:r>
            <a:r>
              <a:rPr lang="fr-FR" dirty="0"/>
              <a:t> </a:t>
            </a:r>
            <a:r>
              <a:rPr lang="fr-FR" dirty="0" err="1"/>
              <a:t>showing</a:t>
            </a:r>
            <a:r>
              <a:rPr lang="fr-FR" dirty="0"/>
              <a:t> sales by country.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4. A bar chart </a:t>
            </a:r>
            <a:r>
              <a:rPr lang="fr-FR" dirty="0" err="1"/>
              <a:t>displaying</a:t>
            </a:r>
            <a:r>
              <a:rPr lang="fr-FR" dirty="0"/>
              <a:t> the Top 10 </a:t>
            </a:r>
            <a:r>
              <a:rPr lang="fr-FR" dirty="0" err="1"/>
              <a:t>products</a:t>
            </a:r>
            <a:r>
              <a:rPr lang="fr-FR" dirty="0"/>
              <a:t> by Sales </a:t>
            </a:r>
            <a:r>
              <a:rPr lang="fr-FR" dirty="0" err="1"/>
              <a:t>Amount</a:t>
            </a:r>
            <a:r>
              <a:rPr lang="fr-FR" dirty="0"/>
              <a:t>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5. A bar chart </a:t>
            </a:r>
            <a:r>
              <a:rPr lang="fr-FR" dirty="0" err="1"/>
              <a:t>displaying</a:t>
            </a:r>
            <a:r>
              <a:rPr lang="fr-FR" dirty="0"/>
              <a:t> the Top 10 </a:t>
            </a:r>
            <a:r>
              <a:rPr lang="fr-FR" dirty="0" err="1"/>
              <a:t>resellers</a:t>
            </a:r>
            <a:r>
              <a:rPr lang="fr-FR" dirty="0"/>
              <a:t> by Sales </a:t>
            </a:r>
            <a:r>
              <a:rPr lang="fr-FR" dirty="0" err="1"/>
              <a:t>Amount</a:t>
            </a:r>
            <a:r>
              <a:rPr lang="fr-FR" dirty="0"/>
              <a:t>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6. A Smart Narrative </a:t>
            </a:r>
            <a:r>
              <a:rPr lang="fr-FR" dirty="0" err="1"/>
              <a:t>visual</a:t>
            </a:r>
            <a:r>
              <a:rPr lang="fr-FR" dirty="0"/>
              <a:t> </a:t>
            </a:r>
            <a:r>
              <a:rPr lang="fr-FR" dirty="0" err="1"/>
              <a:t>summarizing</a:t>
            </a:r>
            <a:r>
              <a:rPr lang="fr-FR" dirty="0"/>
              <a:t> key insights </a:t>
            </a:r>
            <a:r>
              <a:rPr lang="fr-FR" dirty="0" err="1"/>
              <a:t>from</a:t>
            </a:r>
            <a:r>
              <a:rPr lang="fr-FR" dirty="0"/>
              <a:t> the page.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Use a </a:t>
            </a:r>
            <a:r>
              <a:rPr lang="fr-FR" dirty="0" err="1"/>
              <a:t>professional</a:t>
            </a:r>
            <a:r>
              <a:rPr lang="fr-FR" dirty="0"/>
              <a:t> </a:t>
            </a:r>
            <a:r>
              <a:rPr lang="fr-FR" dirty="0" err="1"/>
              <a:t>executive</a:t>
            </a:r>
            <a:r>
              <a:rPr lang="fr-FR" dirty="0"/>
              <a:t> </a:t>
            </a:r>
            <a:r>
              <a:rPr lang="fr-FR" dirty="0" err="1"/>
              <a:t>dashboard</a:t>
            </a:r>
            <a:r>
              <a:rPr lang="fr-FR" dirty="0"/>
              <a:t> </a:t>
            </a:r>
            <a:r>
              <a:rPr lang="fr-FR" dirty="0" err="1"/>
              <a:t>layout</a:t>
            </a:r>
            <a:r>
              <a:rPr lang="fr-FR" dirty="0"/>
              <a:t> </a:t>
            </a:r>
            <a:r>
              <a:rPr lang="fr-FR" dirty="0" err="1"/>
              <a:t>optimized</a:t>
            </a:r>
            <a:r>
              <a:rPr lang="fr-FR" dirty="0"/>
              <a:t> for a 16:9 report page.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Design guidelines:</a:t>
            </a:r>
          </a:p>
          <a:p>
            <a:r>
              <a:rPr lang="fr-FR" dirty="0"/>
              <a:t>- White or light gray background.</a:t>
            </a:r>
          </a:p>
          <a:p>
            <a:r>
              <a:rPr lang="fr-FR" dirty="0"/>
              <a:t>- Dark </a:t>
            </a:r>
            <a:r>
              <a:rPr lang="fr-FR" dirty="0" err="1"/>
              <a:t>blue</a:t>
            </a:r>
            <a:r>
              <a:rPr lang="fr-FR" dirty="0"/>
              <a:t> for sales </a:t>
            </a:r>
            <a:r>
              <a:rPr lang="fr-FR" dirty="0" err="1"/>
              <a:t>metrics</a:t>
            </a:r>
            <a:r>
              <a:rPr lang="fr-FR" dirty="0"/>
              <a:t>.</a:t>
            </a:r>
          </a:p>
          <a:p>
            <a:r>
              <a:rPr lang="fr-FR" dirty="0"/>
              <a:t>- Green for </a:t>
            </a:r>
            <a:r>
              <a:rPr lang="fr-FR" dirty="0" err="1"/>
              <a:t>profitability</a:t>
            </a:r>
            <a:r>
              <a:rPr lang="fr-FR" dirty="0"/>
              <a:t> </a:t>
            </a:r>
            <a:r>
              <a:rPr lang="fr-FR" dirty="0" err="1"/>
              <a:t>metrics</a:t>
            </a:r>
            <a:r>
              <a:rPr lang="fr-FR" dirty="0"/>
              <a:t>.</a:t>
            </a:r>
          </a:p>
          <a:p>
            <a:r>
              <a:rPr lang="fr-FR" dirty="0"/>
              <a:t>- Orange for </a:t>
            </a:r>
            <a:r>
              <a:rPr lang="fr-FR" dirty="0" err="1"/>
              <a:t>opportunities</a:t>
            </a:r>
            <a:r>
              <a:rPr lang="fr-FR" dirty="0"/>
              <a:t>.</a:t>
            </a:r>
          </a:p>
          <a:p>
            <a:r>
              <a:rPr lang="fr-FR" dirty="0"/>
              <a:t>- Red for </a:t>
            </a:r>
            <a:r>
              <a:rPr lang="fr-FR" dirty="0" err="1"/>
              <a:t>negative</a:t>
            </a:r>
            <a:r>
              <a:rPr lang="fr-FR" dirty="0"/>
              <a:t> trends.</a:t>
            </a:r>
          </a:p>
          <a:p>
            <a:r>
              <a:rPr lang="fr-FR" dirty="0"/>
              <a:t>- Clean and modern </a:t>
            </a:r>
            <a:r>
              <a:rPr lang="fr-FR" dirty="0" err="1"/>
              <a:t>appearance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clear</a:t>
            </a:r>
            <a:r>
              <a:rPr lang="fr-FR" dirty="0"/>
              <a:t> </a:t>
            </a:r>
            <a:r>
              <a:rPr lang="fr-FR" dirty="0" err="1"/>
              <a:t>spacing</a:t>
            </a:r>
            <a:r>
              <a:rPr lang="fr-FR" dirty="0"/>
              <a:t>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Add </a:t>
            </a:r>
            <a:r>
              <a:rPr lang="fr-FR" dirty="0" err="1"/>
              <a:t>appropriate</a:t>
            </a:r>
            <a:r>
              <a:rPr lang="fr-FR" dirty="0"/>
              <a:t> interactions and cross-</a:t>
            </a:r>
            <a:r>
              <a:rPr lang="fr-FR" dirty="0" err="1"/>
              <a:t>filtering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visuals</a:t>
            </a:r>
            <a:r>
              <a:rPr lang="fr-FR" dirty="0"/>
              <a:t>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The final page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suitable</a:t>
            </a:r>
            <a:r>
              <a:rPr lang="fr-FR" dirty="0"/>
              <a:t> for </a:t>
            </a:r>
            <a:r>
              <a:rPr lang="fr-FR" dirty="0" err="1"/>
              <a:t>executive</a:t>
            </a:r>
            <a:r>
              <a:rPr lang="fr-FR" dirty="0"/>
              <a:t> </a:t>
            </a:r>
            <a:r>
              <a:rPr lang="fr-FR" dirty="0" err="1"/>
              <a:t>reviews</a:t>
            </a:r>
            <a:r>
              <a:rPr lang="fr-FR" dirty="0"/>
              <a:t> and management </a:t>
            </a:r>
            <a:r>
              <a:rPr lang="fr-FR" dirty="0" err="1"/>
              <a:t>presentations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76798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 report page </a:t>
            </a:r>
            <a:r>
              <a:rPr lang="fr-FR" dirty="0" err="1"/>
              <a:t>called</a:t>
            </a:r>
            <a:r>
              <a:rPr lang="fr-FR" dirty="0"/>
              <a:t> "Sales </a:t>
            </a:r>
            <a:r>
              <a:rPr lang="fr-FR" dirty="0" err="1"/>
              <a:t>Analysis</a:t>
            </a:r>
            <a:r>
              <a:rPr lang="fr-FR" dirty="0"/>
              <a:t>" for the </a:t>
            </a:r>
            <a:r>
              <a:rPr lang="fr-FR" dirty="0" err="1"/>
              <a:t>Fabrikam</a:t>
            </a:r>
            <a:r>
              <a:rPr lang="fr-FR" dirty="0"/>
              <a:t> </a:t>
            </a:r>
            <a:r>
              <a:rPr lang="fr-FR" dirty="0" err="1"/>
              <a:t>semantic</a:t>
            </a:r>
            <a:r>
              <a:rPr lang="fr-FR" dirty="0"/>
              <a:t> model.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The </a:t>
            </a:r>
            <a:r>
              <a:rPr lang="fr-FR" dirty="0" err="1"/>
              <a:t>purpose</a:t>
            </a:r>
            <a:r>
              <a:rPr lang="fr-FR" dirty="0"/>
              <a:t> of </a:t>
            </a:r>
            <a:r>
              <a:rPr lang="fr-FR" dirty="0" err="1"/>
              <a:t>this</a:t>
            </a:r>
            <a:r>
              <a:rPr lang="fr-FR" dirty="0"/>
              <a:t> page </a:t>
            </a:r>
            <a:r>
              <a:rPr lang="fr-FR" dirty="0" err="1"/>
              <a:t>is</a:t>
            </a:r>
            <a:r>
              <a:rPr lang="fr-FR" dirty="0"/>
              <a:t> to </a:t>
            </a:r>
            <a:r>
              <a:rPr lang="fr-FR" dirty="0" err="1"/>
              <a:t>explain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drives sales performance and </a:t>
            </a:r>
            <a:r>
              <a:rPr lang="fr-FR" dirty="0" err="1"/>
              <a:t>identify</a:t>
            </a:r>
            <a:r>
              <a:rPr lang="fr-FR" dirty="0"/>
              <a:t> the main </a:t>
            </a:r>
            <a:r>
              <a:rPr lang="fr-FR" dirty="0" err="1"/>
              <a:t>contributors</a:t>
            </a:r>
            <a:r>
              <a:rPr lang="fr-FR" dirty="0"/>
              <a:t> to revenue </a:t>
            </a:r>
            <a:r>
              <a:rPr lang="fr-FR" dirty="0" err="1"/>
              <a:t>growth</a:t>
            </a:r>
            <a:r>
              <a:rPr lang="fr-FR" dirty="0"/>
              <a:t>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 err="1"/>
              <a:t>Include</a:t>
            </a:r>
            <a:r>
              <a:rPr lang="fr-FR" dirty="0"/>
              <a:t> the </a:t>
            </a:r>
            <a:r>
              <a:rPr lang="fr-FR" dirty="0" err="1"/>
              <a:t>following</a:t>
            </a:r>
            <a:r>
              <a:rPr lang="fr-FR" dirty="0"/>
              <a:t> </a:t>
            </a:r>
            <a:r>
              <a:rPr lang="fr-FR" dirty="0" err="1"/>
              <a:t>visuals</a:t>
            </a:r>
            <a:r>
              <a:rPr lang="fr-FR" dirty="0"/>
              <a:t>: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- KPI </a:t>
            </a:r>
            <a:r>
              <a:rPr lang="fr-FR" dirty="0" err="1"/>
              <a:t>cards</a:t>
            </a:r>
            <a:r>
              <a:rPr lang="fr-FR" dirty="0"/>
              <a:t> for Sales </a:t>
            </a:r>
            <a:r>
              <a:rPr lang="fr-FR" dirty="0" err="1"/>
              <a:t>Amount</a:t>
            </a:r>
            <a:r>
              <a:rPr lang="fr-FR" dirty="0"/>
              <a:t>, </a:t>
            </a:r>
            <a:r>
              <a:rPr lang="fr-FR" dirty="0" err="1"/>
              <a:t>Quantity</a:t>
            </a:r>
            <a:r>
              <a:rPr lang="fr-FR" dirty="0"/>
              <a:t> Sold, </a:t>
            </a:r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/>
              <a:t>Order</a:t>
            </a:r>
            <a:r>
              <a:rPr lang="fr-FR" dirty="0"/>
              <a:t> Value and Sales YoY %.</a:t>
            </a:r>
          </a:p>
          <a:p>
            <a:r>
              <a:rPr lang="fr-FR" dirty="0"/>
              <a:t>- A </a:t>
            </a:r>
            <a:r>
              <a:rPr lang="fr-FR" dirty="0" err="1"/>
              <a:t>Decomposition</a:t>
            </a:r>
            <a:r>
              <a:rPr lang="fr-FR" dirty="0"/>
              <a:t> Tree </a:t>
            </a:r>
            <a:r>
              <a:rPr lang="fr-FR" dirty="0" err="1"/>
              <a:t>analyzing</a:t>
            </a:r>
            <a:r>
              <a:rPr lang="fr-FR" dirty="0"/>
              <a:t> Sales </a:t>
            </a:r>
            <a:r>
              <a:rPr lang="fr-FR" dirty="0" err="1"/>
              <a:t>Amount</a:t>
            </a:r>
            <a:r>
              <a:rPr lang="fr-FR" dirty="0"/>
              <a:t> by Continent, Country, Product Group, Supplier, Reseller and </a:t>
            </a:r>
            <a:r>
              <a:rPr lang="fr-FR" dirty="0" err="1"/>
              <a:t>Salesperson</a:t>
            </a:r>
            <a:r>
              <a:rPr lang="fr-FR" dirty="0"/>
              <a:t>.</a:t>
            </a:r>
          </a:p>
          <a:p>
            <a:r>
              <a:rPr lang="fr-FR" dirty="0"/>
              <a:t>- A matrix </a:t>
            </a:r>
            <a:r>
              <a:rPr lang="fr-FR" dirty="0" err="1"/>
              <a:t>showing</a:t>
            </a:r>
            <a:r>
              <a:rPr lang="fr-FR" dirty="0"/>
              <a:t> Product Group by Country </a:t>
            </a:r>
            <a:r>
              <a:rPr lang="fr-FR" dirty="0" err="1"/>
              <a:t>with</a:t>
            </a:r>
            <a:r>
              <a:rPr lang="fr-FR" dirty="0"/>
              <a:t> Sales </a:t>
            </a:r>
            <a:r>
              <a:rPr lang="fr-FR" dirty="0" err="1"/>
              <a:t>Amount</a:t>
            </a:r>
            <a:r>
              <a:rPr lang="fr-FR" dirty="0"/>
              <a:t> and GM %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conditional</a:t>
            </a:r>
            <a:r>
              <a:rPr lang="fr-FR" dirty="0"/>
              <a:t> </a:t>
            </a:r>
            <a:r>
              <a:rPr lang="fr-FR" dirty="0" err="1"/>
              <a:t>formatting</a:t>
            </a:r>
            <a:r>
              <a:rPr lang="fr-FR" dirty="0"/>
              <a:t>.</a:t>
            </a:r>
          </a:p>
          <a:p>
            <a:r>
              <a:rPr lang="fr-FR" dirty="0"/>
              <a:t>- A </a:t>
            </a:r>
            <a:r>
              <a:rPr lang="fr-FR" dirty="0" err="1"/>
              <a:t>scatter</a:t>
            </a:r>
            <a:r>
              <a:rPr lang="fr-FR" dirty="0"/>
              <a:t> chart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Quantity</a:t>
            </a:r>
            <a:r>
              <a:rPr lang="fr-FR" dirty="0"/>
              <a:t> on the X-axis, Sales </a:t>
            </a:r>
            <a:r>
              <a:rPr lang="fr-FR" dirty="0" err="1"/>
              <a:t>Amount</a:t>
            </a:r>
            <a:r>
              <a:rPr lang="fr-FR" dirty="0"/>
              <a:t> on the Y-axis, </a:t>
            </a:r>
            <a:r>
              <a:rPr lang="fr-FR" dirty="0" err="1"/>
              <a:t>bubble</a:t>
            </a:r>
            <a:r>
              <a:rPr lang="fr-FR" dirty="0"/>
              <a:t> size </a:t>
            </a:r>
            <a:r>
              <a:rPr lang="fr-FR" dirty="0" err="1"/>
              <a:t>based</a:t>
            </a:r>
            <a:r>
              <a:rPr lang="fr-FR" dirty="0"/>
              <a:t> on Gross </a:t>
            </a:r>
            <a:r>
              <a:rPr lang="fr-FR" dirty="0" err="1"/>
              <a:t>Margin</a:t>
            </a:r>
            <a:r>
              <a:rPr lang="fr-FR" dirty="0"/>
              <a:t>, and Product Group as the </a:t>
            </a:r>
            <a:r>
              <a:rPr lang="fr-FR" dirty="0" err="1"/>
              <a:t>category</a:t>
            </a:r>
            <a:r>
              <a:rPr lang="fr-FR" dirty="0"/>
              <a:t>.</a:t>
            </a:r>
          </a:p>
          <a:p>
            <a:r>
              <a:rPr lang="fr-FR" dirty="0"/>
              <a:t>- A </a:t>
            </a:r>
            <a:r>
              <a:rPr lang="fr-FR" dirty="0" err="1"/>
              <a:t>waterfall</a:t>
            </a:r>
            <a:r>
              <a:rPr lang="fr-FR" dirty="0"/>
              <a:t> chart </a:t>
            </a:r>
            <a:r>
              <a:rPr lang="fr-FR" dirty="0" err="1"/>
              <a:t>showing</a:t>
            </a:r>
            <a:r>
              <a:rPr lang="fr-FR" dirty="0"/>
              <a:t> the contribution of Product Groups to total Sales </a:t>
            </a:r>
            <a:r>
              <a:rPr lang="fr-FR" dirty="0" err="1"/>
              <a:t>Amount</a:t>
            </a:r>
            <a:r>
              <a:rPr lang="fr-FR" dirty="0"/>
              <a:t>.</a:t>
            </a:r>
          </a:p>
          <a:p>
            <a:r>
              <a:rPr lang="fr-FR" dirty="0"/>
              <a:t>- A Smart Narrative </a:t>
            </a:r>
            <a:r>
              <a:rPr lang="fr-FR" dirty="0" err="1"/>
              <a:t>visual</a:t>
            </a:r>
            <a:r>
              <a:rPr lang="fr-FR" dirty="0"/>
              <a:t> </a:t>
            </a:r>
            <a:r>
              <a:rPr lang="fr-FR" dirty="0" err="1"/>
              <a:t>summarizing</a:t>
            </a:r>
            <a:r>
              <a:rPr lang="fr-FR" dirty="0"/>
              <a:t> the key drivers of sales performance.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Add </a:t>
            </a:r>
            <a:r>
              <a:rPr lang="fr-FR" dirty="0" err="1"/>
              <a:t>slicers</a:t>
            </a:r>
            <a:r>
              <a:rPr lang="fr-FR" dirty="0"/>
              <a:t> for </a:t>
            </a:r>
            <a:r>
              <a:rPr lang="fr-FR" dirty="0" err="1"/>
              <a:t>Year</a:t>
            </a:r>
            <a:r>
              <a:rPr lang="fr-FR" dirty="0"/>
              <a:t>, </a:t>
            </a:r>
            <a:r>
              <a:rPr lang="fr-FR" dirty="0" err="1"/>
              <a:t>Month</a:t>
            </a:r>
            <a:r>
              <a:rPr lang="fr-FR" dirty="0"/>
              <a:t>, Country, Product Group, Supplier and Reseller.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Use a </a:t>
            </a:r>
            <a:r>
              <a:rPr lang="fr-FR" dirty="0" err="1"/>
              <a:t>professional</a:t>
            </a:r>
            <a:r>
              <a:rPr lang="fr-FR" dirty="0"/>
              <a:t> </a:t>
            </a:r>
            <a:r>
              <a:rPr lang="fr-FR" dirty="0" err="1"/>
              <a:t>executive</a:t>
            </a:r>
            <a:r>
              <a:rPr lang="fr-FR" dirty="0"/>
              <a:t> design:</a:t>
            </a:r>
          </a:p>
          <a:p>
            <a:r>
              <a:rPr lang="fr-FR" dirty="0"/>
              <a:t>- White or light gray background.</a:t>
            </a:r>
          </a:p>
          <a:p>
            <a:r>
              <a:rPr lang="fr-FR" dirty="0"/>
              <a:t>- Dark </a:t>
            </a:r>
            <a:r>
              <a:rPr lang="fr-FR" dirty="0" err="1"/>
              <a:t>blue</a:t>
            </a:r>
            <a:r>
              <a:rPr lang="fr-FR" dirty="0"/>
              <a:t> for sales </a:t>
            </a:r>
            <a:r>
              <a:rPr lang="fr-FR" dirty="0" err="1"/>
              <a:t>metrics</a:t>
            </a:r>
            <a:r>
              <a:rPr lang="fr-FR" dirty="0"/>
              <a:t>.</a:t>
            </a:r>
          </a:p>
          <a:p>
            <a:r>
              <a:rPr lang="fr-FR" dirty="0"/>
              <a:t>- Green for </a:t>
            </a:r>
            <a:r>
              <a:rPr lang="fr-FR" dirty="0" err="1"/>
              <a:t>profitability</a:t>
            </a:r>
            <a:r>
              <a:rPr lang="fr-FR" dirty="0"/>
              <a:t> </a:t>
            </a:r>
            <a:r>
              <a:rPr lang="fr-FR" dirty="0" err="1"/>
              <a:t>metrics</a:t>
            </a:r>
            <a:r>
              <a:rPr lang="fr-FR" dirty="0"/>
              <a:t>.</a:t>
            </a:r>
          </a:p>
          <a:p>
            <a:r>
              <a:rPr lang="fr-FR" dirty="0"/>
              <a:t>- Orange for </a:t>
            </a:r>
            <a:r>
              <a:rPr lang="fr-FR" dirty="0" err="1"/>
              <a:t>growth</a:t>
            </a:r>
            <a:r>
              <a:rPr lang="fr-FR" dirty="0"/>
              <a:t> </a:t>
            </a:r>
            <a:r>
              <a:rPr lang="fr-FR" dirty="0" err="1"/>
              <a:t>opportunities</a:t>
            </a:r>
            <a:r>
              <a:rPr lang="fr-FR" dirty="0"/>
              <a:t>.</a:t>
            </a:r>
          </a:p>
          <a:p>
            <a:r>
              <a:rPr lang="fr-FR" dirty="0"/>
              <a:t>- Modern and clean </a:t>
            </a:r>
            <a:r>
              <a:rPr lang="fr-FR" dirty="0" err="1"/>
              <a:t>layout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strong</a:t>
            </a:r>
            <a:r>
              <a:rPr lang="fr-FR" dirty="0"/>
              <a:t> </a:t>
            </a:r>
            <a:r>
              <a:rPr lang="fr-FR" dirty="0" err="1"/>
              <a:t>visual</a:t>
            </a:r>
            <a:r>
              <a:rPr lang="fr-FR" dirty="0"/>
              <a:t> </a:t>
            </a:r>
            <a:r>
              <a:rPr lang="fr-FR" dirty="0" err="1"/>
              <a:t>hierarchy</a:t>
            </a:r>
            <a:r>
              <a:rPr lang="fr-FR" dirty="0"/>
              <a:t>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The page </a:t>
            </a:r>
            <a:r>
              <a:rPr lang="fr-FR" dirty="0" err="1"/>
              <a:t>should</a:t>
            </a:r>
            <a:r>
              <a:rPr lang="fr-FR" dirty="0"/>
              <a:t> help business </a:t>
            </a:r>
            <a:r>
              <a:rPr lang="fr-FR" dirty="0" err="1"/>
              <a:t>users</a:t>
            </a:r>
            <a:r>
              <a:rPr lang="fr-FR" dirty="0"/>
              <a:t> </a:t>
            </a:r>
            <a:r>
              <a:rPr lang="fr-FR" dirty="0" err="1"/>
              <a:t>understand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products</a:t>
            </a:r>
            <a:r>
              <a:rPr lang="fr-FR" dirty="0"/>
              <a:t>, </a:t>
            </a:r>
            <a:r>
              <a:rPr lang="fr-FR" dirty="0" err="1"/>
              <a:t>geographies</a:t>
            </a:r>
            <a:r>
              <a:rPr lang="fr-FR" dirty="0"/>
              <a:t>, </a:t>
            </a:r>
            <a:r>
              <a:rPr lang="fr-FR" dirty="0" err="1"/>
              <a:t>suppliers</a:t>
            </a:r>
            <a:r>
              <a:rPr lang="fr-FR" dirty="0"/>
              <a:t> and </a:t>
            </a:r>
            <a:r>
              <a:rPr lang="fr-FR" dirty="0" err="1"/>
              <a:t>resellers</a:t>
            </a:r>
            <a:r>
              <a:rPr lang="fr-FR" dirty="0"/>
              <a:t> have the </a:t>
            </a:r>
            <a:r>
              <a:rPr lang="fr-FR" dirty="0" err="1"/>
              <a:t>greatest</a:t>
            </a:r>
            <a:r>
              <a:rPr lang="fr-FR" dirty="0"/>
              <a:t> impact on sales performance.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25611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 report page </a:t>
            </a:r>
            <a:r>
              <a:rPr lang="fr-FR" dirty="0" err="1"/>
              <a:t>called</a:t>
            </a:r>
            <a:r>
              <a:rPr lang="fr-FR" dirty="0"/>
              <a:t> "</a:t>
            </a:r>
            <a:r>
              <a:rPr lang="fr-FR" dirty="0" err="1"/>
              <a:t>Profitability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" for the </a:t>
            </a:r>
            <a:r>
              <a:rPr lang="fr-FR" dirty="0" err="1"/>
              <a:t>Fabrikam</a:t>
            </a:r>
            <a:r>
              <a:rPr lang="fr-FR" dirty="0"/>
              <a:t> </a:t>
            </a:r>
            <a:r>
              <a:rPr lang="fr-FR" dirty="0" err="1"/>
              <a:t>semantic</a:t>
            </a:r>
            <a:r>
              <a:rPr lang="fr-FR" dirty="0"/>
              <a:t> model.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The </a:t>
            </a:r>
            <a:r>
              <a:rPr lang="fr-FR" dirty="0" err="1"/>
              <a:t>purpose</a:t>
            </a:r>
            <a:r>
              <a:rPr lang="fr-FR" dirty="0"/>
              <a:t> of </a:t>
            </a:r>
            <a:r>
              <a:rPr lang="fr-FR" dirty="0" err="1"/>
              <a:t>this</a:t>
            </a:r>
            <a:r>
              <a:rPr lang="fr-FR" dirty="0"/>
              <a:t> page </a:t>
            </a:r>
            <a:r>
              <a:rPr lang="fr-FR" dirty="0" err="1"/>
              <a:t>is</a:t>
            </a:r>
            <a:r>
              <a:rPr lang="fr-FR" dirty="0"/>
              <a:t> to </a:t>
            </a:r>
            <a:r>
              <a:rPr lang="fr-FR" dirty="0" err="1"/>
              <a:t>identify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drives </a:t>
            </a:r>
            <a:r>
              <a:rPr lang="fr-FR" dirty="0" err="1"/>
              <a:t>profitability</a:t>
            </a:r>
            <a:r>
              <a:rPr lang="fr-FR" dirty="0"/>
              <a:t> and highlight the </a:t>
            </a:r>
            <a:r>
              <a:rPr lang="fr-FR" dirty="0" err="1"/>
              <a:t>products</a:t>
            </a:r>
            <a:r>
              <a:rPr lang="fr-FR" dirty="0"/>
              <a:t>, </a:t>
            </a:r>
            <a:r>
              <a:rPr lang="fr-FR" dirty="0" err="1"/>
              <a:t>suppliers</a:t>
            </a:r>
            <a:r>
              <a:rPr lang="fr-FR" dirty="0"/>
              <a:t>, </a:t>
            </a:r>
            <a:r>
              <a:rPr lang="fr-FR" dirty="0" err="1"/>
              <a:t>geographies</a:t>
            </a:r>
            <a:r>
              <a:rPr lang="fr-FR" dirty="0"/>
              <a:t> and </a:t>
            </a:r>
            <a:r>
              <a:rPr lang="fr-FR" dirty="0" err="1"/>
              <a:t>resellers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create</a:t>
            </a:r>
            <a:r>
              <a:rPr lang="fr-FR" dirty="0"/>
              <a:t> the </a:t>
            </a:r>
            <a:r>
              <a:rPr lang="fr-FR" dirty="0" err="1"/>
              <a:t>most</a:t>
            </a:r>
            <a:r>
              <a:rPr lang="fr-FR" dirty="0"/>
              <a:t> value.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 err="1"/>
              <a:t>Include</a:t>
            </a:r>
            <a:r>
              <a:rPr lang="fr-FR" dirty="0"/>
              <a:t> the </a:t>
            </a:r>
            <a:r>
              <a:rPr lang="fr-FR" dirty="0" err="1"/>
              <a:t>following</a:t>
            </a:r>
            <a:r>
              <a:rPr lang="fr-FR" dirty="0"/>
              <a:t> </a:t>
            </a:r>
            <a:r>
              <a:rPr lang="fr-FR" dirty="0" err="1"/>
              <a:t>visuals</a:t>
            </a:r>
            <a:r>
              <a:rPr lang="fr-FR" dirty="0"/>
              <a:t>: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- KPI </a:t>
            </a:r>
            <a:r>
              <a:rPr lang="fr-FR" dirty="0" err="1"/>
              <a:t>cards</a:t>
            </a:r>
            <a:r>
              <a:rPr lang="fr-FR" dirty="0"/>
              <a:t> for Gross </a:t>
            </a:r>
            <a:r>
              <a:rPr lang="fr-FR" dirty="0" err="1"/>
              <a:t>Margin</a:t>
            </a:r>
            <a:r>
              <a:rPr lang="fr-FR" dirty="0"/>
              <a:t>, GM %, Sales </a:t>
            </a:r>
            <a:r>
              <a:rPr lang="fr-FR" dirty="0" err="1"/>
              <a:t>Amount</a:t>
            </a:r>
            <a:r>
              <a:rPr lang="fr-FR" dirty="0"/>
              <a:t>, Line Profit and </a:t>
            </a:r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/>
              <a:t>Order</a:t>
            </a:r>
            <a:r>
              <a:rPr lang="fr-FR" dirty="0"/>
              <a:t> Value.</a:t>
            </a:r>
          </a:p>
          <a:p>
            <a:r>
              <a:rPr lang="fr-FR" dirty="0"/>
              <a:t>- A </a:t>
            </a:r>
            <a:r>
              <a:rPr lang="fr-FR" dirty="0" err="1"/>
              <a:t>scatter</a:t>
            </a:r>
            <a:r>
              <a:rPr lang="fr-FR" dirty="0"/>
              <a:t> chart </a:t>
            </a:r>
            <a:r>
              <a:rPr lang="fr-FR" dirty="0" err="1"/>
              <a:t>showing</a:t>
            </a:r>
            <a:r>
              <a:rPr lang="fr-FR" dirty="0"/>
              <a:t> </a:t>
            </a:r>
            <a:r>
              <a:rPr lang="fr-FR" dirty="0" err="1"/>
              <a:t>Quantity</a:t>
            </a:r>
            <a:r>
              <a:rPr lang="fr-FR" dirty="0"/>
              <a:t> on the X-axis and GM % on the Y-axis,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bubble</a:t>
            </a:r>
            <a:r>
              <a:rPr lang="fr-FR" dirty="0"/>
              <a:t> size </a:t>
            </a:r>
            <a:r>
              <a:rPr lang="fr-FR" dirty="0" err="1"/>
              <a:t>based</a:t>
            </a:r>
            <a:r>
              <a:rPr lang="fr-FR" dirty="0"/>
              <a:t> on Sales </a:t>
            </a:r>
            <a:r>
              <a:rPr lang="fr-FR" dirty="0" err="1"/>
              <a:t>Amount</a:t>
            </a:r>
            <a:r>
              <a:rPr lang="fr-FR" dirty="0"/>
              <a:t> and Product Group as the </a:t>
            </a:r>
            <a:r>
              <a:rPr lang="fr-FR" dirty="0" err="1"/>
              <a:t>category</a:t>
            </a:r>
            <a:r>
              <a:rPr lang="fr-FR" dirty="0"/>
              <a:t>.</a:t>
            </a:r>
          </a:p>
          <a:p>
            <a:r>
              <a:rPr lang="fr-FR" dirty="0"/>
              <a:t>- A bar chart </a:t>
            </a:r>
            <a:r>
              <a:rPr lang="fr-FR" dirty="0" err="1"/>
              <a:t>displaying</a:t>
            </a:r>
            <a:r>
              <a:rPr lang="fr-FR" dirty="0"/>
              <a:t> the Top 10 </a:t>
            </a:r>
            <a:r>
              <a:rPr lang="fr-FR" dirty="0" err="1"/>
              <a:t>products</a:t>
            </a:r>
            <a:r>
              <a:rPr lang="fr-FR" dirty="0"/>
              <a:t> by Line Profit.</a:t>
            </a:r>
          </a:p>
          <a:p>
            <a:r>
              <a:rPr lang="fr-FR" dirty="0"/>
              <a:t>- A bar chart </a:t>
            </a:r>
            <a:r>
              <a:rPr lang="fr-FR" dirty="0" err="1"/>
              <a:t>displaying</a:t>
            </a:r>
            <a:r>
              <a:rPr lang="fr-FR" dirty="0"/>
              <a:t> Gross </a:t>
            </a:r>
            <a:r>
              <a:rPr lang="fr-FR" dirty="0" err="1"/>
              <a:t>Margin</a:t>
            </a:r>
            <a:r>
              <a:rPr lang="fr-FR" dirty="0"/>
              <a:t> by Supplier.</a:t>
            </a:r>
          </a:p>
          <a:p>
            <a:r>
              <a:rPr lang="fr-FR" dirty="0"/>
              <a:t>- A </a:t>
            </a:r>
            <a:r>
              <a:rPr lang="fr-FR" dirty="0" err="1"/>
              <a:t>map</a:t>
            </a:r>
            <a:r>
              <a:rPr lang="fr-FR" dirty="0"/>
              <a:t> </a:t>
            </a:r>
            <a:r>
              <a:rPr lang="fr-FR" dirty="0" err="1"/>
              <a:t>showing</a:t>
            </a:r>
            <a:r>
              <a:rPr lang="fr-FR" dirty="0"/>
              <a:t> GM % and Gross </a:t>
            </a:r>
            <a:r>
              <a:rPr lang="fr-FR" dirty="0" err="1"/>
              <a:t>Margin</a:t>
            </a:r>
            <a:r>
              <a:rPr lang="fr-FR" dirty="0"/>
              <a:t> by Country.</a:t>
            </a:r>
          </a:p>
          <a:p>
            <a:r>
              <a:rPr lang="fr-FR" dirty="0"/>
              <a:t>- A matrix </a:t>
            </a:r>
            <a:r>
              <a:rPr lang="fr-FR" dirty="0" err="1"/>
              <a:t>showing</a:t>
            </a:r>
            <a:r>
              <a:rPr lang="fr-FR" dirty="0"/>
              <a:t> Product Group, Sales </a:t>
            </a:r>
            <a:r>
              <a:rPr lang="fr-FR" dirty="0" err="1"/>
              <a:t>Amount</a:t>
            </a:r>
            <a:r>
              <a:rPr lang="fr-FR" dirty="0"/>
              <a:t>, Gross </a:t>
            </a:r>
            <a:r>
              <a:rPr lang="fr-FR" dirty="0" err="1"/>
              <a:t>Margin</a:t>
            </a:r>
            <a:r>
              <a:rPr lang="fr-FR" dirty="0"/>
              <a:t> and GM %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conditional</a:t>
            </a:r>
            <a:r>
              <a:rPr lang="fr-FR" dirty="0"/>
              <a:t> </a:t>
            </a:r>
            <a:r>
              <a:rPr lang="fr-FR" dirty="0" err="1"/>
              <a:t>formatting</a:t>
            </a:r>
            <a:r>
              <a:rPr lang="fr-FR" dirty="0"/>
              <a:t>.</a:t>
            </a:r>
          </a:p>
          <a:p>
            <a:r>
              <a:rPr lang="fr-FR" dirty="0"/>
              <a:t>- A Smart Narrative </a:t>
            </a:r>
            <a:r>
              <a:rPr lang="fr-FR" dirty="0" err="1"/>
              <a:t>visual</a:t>
            </a:r>
            <a:r>
              <a:rPr lang="fr-FR" dirty="0"/>
              <a:t> </a:t>
            </a:r>
            <a:r>
              <a:rPr lang="fr-FR" dirty="0" err="1"/>
              <a:t>summarizing</a:t>
            </a:r>
            <a:r>
              <a:rPr lang="fr-FR" dirty="0"/>
              <a:t> the key </a:t>
            </a:r>
            <a:r>
              <a:rPr lang="fr-FR" dirty="0" err="1"/>
              <a:t>profitability</a:t>
            </a:r>
            <a:r>
              <a:rPr lang="fr-FR" dirty="0"/>
              <a:t> drivers and </a:t>
            </a:r>
            <a:r>
              <a:rPr lang="fr-FR" dirty="0" err="1"/>
              <a:t>risks</a:t>
            </a:r>
            <a:r>
              <a:rPr lang="fr-FR" dirty="0"/>
              <a:t>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Add </a:t>
            </a:r>
            <a:r>
              <a:rPr lang="fr-FR" dirty="0" err="1"/>
              <a:t>slicers</a:t>
            </a:r>
            <a:r>
              <a:rPr lang="fr-FR" dirty="0"/>
              <a:t> for </a:t>
            </a:r>
            <a:r>
              <a:rPr lang="fr-FR" dirty="0" err="1"/>
              <a:t>Year</a:t>
            </a:r>
            <a:r>
              <a:rPr lang="fr-FR" dirty="0"/>
              <a:t>, Country, Product Group, Supplier and Reseller.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Use a </a:t>
            </a:r>
            <a:r>
              <a:rPr lang="fr-FR" dirty="0" err="1"/>
              <a:t>professional</a:t>
            </a:r>
            <a:r>
              <a:rPr lang="fr-FR" dirty="0"/>
              <a:t> </a:t>
            </a:r>
            <a:r>
              <a:rPr lang="fr-FR" dirty="0" err="1"/>
              <a:t>executive</a:t>
            </a:r>
            <a:r>
              <a:rPr lang="fr-FR" dirty="0"/>
              <a:t> </a:t>
            </a:r>
            <a:r>
              <a:rPr lang="fr-FR" dirty="0" err="1"/>
              <a:t>dashboard</a:t>
            </a:r>
            <a:r>
              <a:rPr lang="fr-FR" dirty="0"/>
              <a:t> design:</a:t>
            </a:r>
          </a:p>
          <a:p>
            <a:r>
              <a:rPr lang="fr-FR" dirty="0"/>
              <a:t>- White or light gray background.</a:t>
            </a:r>
          </a:p>
          <a:p>
            <a:r>
              <a:rPr lang="fr-FR" dirty="0"/>
              <a:t>- Dark </a:t>
            </a:r>
            <a:r>
              <a:rPr lang="fr-FR" dirty="0" err="1"/>
              <a:t>blue</a:t>
            </a:r>
            <a:r>
              <a:rPr lang="fr-FR" dirty="0"/>
              <a:t> for revenue </a:t>
            </a:r>
            <a:r>
              <a:rPr lang="fr-FR" dirty="0" err="1"/>
              <a:t>metrics</a:t>
            </a:r>
            <a:r>
              <a:rPr lang="fr-FR" dirty="0"/>
              <a:t>.</a:t>
            </a:r>
          </a:p>
          <a:p>
            <a:r>
              <a:rPr lang="fr-FR" dirty="0"/>
              <a:t>- Green for </a:t>
            </a:r>
            <a:r>
              <a:rPr lang="fr-FR" dirty="0" err="1"/>
              <a:t>profitability</a:t>
            </a:r>
            <a:r>
              <a:rPr lang="fr-FR" dirty="0"/>
              <a:t> </a:t>
            </a:r>
            <a:r>
              <a:rPr lang="fr-FR" dirty="0" err="1"/>
              <a:t>metrics</a:t>
            </a:r>
            <a:r>
              <a:rPr lang="fr-FR" dirty="0"/>
              <a:t>.</a:t>
            </a:r>
          </a:p>
          <a:p>
            <a:r>
              <a:rPr lang="fr-FR" dirty="0"/>
              <a:t>- Orange for </a:t>
            </a:r>
            <a:r>
              <a:rPr lang="fr-FR" dirty="0" err="1"/>
              <a:t>low-margin</a:t>
            </a:r>
            <a:r>
              <a:rPr lang="fr-FR" dirty="0"/>
              <a:t> </a:t>
            </a:r>
            <a:r>
              <a:rPr lang="fr-FR" dirty="0" err="1"/>
              <a:t>opportunities</a:t>
            </a:r>
            <a:r>
              <a:rPr lang="fr-FR" dirty="0"/>
              <a:t>.</a:t>
            </a:r>
          </a:p>
          <a:p>
            <a:r>
              <a:rPr lang="fr-FR" dirty="0"/>
              <a:t>- Red for </a:t>
            </a:r>
            <a:r>
              <a:rPr lang="fr-FR" dirty="0" err="1"/>
              <a:t>underperforming</a:t>
            </a:r>
            <a:r>
              <a:rPr lang="fr-FR" dirty="0"/>
              <a:t> segments.</a:t>
            </a:r>
          </a:p>
          <a:p>
            <a:r>
              <a:rPr lang="fr-FR" dirty="0"/>
              <a:t>- Clean </a:t>
            </a:r>
            <a:r>
              <a:rPr lang="fr-FR" dirty="0" err="1"/>
              <a:t>layout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strong</a:t>
            </a:r>
            <a:r>
              <a:rPr lang="fr-FR" dirty="0"/>
              <a:t> </a:t>
            </a:r>
            <a:r>
              <a:rPr lang="fr-FR" dirty="0" err="1"/>
              <a:t>visual</a:t>
            </a:r>
            <a:r>
              <a:rPr lang="fr-FR" dirty="0"/>
              <a:t> </a:t>
            </a:r>
            <a:r>
              <a:rPr lang="fr-FR" dirty="0" err="1"/>
              <a:t>hierarchy</a:t>
            </a:r>
            <a:r>
              <a:rPr lang="fr-FR" dirty="0"/>
              <a:t>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The page </a:t>
            </a:r>
            <a:r>
              <a:rPr lang="fr-FR" dirty="0" err="1"/>
              <a:t>should</a:t>
            </a:r>
            <a:r>
              <a:rPr lang="fr-FR" dirty="0"/>
              <a:t> help business </a:t>
            </a:r>
            <a:r>
              <a:rPr lang="fr-FR" dirty="0" err="1"/>
              <a:t>users</a:t>
            </a:r>
            <a:r>
              <a:rPr lang="fr-FR" dirty="0"/>
              <a:t> </a:t>
            </a:r>
            <a:r>
              <a:rPr lang="fr-FR" dirty="0" err="1"/>
              <a:t>understand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products</a:t>
            </a:r>
            <a:r>
              <a:rPr lang="fr-FR" dirty="0"/>
              <a:t>, </a:t>
            </a:r>
            <a:r>
              <a:rPr lang="fr-FR" dirty="0" err="1"/>
              <a:t>suppliers</a:t>
            </a:r>
            <a:r>
              <a:rPr lang="fr-FR" dirty="0"/>
              <a:t>, </a:t>
            </a:r>
            <a:r>
              <a:rPr lang="fr-FR" dirty="0" err="1"/>
              <a:t>customers</a:t>
            </a:r>
            <a:r>
              <a:rPr lang="fr-FR" dirty="0"/>
              <a:t> and </a:t>
            </a:r>
            <a:r>
              <a:rPr lang="fr-FR" dirty="0" err="1"/>
              <a:t>geographies</a:t>
            </a:r>
            <a:r>
              <a:rPr lang="fr-FR" dirty="0"/>
              <a:t> </a:t>
            </a:r>
            <a:r>
              <a:rPr lang="fr-FR" dirty="0" err="1"/>
              <a:t>maximize</a:t>
            </a:r>
            <a:r>
              <a:rPr lang="fr-FR" dirty="0"/>
              <a:t> </a:t>
            </a:r>
            <a:r>
              <a:rPr lang="fr-FR" dirty="0" err="1"/>
              <a:t>profitability</a:t>
            </a:r>
            <a:r>
              <a:rPr lang="fr-FR" dirty="0"/>
              <a:t>, and </a:t>
            </a:r>
            <a:r>
              <a:rPr lang="fr-FR" dirty="0" err="1"/>
              <a:t>identify</a:t>
            </a:r>
            <a:r>
              <a:rPr lang="fr-FR" dirty="0"/>
              <a:t> high-volume but </a:t>
            </a:r>
            <a:r>
              <a:rPr lang="fr-FR" dirty="0" err="1"/>
              <a:t>low-margin</a:t>
            </a:r>
            <a:r>
              <a:rPr lang="fr-FR" dirty="0"/>
              <a:t> segments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require</a:t>
            </a:r>
            <a:r>
              <a:rPr lang="fr-FR" dirty="0"/>
              <a:t> attention.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88329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report page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Profitability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page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drives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profitability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highlight 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suppliers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geographies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resellers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value.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model.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KPI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 for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Gross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Sales[GM]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 for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GM %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Sales[GM%]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 for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Amount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Sales[Sales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Amount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 for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 Profit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LineProfit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 for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Value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Avg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Scatter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chart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X-axis: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Quantity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Y-axis: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Sales[GM%]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Bubble size: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Sales[Sales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Amount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/Legend: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StockGroupName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group).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 chart – Top 10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products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Line Profit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Axis: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StockItemName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LineProfit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 10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 Sales[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LineProfit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descending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 chart – Gross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Supplier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Axis: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SupplierID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(as the supplier key).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Sales[GM]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 by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 Sales[GM]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descending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GM % and Gross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Country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Location: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CountryName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Bubble size: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 Sales[GM]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(Gross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saturation 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tooltip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 Sales[GM%]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country.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Matrix – Product Group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profitability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StockGroupName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group).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Values:</a:t>
            </a:r>
          </a:p>
          <a:p>
            <a:pPr lvl="2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Amount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Sales[Sales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Amount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2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Gross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Sales[GM]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2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GM %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Sales[GM%]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conditional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formatting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GM %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and/or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highlight high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profitability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groups.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Smart Narrative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a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Smart Narrative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summarizing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key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profitability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drivers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on:</a:t>
            </a:r>
          </a:p>
          <a:p>
            <a:pPr lvl="2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Sales[GM]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Sales[GM%]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Sales[Sales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Amount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LineProfit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Avg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Breakdowns by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StockGroupName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SupplierID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CountryName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ResellerID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relevant.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slicers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for:</a:t>
            </a: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Country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CountryName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 Group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StockGroupName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Supplier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SupplierID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Reseller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Sales[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ResellerID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professional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executive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design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White or light gray background.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Dark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blue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revenue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(e.g.,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Amount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for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profitability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GM%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 Profit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Orange to highlight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low-margin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opportunities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(e.g.,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conditional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formatting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GM%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to highlight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underperforming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segments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(e.g.,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negative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 Profit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layout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hierarchy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KPI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the top.</a:t>
            </a:r>
          </a:p>
          <a:p>
            <a:pPr lvl="1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Scatter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bar charts in the middle for drivers.</a:t>
            </a:r>
          </a:p>
          <a:p>
            <a:pPr lvl="1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matrix for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geographic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detail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Smart Narrative at 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bottom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right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executive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16300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3DAF9-44A7-7171-485F-716350A0A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A1E27-DAB5-708B-8D15-5E7F4114C5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85905E-D8DF-8244-DC9A-2E437CB2A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7CA59-DB99-127E-8423-BA0CC7AEB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80593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4881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>
                <a:hlinkClick r:id="rId3"/>
              </a:rPr>
              <a:t>fabconeu-2025-dataagent-tutorial/</a:t>
            </a:r>
            <a:r>
              <a:rPr lang="fr-FR" dirty="0" err="1">
                <a:hlinkClick r:id="rId3"/>
              </a:rPr>
              <a:t>Lab</a:t>
            </a:r>
            <a:r>
              <a:rPr lang="fr-FR" dirty="0">
                <a:hlinkClick r:id="rId3"/>
              </a:rPr>
              <a:t> 4/</a:t>
            </a:r>
            <a:r>
              <a:rPr lang="fr-FR" dirty="0" err="1">
                <a:hlinkClick r:id="rId3"/>
              </a:rPr>
              <a:t>Fabrikam</a:t>
            </a:r>
            <a:r>
              <a:rPr lang="fr-FR" dirty="0">
                <a:hlinkClick r:id="rId3"/>
              </a:rPr>
              <a:t> </a:t>
            </a:r>
            <a:r>
              <a:rPr lang="fr-FR" dirty="0" err="1">
                <a:hlinkClick r:id="rId3"/>
              </a:rPr>
              <a:t>Company</a:t>
            </a:r>
            <a:r>
              <a:rPr lang="fr-FR" dirty="0">
                <a:hlinkClick r:id="rId3"/>
              </a:rPr>
              <a:t> Sales </a:t>
            </a:r>
            <a:r>
              <a:rPr lang="fr-FR" dirty="0" err="1">
                <a:hlinkClick r:id="rId3"/>
              </a:rPr>
              <a:t>Report.pbix</a:t>
            </a:r>
            <a:r>
              <a:rPr lang="fr-FR" dirty="0">
                <a:hlinkClick r:id="rId3"/>
              </a:rPr>
              <a:t> at main · </a:t>
            </a:r>
            <a:r>
              <a:rPr lang="fr-FR" dirty="0" err="1">
                <a:hlinkClick r:id="rId3"/>
              </a:rPr>
              <a:t>msft-shreyas</a:t>
            </a:r>
            <a:r>
              <a:rPr lang="fr-FR" dirty="0">
                <a:hlinkClick r:id="rId3"/>
              </a:rPr>
              <a:t>/fabconeu-2025-dataagent-tutorial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E4D010-5165-4276-8698-38168E1255A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662457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https://learn.microsoft.com/en-us/power-bi/create-reports/copilot-integration	</a:t>
            </a:r>
          </a:p>
        </p:txBody>
      </p:sp>
    </p:spTree>
    <p:extLst>
      <p:ext uri="{BB962C8B-B14F-4D97-AF65-F5344CB8AC3E}">
        <p14:creationId xmlns:p14="http://schemas.microsoft.com/office/powerpoint/2010/main" val="399411624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DAFF5-D124-D977-44B8-28CB6CD5B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4597BF5-2E0C-4C49-4E44-E0022CC33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DE2A8A9-FA14-1467-7EA4-B127E787C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https://learn.microsoft.com/en-us/power-bi/create-reports/copilot-integration	</a:t>
            </a:r>
          </a:p>
          <a:p>
            <a:endParaRPr lang="fr-FR" dirty="0"/>
          </a:p>
          <a:p>
            <a:pPr fontAlgn="t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Description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user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input to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prompt 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interaction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prompt. All interactions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user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user can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Power BI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either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Power BI mobile app, Power BI Desktop, or in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Power BI mobile app,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standalone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experience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app home screen on phones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chat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first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report.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key insights, and auto-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citations,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colleagues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use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prompts on iOS.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reports in Power BI apps 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Apps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questions about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reports by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in-report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For more information,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Overview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of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Copilot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in Power BI mobile apps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Power BI Desktop,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use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They can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questions,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DAX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queries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DAX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descriptions for 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Power BI Desktop,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 of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use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reports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Power BI Desktop,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upload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via Git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might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notebooks to help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manage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notebooks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though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notebooks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aren't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item of the Power BI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workload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Power BI Desktop,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reports. They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might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questions,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DAX,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support the report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process.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Power BI Desktop,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 of Power BI Pro, Premium Per User (PPU), or an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unsupported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 SKU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support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consume items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Power BI Desktop and use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as long as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 up Power BI Desktop to consume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reports in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use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reports, as long as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report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in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332921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5E78D-63F1-0FAD-A4F7-CBBC40276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59B358D-8102-ECB7-C522-F6AB0FE53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C14FF47-05CD-CD0F-2D3E-6BB032551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https://learn.microsoft.com/en-us/power-bi/create-reports/copilot-introduction#copilot-for-report-authors-build-reports-and-enhance-your-models</a:t>
            </a:r>
          </a:p>
          <a:p>
            <a:r>
              <a:rPr lang="fr-FR" dirty="0"/>
              <a:t>https://learn.microsoft.com/en-us/power-bi/create-reports/copilot-prompts-report-pages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D666BF-AC05-3759-CE27-CCCF8BBEF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E4D010-5165-4276-8698-38168E1255A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55359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https://learn.microsoft.com/en-us/power-bi/create-reports/copilot-introduction#copilot-for-report-authors-build-reports-and-enhance-your-models</a:t>
            </a:r>
          </a:p>
          <a:p>
            <a:r>
              <a:rPr lang="fr-FR" dirty="0"/>
              <a:t>https://learn.microsoft.com/en-us/power-bi/create-reports/copilot-prompts-report-pages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E4D010-5165-4276-8698-38168E1255A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8842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B8AAC-B0B1-468D-FDCF-96D3F8EA7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3C439F-EAC9-1CC6-7F77-C808F318C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D62E6-BDB7-0672-DA5D-EDB7FFF93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3E53C-6F95-47B8-48E7-51CE67CE6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13044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FAD2E-B090-EABD-1DA1-746EB5BCA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3948D-8688-F428-770B-EC939AE55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B32FC-1159-E3C8-6C59-024A8C253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599CE-AD91-44EC-C888-DB74B1BF19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4331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F9DAC-00D0-69F3-4A62-E6CFE6AC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1EA76-2CAA-35F3-D699-F981E7110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51B96-2CB8-9D3A-1DB7-AD5CAEC5C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467DD-37EA-6E81-8B7E-A8BBB8A67A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3895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52790-F18E-D057-4887-8C889CA1F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C49FD-2AE4-1E5F-F350-62A173D0D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0DEA4-8CBA-1B3F-E78C-BC76CF472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EA9A9-0A2B-D85C-F8BE-7D0E9335E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6FF32-AF5B-4774-8442-2DE6F693416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388224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9A756-67DD-DEA6-580C-A872E017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A3801-2C4A-5FEE-3DF0-D2B6652A4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FBF78-5E26-CBCB-798E-9359F6325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Ouvrir le modèle sémantique associé.</a:t>
            </a:r>
          </a:p>
          <a:p>
            <a:r>
              <a:rPr lang="fr-FR"/>
              <a:t>Passer en mode « Edition »</a:t>
            </a:r>
          </a:p>
          <a:p>
            <a:r>
              <a:rPr lang="fr-FR"/>
              <a:t>Choisir une mesure…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7CDF3-FDEC-F8CA-479E-4A60BAA16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6FF32-AF5B-4774-8442-2DE6F693416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095169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0.jpe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19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1.jpeg"/><Relationship Id="rId4" Type="http://schemas.openxmlformats.org/officeDocument/2006/relationships/image" Target="../media/image6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19.png"/><Relationship Id="rId7" Type="http://schemas.microsoft.com/office/2007/relationships/hdphoto" Target="../media/hdphoto1.wdp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EB2EF074-07F3-4B66-AD26-475FB124DBD9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15556"/>
            <a:ext cx="7886700" cy="828506"/>
          </a:xfrm>
        </p:spPr>
        <p:txBody>
          <a:bodyPr/>
          <a:lstStyle>
            <a:lvl1pPr>
              <a:defRPr b="1">
                <a:solidFill>
                  <a:srgbClr val="002060"/>
                </a:solidFill>
                <a:latin typeface="Aptos" panose="020B0004020202020204" pitchFamily="34" charset="0"/>
              </a:defRPr>
            </a:lvl1pPr>
          </a:lstStyle>
          <a:p>
            <a:r>
              <a:rPr lang="fr-FR"/>
              <a:t>Titre de la page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315D-1A6B-4A62-AE3F-D0C0DFC1C7BF}" type="datetime1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D5413C9-153C-4B3A-BB67-855BDDA572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6" y="4705351"/>
            <a:ext cx="361344" cy="371927"/>
          </a:xfrm>
          <a:prstGeom prst="rect">
            <a:avLst/>
          </a:prstGeom>
        </p:spPr>
      </p:pic>
      <p:pic>
        <p:nvPicPr>
          <p:cNvPr id="1030" name="Picture 6" descr="Microsoft Azure logo et symbole, sens, histoire, PNG, marque">
            <a:extLst>
              <a:ext uri="{FF2B5EF4-FFF2-40B4-BE49-F238E27FC236}">
                <a16:creationId xmlns:a16="http://schemas.microsoft.com/office/drawing/2014/main" id="{E6B51D14-5FF4-DDE0-80E1-7207DC9AD0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lum bright="70000" contrast="-70000"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381"/>
          <a:stretch/>
        </p:blipFill>
        <p:spPr bwMode="auto">
          <a:xfrm>
            <a:off x="5396346" y="770878"/>
            <a:ext cx="3747654" cy="3723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53F37-F36B-0B72-15BC-A29C67BB4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97280"/>
            <a:ext cx="7886700" cy="3535443"/>
          </a:xfrm>
        </p:spPr>
        <p:txBody>
          <a:bodyPr/>
          <a:lstStyle>
            <a:lvl1pPr marL="171450" indent="-171450">
              <a:lnSpc>
                <a:spcPct val="100000"/>
              </a:lnSpc>
              <a:buFontTx/>
              <a:buBlip>
                <a:blip r:embed="rId4"/>
              </a:buBlip>
              <a:defRPr>
                <a:latin typeface="Aptos" panose="020B0004020202020204" pitchFamily="34" charset="0"/>
              </a:defRPr>
            </a:lvl1pPr>
            <a:lvl2pPr marL="514350" indent="-171450">
              <a:lnSpc>
                <a:spcPct val="100000"/>
              </a:lnSpc>
              <a:buFontTx/>
              <a:buBlip>
                <a:blip r:embed="rId5"/>
              </a:buBlip>
              <a:defRPr>
                <a:latin typeface="Aptos" panose="020B0004020202020204" pitchFamily="34" charset="0"/>
              </a:defRPr>
            </a:lvl2pPr>
            <a:lvl3pPr>
              <a:lnSpc>
                <a:spcPct val="100000"/>
              </a:lnSpc>
              <a:defRPr>
                <a:latin typeface="Aptos" panose="020B0004020202020204" pitchFamily="34" charset="0"/>
              </a:defRPr>
            </a:lvl3pPr>
            <a:lvl4pPr>
              <a:lnSpc>
                <a:spcPct val="100000"/>
              </a:lnSpc>
              <a:defRPr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BA475B0-DEBC-D2B0-1283-4E4F0EF6D2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629841"/>
            <a:ext cx="7982262" cy="333375"/>
          </a:xfrm>
        </p:spPr>
        <p:txBody>
          <a:bodyPr>
            <a:normAutofit fontScale="92500"/>
          </a:bodyPr>
          <a:lstStyle>
            <a:lvl1pPr marL="0" indent="0">
              <a:buNone/>
              <a:defRPr lang="fr-FR" sz="1350" b="1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2611191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3ED5258-7685-1C52-78D7-4E596D760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FFA4A-A4EF-47E4-ADDE-032791EA1406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2620749-2132-0568-9895-4D7915EED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CFC306-E607-F44D-7EC3-893BCE156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16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de la pré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A picture containing blur, highway&#10;&#10;Description automatically generated">
            <a:extLst>
              <a:ext uri="{FF2B5EF4-FFF2-40B4-BE49-F238E27FC236}">
                <a16:creationId xmlns:a16="http://schemas.microsoft.com/office/drawing/2014/main" id="{3C341E67-3E33-73E5-8FD4-CA6576014A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" y="0"/>
            <a:ext cx="9142629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8650" y="3239395"/>
            <a:ext cx="7886700" cy="861908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fr-FR"/>
              <a:t>Titre de la présentation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8650" y="4100505"/>
            <a:ext cx="7886699" cy="666758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Sous-titre de la présentation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ABCD4-8A67-4804-80CB-2DC22B54F27C}" type="datetime1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323DE39C-8A81-4508-8EC3-8C55B05C4E7E}" type="slidenum">
              <a:rPr lang="fr-FR" smtClean="0"/>
              <a:t>‹N°›</a:t>
            </a:fld>
            <a:endParaRPr lang="fr-FR"/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C47884EB-ACAA-4C86-9A79-D982E6B3AD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99" y="105463"/>
            <a:ext cx="4000501" cy="507572"/>
          </a:xfrm>
          <a:prstGeom prst="rect">
            <a:avLst/>
          </a:prstGeom>
        </p:spPr>
      </p:pic>
      <p:pic>
        <p:nvPicPr>
          <p:cNvPr id="10" name="Google Shape;226;p58">
            <a:extLst>
              <a:ext uri="{FF2B5EF4-FFF2-40B4-BE49-F238E27FC236}">
                <a16:creationId xmlns:a16="http://schemas.microsoft.com/office/drawing/2014/main" id="{E2D11F4C-F043-7F70-F31B-DF6125E47E20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1435391" y="1616004"/>
            <a:ext cx="2715183" cy="710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Straight Connector 5">
            <a:extLst>
              <a:ext uri="{FF2B5EF4-FFF2-40B4-BE49-F238E27FC236}">
                <a16:creationId xmlns:a16="http://schemas.microsoft.com/office/drawing/2014/main" id="{46074EAA-CC5D-BA5B-867D-07D599947CFB}"/>
              </a:ext>
            </a:extLst>
          </p:cNvPr>
          <p:cNvCxnSpPr>
            <a:cxnSpLocks/>
          </p:cNvCxnSpPr>
          <p:nvPr userDrawn="1"/>
        </p:nvCxnSpPr>
        <p:spPr>
          <a:xfrm>
            <a:off x="4576721" y="1472462"/>
            <a:ext cx="0" cy="88224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223;p58">
            <a:extLst>
              <a:ext uri="{FF2B5EF4-FFF2-40B4-BE49-F238E27FC236}">
                <a16:creationId xmlns:a16="http://schemas.microsoft.com/office/drawing/2014/main" id="{5B260C53-FC2B-0B6F-67E0-48361A84B1B9}"/>
              </a:ext>
            </a:extLst>
          </p:cNvPr>
          <p:cNvSpPr txBox="1"/>
          <p:nvPr userDrawn="1"/>
        </p:nvSpPr>
        <p:spPr>
          <a:xfrm>
            <a:off x="4759216" y="1616004"/>
            <a:ext cx="3690571" cy="80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23F"/>
              </a:buClr>
              <a:buSzPts val="4400"/>
              <a:buFont typeface="Arial"/>
              <a:buNone/>
              <a:tabLst/>
              <a:defRPr/>
            </a:pPr>
            <a:endParaRPr kumimoji="0" lang="fr-FR" sz="2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702040204020203" pitchFamily="34" charset="0"/>
              <a:ea typeface="Quattrocento Sans"/>
              <a:cs typeface="Segoe UI Semibold" panose="020B0702040204020203" pitchFamily="34" charset="0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2324249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E4D1A01-8980-4297-9C19-C7DBDEA92431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E33C521-75DA-4E82-A5C4-C6DF866380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812" t="26141"/>
          <a:stretch/>
        </p:blipFill>
        <p:spPr>
          <a:xfrm>
            <a:off x="0" y="0"/>
            <a:ext cx="7239000" cy="5143500"/>
          </a:xfrm>
          <a:prstGeom prst="rect">
            <a:avLst/>
          </a:prstGeom>
        </p:spPr>
      </p:pic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EB2EF074-07F3-4B66-AD26-475FB124DBD9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315D-1A6B-4A62-AE3F-D0C0DFC1C7BF}" type="datetime1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B257025-C419-4062-AD73-17B1168C781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1" y="1329400"/>
            <a:ext cx="3943350" cy="3043468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600075" indent="-2571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C8804A4-FDCD-42C3-9CEC-D869EECDA2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6" y="4705351"/>
            <a:ext cx="361344" cy="371927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CC6AB17-9DCF-45D3-B3CB-6ABDDD51199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592782" y="1329401"/>
            <a:ext cx="857250" cy="3043467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3"/>
                </a:solidFill>
                <a:latin typeface="+mj-lt"/>
              </a:defRPr>
            </a:lvl1pPr>
            <a:lvl2pPr marL="600075" indent="-2571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p. 24</a:t>
            </a: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p. 24</a:t>
            </a: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p. 24</a:t>
            </a: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p. 24</a:t>
            </a: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p. 24</a:t>
            </a: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p. 24</a:t>
            </a: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p. 24</a:t>
            </a: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p. 24</a:t>
            </a: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p. 24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95D5BB5-C3A3-41D1-BBD6-49FB1A4E2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556"/>
            <a:ext cx="7886700" cy="828506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fr-FR"/>
              <a:t>Sommaire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065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02DC6DC-D9F3-4099-BA90-5C7766137306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398BD450-EC8C-413C-8585-8E232EEDEFC7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F0897D-8413-4511-8CA9-73937267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D16146C4-D4FA-4735-8D3D-42A826A576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2392" y="4363766"/>
            <a:ext cx="4000501" cy="507572"/>
          </a:xfrm>
          <a:prstGeom prst="rect">
            <a:avLst/>
          </a:prstGeom>
        </p:spPr>
      </p:pic>
      <p:sp>
        <p:nvSpPr>
          <p:cNvPr id="12" name="Rectangle : avec coins arrondis en diagonale 11">
            <a:extLst>
              <a:ext uri="{FF2B5EF4-FFF2-40B4-BE49-F238E27FC236}">
                <a16:creationId xmlns:a16="http://schemas.microsoft.com/office/drawing/2014/main" id="{59C3BB5A-96C7-41E7-BF98-231B0123B32C}"/>
              </a:ext>
            </a:extLst>
          </p:cNvPr>
          <p:cNvSpPr/>
          <p:nvPr userDrawn="1"/>
        </p:nvSpPr>
        <p:spPr>
          <a:xfrm>
            <a:off x="623888" y="1500809"/>
            <a:ext cx="3021496" cy="3021496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3" name="Rectangle : avec coins arrondis en diagonale 12">
            <a:extLst>
              <a:ext uri="{FF2B5EF4-FFF2-40B4-BE49-F238E27FC236}">
                <a16:creationId xmlns:a16="http://schemas.microsoft.com/office/drawing/2014/main" id="{BBF42F35-3317-48DE-912D-C9E65FA54847}"/>
              </a:ext>
            </a:extLst>
          </p:cNvPr>
          <p:cNvSpPr/>
          <p:nvPr userDrawn="1"/>
        </p:nvSpPr>
        <p:spPr>
          <a:xfrm>
            <a:off x="3759684" y="1075910"/>
            <a:ext cx="285544" cy="285544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6" name="Rectangle : avec coins arrondis en diagonale 15">
            <a:extLst>
              <a:ext uri="{FF2B5EF4-FFF2-40B4-BE49-F238E27FC236}">
                <a16:creationId xmlns:a16="http://schemas.microsoft.com/office/drawing/2014/main" id="{FAD28F9A-C07E-46F0-B659-F0E44B34E95E}"/>
              </a:ext>
            </a:extLst>
          </p:cNvPr>
          <p:cNvSpPr/>
          <p:nvPr userDrawn="1"/>
        </p:nvSpPr>
        <p:spPr>
          <a:xfrm>
            <a:off x="932001" y="2250154"/>
            <a:ext cx="568808" cy="568808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2001" y="3011555"/>
            <a:ext cx="2387669" cy="797875"/>
          </a:xfrm>
        </p:spPr>
        <p:txBody>
          <a:bodyPr anchor="ctr">
            <a:noAutofit/>
          </a:bodyPr>
          <a:lstStyle>
            <a:lvl1pPr>
              <a:defRPr sz="2100"/>
            </a:lvl1pPr>
          </a:lstStyle>
          <a:p>
            <a:r>
              <a:rPr lang="fr-FR"/>
              <a:t>Titre de section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32001" y="2377962"/>
            <a:ext cx="568808" cy="387577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N°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1B120236-023C-403F-8477-5A9360CD02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43736"/>
          <a:stretch/>
        </p:blipFill>
        <p:spPr>
          <a:xfrm>
            <a:off x="4160771" y="0"/>
            <a:ext cx="1714649" cy="96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57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4A3C453-DCE2-4F3F-9EF3-92B8BC64FB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1" r="14872"/>
          <a:stretch/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398BD450-EC8C-413C-8585-8E232EEDEFC7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F0897D-8413-4511-8CA9-73937267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Rectangle : avec coins arrondis en diagonale 11">
            <a:extLst>
              <a:ext uri="{FF2B5EF4-FFF2-40B4-BE49-F238E27FC236}">
                <a16:creationId xmlns:a16="http://schemas.microsoft.com/office/drawing/2014/main" id="{59C3BB5A-96C7-41E7-BF98-231B0123B32C}"/>
              </a:ext>
            </a:extLst>
          </p:cNvPr>
          <p:cNvSpPr/>
          <p:nvPr userDrawn="1"/>
        </p:nvSpPr>
        <p:spPr>
          <a:xfrm>
            <a:off x="623888" y="1500809"/>
            <a:ext cx="3021496" cy="3021496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6" name="Rectangle : avec coins arrondis en diagonale 15">
            <a:extLst>
              <a:ext uri="{FF2B5EF4-FFF2-40B4-BE49-F238E27FC236}">
                <a16:creationId xmlns:a16="http://schemas.microsoft.com/office/drawing/2014/main" id="{FAD28F9A-C07E-46F0-B659-F0E44B34E95E}"/>
              </a:ext>
            </a:extLst>
          </p:cNvPr>
          <p:cNvSpPr/>
          <p:nvPr userDrawn="1"/>
        </p:nvSpPr>
        <p:spPr>
          <a:xfrm>
            <a:off x="932001" y="2250154"/>
            <a:ext cx="568808" cy="568808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2001" y="3011555"/>
            <a:ext cx="2387669" cy="797875"/>
          </a:xfrm>
        </p:spPr>
        <p:txBody>
          <a:bodyPr anchor="ctr">
            <a:noAutofit/>
          </a:bodyPr>
          <a:lstStyle>
            <a:lvl1pPr>
              <a:defRPr sz="2100"/>
            </a:lvl1pPr>
          </a:lstStyle>
          <a:p>
            <a:r>
              <a:rPr lang="fr-FR"/>
              <a:t>Titre de section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32001" y="2377962"/>
            <a:ext cx="568808" cy="387577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N°</a:t>
            </a:r>
          </a:p>
        </p:txBody>
      </p:sp>
    </p:spTree>
    <p:extLst>
      <p:ext uri="{BB962C8B-B14F-4D97-AF65-F5344CB8AC3E}">
        <p14:creationId xmlns:p14="http://schemas.microsoft.com/office/powerpoint/2010/main" val="1920208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BA3B8B4B-30A4-427E-8EE8-33519EBD91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"/>
          <a:stretch/>
        </p:blipFill>
        <p:spPr>
          <a:xfrm>
            <a:off x="0" y="-568"/>
            <a:ext cx="9144000" cy="5144068"/>
          </a:xfrm>
          <a:prstGeom prst="rect">
            <a:avLst/>
          </a:prstGeom>
        </p:spPr>
      </p:pic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398BD450-EC8C-413C-8585-8E232EEDEFC7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F0897D-8413-4511-8CA9-73937267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Rectangle : avec coins arrondis en diagonale 11">
            <a:extLst>
              <a:ext uri="{FF2B5EF4-FFF2-40B4-BE49-F238E27FC236}">
                <a16:creationId xmlns:a16="http://schemas.microsoft.com/office/drawing/2014/main" id="{59C3BB5A-96C7-41E7-BF98-231B0123B32C}"/>
              </a:ext>
            </a:extLst>
          </p:cNvPr>
          <p:cNvSpPr/>
          <p:nvPr userDrawn="1"/>
        </p:nvSpPr>
        <p:spPr>
          <a:xfrm>
            <a:off x="623888" y="1500809"/>
            <a:ext cx="3021496" cy="3021496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6" name="Rectangle : avec coins arrondis en diagonale 15">
            <a:extLst>
              <a:ext uri="{FF2B5EF4-FFF2-40B4-BE49-F238E27FC236}">
                <a16:creationId xmlns:a16="http://schemas.microsoft.com/office/drawing/2014/main" id="{FAD28F9A-C07E-46F0-B659-F0E44B34E95E}"/>
              </a:ext>
            </a:extLst>
          </p:cNvPr>
          <p:cNvSpPr/>
          <p:nvPr userDrawn="1"/>
        </p:nvSpPr>
        <p:spPr>
          <a:xfrm>
            <a:off x="932001" y="2250154"/>
            <a:ext cx="568808" cy="568808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2001" y="3011555"/>
            <a:ext cx="2387669" cy="797875"/>
          </a:xfrm>
        </p:spPr>
        <p:txBody>
          <a:bodyPr anchor="ctr">
            <a:noAutofit/>
          </a:bodyPr>
          <a:lstStyle>
            <a:lvl1pPr>
              <a:defRPr sz="2100"/>
            </a:lvl1pPr>
          </a:lstStyle>
          <a:p>
            <a:r>
              <a:rPr lang="fr-FR"/>
              <a:t>Titre de section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32001" y="2377962"/>
            <a:ext cx="568808" cy="387577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N°</a:t>
            </a:r>
          </a:p>
        </p:txBody>
      </p:sp>
    </p:spTree>
    <p:extLst>
      <p:ext uri="{BB962C8B-B14F-4D97-AF65-F5344CB8AC3E}">
        <p14:creationId xmlns:p14="http://schemas.microsoft.com/office/powerpoint/2010/main" val="305882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70DBA16-3FA7-45AC-B65C-937CD89715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9" r="10713"/>
          <a:stretch/>
        </p:blipFill>
        <p:spPr>
          <a:xfrm flipH="1">
            <a:off x="-2" y="0"/>
            <a:ext cx="9144002" cy="5143502"/>
          </a:xfrm>
          <a:prstGeom prst="rect">
            <a:avLst/>
          </a:prstGeom>
        </p:spPr>
      </p:pic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398BD450-EC8C-413C-8585-8E232EEDEFC7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F0897D-8413-4511-8CA9-73937267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Rectangle : avec coins arrondis en diagonale 11">
            <a:extLst>
              <a:ext uri="{FF2B5EF4-FFF2-40B4-BE49-F238E27FC236}">
                <a16:creationId xmlns:a16="http://schemas.microsoft.com/office/drawing/2014/main" id="{59C3BB5A-96C7-41E7-BF98-231B0123B32C}"/>
              </a:ext>
            </a:extLst>
          </p:cNvPr>
          <p:cNvSpPr/>
          <p:nvPr userDrawn="1"/>
        </p:nvSpPr>
        <p:spPr>
          <a:xfrm>
            <a:off x="623888" y="1500809"/>
            <a:ext cx="3021496" cy="3021496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6" name="Rectangle : avec coins arrondis en diagonale 15">
            <a:extLst>
              <a:ext uri="{FF2B5EF4-FFF2-40B4-BE49-F238E27FC236}">
                <a16:creationId xmlns:a16="http://schemas.microsoft.com/office/drawing/2014/main" id="{FAD28F9A-C07E-46F0-B659-F0E44B34E95E}"/>
              </a:ext>
            </a:extLst>
          </p:cNvPr>
          <p:cNvSpPr/>
          <p:nvPr userDrawn="1"/>
        </p:nvSpPr>
        <p:spPr>
          <a:xfrm>
            <a:off x="932001" y="2250154"/>
            <a:ext cx="568808" cy="568808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2001" y="3011555"/>
            <a:ext cx="2387669" cy="797875"/>
          </a:xfrm>
        </p:spPr>
        <p:txBody>
          <a:bodyPr anchor="ctr">
            <a:noAutofit/>
          </a:bodyPr>
          <a:lstStyle>
            <a:lvl1pPr>
              <a:defRPr sz="2100"/>
            </a:lvl1pPr>
          </a:lstStyle>
          <a:p>
            <a:r>
              <a:rPr lang="fr-FR"/>
              <a:t>Titre de section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32001" y="2377962"/>
            <a:ext cx="568808" cy="387577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N°</a:t>
            </a:r>
          </a:p>
        </p:txBody>
      </p:sp>
    </p:spTree>
    <p:extLst>
      <p:ext uri="{BB962C8B-B14F-4D97-AF65-F5344CB8AC3E}">
        <p14:creationId xmlns:p14="http://schemas.microsoft.com/office/powerpoint/2010/main" val="3730655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CB82FC89-3267-45E7-A1B3-71316CB625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0" t="2932" b="12898"/>
          <a:stretch/>
        </p:blipFill>
        <p:spPr>
          <a:xfrm>
            <a:off x="-41359" y="-1"/>
            <a:ext cx="9185359" cy="5143501"/>
          </a:xfrm>
          <a:prstGeom prst="rect">
            <a:avLst/>
          </a:prstGeom>
        </p:spPr>
      </p:pic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398BD450-EC8C-413C-8585-8E232EEDEFC7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F0897D-8413-4511-8CA9-73937267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Rectangle : avec coins arrondis en diagonale 11">
            <a:extLst>
              <a:ext uri="{FF2B5EF4-FFF2-40B4-BE49-F238E27FC236}">
                <a16:creationId xmlns:a16="http://schemas.microsoft.com/office/drawing/2014/main" id="{59C3BB5A-96C7-41E7-BF98-231B0123B32C}"/>
              </a:ext>
            </a:extLst>
          </p:cNvPr>
          <p:cNvSpPr/>
          <p:nvPr userDrawn="1"/>
        </p:nvSpPr>
        <p:spPr>
          <a:xfrm>
            <a:off x="623888" y="1500809"/>
            <a:ext cx="3021496" cy="3021496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6" name="Rectangle : avec coins arrondis en diagonale 15">
            <a:extLst>
              <a:ext uri="{FF2B5EF4-FFF2-40B4-BE49-F238E27FC236}">
                <a16:creationId xmlns:a16="http://schemas.microsoft.com/office/drawing/2014/main" id="{FAD28F9A-C07E-46F0-B659-F0E44B34E95E}"/>
              </a:ext>
            </a:extLst>
          </p:cNvPr>
          <p:cNvSpPr/>
          <p:nvPr userDrawn="1"/>
        </p:nvSpPr>
        <p:spPr>
          <a:xfrm>
            <a:off x="932001" y="2250154"/>
            <a:ext cx="568808" cy="568808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2001" y="3011555"/>
            <a:ext cx="2387669" cy="797875"/>
          </a:xfrm>
        </p:spPr>
        <p:txBody>
          <a:bodyPr anchor="ctr">
            <a:noAutofit/>
          </a:bodyPr>
          <a:lstStyle>
            <a:lvl1pPr>
              <a:defRPr sz="2100"/>
            </a:lvl1pPr>
          </a:lstStyle>
          <a:p>
            <a:r>
              <a:rPr lang="fr-FR"/>
              <a:t>Titre de section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32001" y="2377962"/>
            <a:ext cx="568808" cy="387577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N°</a:t>
            </a:r>
          </a:p>
        </p:txBody>
      </p:sp>
    </p:spTree>
    <p:extLst>
      <p:ext uri="{BB962C8B-B14F-4D97-AF65-F5344CB8AC3E}">
        <p14:creationId xmlns:p14="http://schemas.microsoft.com/office/powerpoint/2010/main" val="328258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-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CC49B47-A628-46A7-9A02-FD6E8255CB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" t="3152" r="10970" b="23611"/>
          <a:stretch/>
        </p:blipFill>
        <p:spPr>
          <a:xfrm>
            <a:off x="-1" y="-1"/>
            <a:ext cx="9144001" cy="5143501"/>
          </a:xfrm>
          <a:prstGeom prst="rect">
            <a:avLst/>
          </a:prstGeom>
        </p:spPr>
      </p:pic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398BD450-EC8C-413C-8585-8E232EEDEFC7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F0897D-8413-4511-8CA9-73937267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Rectangle : avec coins arrondis en diagonale 11">
            <a:extLst>
              <a:ext uri="{FF2B5EF4-FFF2-40B4-BE49-F238E27FC236}">
                <a16:creationId xmlns:a16="http://schemas.microsoft.com/office/drawing/2014/main" id="{59C3BB5A-96C7-41E7-BF98-231B0123B32C}"/>
              </a:ext>
            </a:extLst>
          </p:cNvPr>
          <p:cNvSpPr/>
          <p:nvPr userDrawn="1"/>
        </p:nvSpPr>
        <p:spPr>
          <a:xfrm>
            <a:off x="623888" y="1500809"/>
            <a:ext cx="3021496" cy="3021496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6" name="Rectangle : avec coins arrondis en diagonale 15">
            <a:extLst>
              <a:ext uri="{FF2B5EF4-FFF2-40B4-BE49-F238E27FC236}">
                <a16:creationId xmlns:a16="http://schemas.microsoft.com/office/drawing/2014/main" id="{FAD28F9A-C07E-46F0-B659-F0E44B34E95E}"/>
              </a:ext>
            </a:extLst>
          </p:cNvPr>
          <p:cNvSpPr/>
          <p:nvPr userDrawn="1"/>
        </p:nvSpPr>
        <p:spPr>
          <a:xfrm>
            <a:off x="932001" y="2250154"/>
            <a:ext cx="568808" cy="568808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2001" y="3011555"/>
            <a:ext cx="2387669" cy="797875"/>
          </a:xfrm>
        </p:spPr>
        <p:txBody>
          <a:bodyPr anchor="ctr">
            <a:noAutofit/>
          </a:bodyPr>
          <a:lstStyle>
            <a:lvl1pPr>
              <a:defRPr sz="2100"/>
            </a:lvl1pPr>
          </a:lstStyle>
          <a:p>
            <a:r>
              <a:rPr lang="fr-FR"/>
              <a:t>Titre de section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32001" y="2377962"/>
            <a:ext cx="568808" cy="387577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N°</a:t>
            </a:r>
          </a:p>
        </p:txBody>
      </p:sp>
    </p:spTree>
    <p:extLst>
      <p:ext uri="{BB962C8B-B14F-4D97-AF65-F5344CB8AC3E}">
        <p14:creationId xmlns:p14="http://schemas.microsoft.com/office/powerpoint/2010/main" val="2947878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-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A511FAF7-96E1-4B25-A83D-38D99345EF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1" t="10260" r="6650" b="12181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398BD450-EC8C-413C-8585-8E232EEDEFC7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F0897D-8413-4511-8CA9-73937267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Rectangle : avec coins arrondis en diagonale 11">
            <a:extLst>
              <a:ext uri="{FF2B5EF4-FFF2-40B4-BE49-F238E27FC236}">
                <a16:creationId xmlns:a16="http://schemas.microsoft.com/office/drawing/2014/main" id="{59C3BB5A-96C7-41E7-BF98-231B0123B32C}"/>
              </a:ext>
            </a:extLst>
          </p:cNvPr>
          <p:cNvSpPr/>
          <p:nvPr userDrawn="1"/>
        </p:nvSpPr>
        <p:spPr>
          <a:xfrm>
            <a:off x="623888" y="1500809"/>
            <a:ext cx="3021496" cy="3021496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6" name="Rectangle : avec coins arrondis en diagonale 15">
            <a:extLst>
              <a:ext uri="{FF2B5EF4-FFF2-40B4-BE49-F238E27FC236}">
                <a16:creationId xmlns:a16="http://schemas.microsoft.com/office/drawing/2014/main" id="{FAD28F9A-C07E-46F0-B659-F0E44B34E95E}"/>
              </a:ext>
            </a:extLst>
          </p:cNvPr>
          <p:cNvSpPr/>
          <p:nvPr userDrawn="1"/>
        </p:nvSpPr>
        <p:spPr>
          <a:xfrm>
            <a:off x="932001" y="2250154"/>
            <a:ext cx="568808" cy="568808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2001" y="3011555"/>
            <a:ext cx="2387669" cy="797875"/>
          </a:xfrm>
        </p:spPr>
        <p:txBody>
          <a:bodyPr anchor="ctr">
            <a:noAutofit/>
          </a:bodyPr>
          <a:lstStyle>
            <a:lvl1pPr>
              <a:defRPr sz="2100"/>
            </a:lvl1pPr>
          </a:lstStyle>
          <a:p>
            <a:r>
              <a:rPr lang="fr-FR"/>
              <a:t>Titre de section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32001" y="2377962"/>
            <a:ext cx="568808" cy="387577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N°</a:t>
            </a:r>
          </a:p>
        </p:txBody>
      </p:sp>
    </p:spTree>
    <p:extLst>
      <p:ext uri="{BB962C8B-B14F-4D97-AF65-F5344CB8AC3E}">
        <p14:creationId xmlns:p14="http://schemas.microsoft.com/office/powerpoint/2010/main" val="720779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-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71AC2D74-125C-4B1E-9C91-E7A9F74CFF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" t="17724" r="22202" b="16745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398BD450-EC8C-413C-8585-8E232EEDEFC7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F0897D-8413-4511-8CA9-73937267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Rectangle : avec coins arrondis en diagonale 11">
            <a:extLst>
              <a:ext uri="{FF2B5EF4-FFF2-40B4-BE49-F238E27FC236}">
                <a16:creationId xmlns:a16="http://schemas.microsoft.com/office/drawing/2014/main" id="{59C3BB5A-96C7-41E7-BF98-231B0123B32C}"/>
              </a:ext>
            </a:extLst>
          </p:cNvPr>
          <p:cNvSpPr/>
          <p:nvPr userDrawn="1"/>
        </p:nvSpPr>
        <p:spPr>
          <a:xfrm>
            <a:off x="623888" y="1500809"/>
            <a:ext cx="3021496" cy="3021496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6" name="Rectangle : avec coins arrondis en diagonale 15">
            <a:extLst>
              <a:ext uri="{FF2B5EF4-FFF2-40B4-BE49-F238E27FC236}">
                <a16:creationId xmlns:a16="http://schemas.microsoft.com/office/drawing/2014/main" id="{FAD28F9A-C07E-46F0-B659-F0E44B34E95E}"/>
              </a:ext>
            </a:extLst>
          </p:cNvPr>
          <p:cNvSpPr/>
          <p:nvPr userDrawn="1"/>
        </p:nvSpPr>
        <p:spPr>
          <a:xfrm>
            <a:off x="932001" y="2250154"/>
            <a:ext cx="568808" cy="568808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2001" y="3011555"/>
            <a:ext cx="2387669" cy="797875"/>
          </a:xfrm>
        </p:spPr>
        <p:txBody>
          <a:bodyPr anchor="ctr">
            <a:noAutofit/>
          </a:bodyPr>
          <a:lstStyle>
            <a:lvl1pPr>
              <a:defRPr sz="2100"/>
            </a:lvl1pPr>
          </a:lstStyle>
          <a:p>
            <a:r>
              <a:rPr lang="fr-FR"/>
              <a:t>Titre de section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32001" y="2377962"/>
            <a:ext cx="568808" cy="387577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N°</a:t>
            </a:r>
          </a:p>
        </p:txBody>
      </p:sp>
    </p:spTree>
    <p:extLst>
      <p:ext uri="{BB962C8B-B14F-4D97-AF65-F5344CB8AC3E}">
        <p14:creationId xmlns:p14="http://schemas.microsoft.com/office/powerpoint/2010/main" val="2307813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-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A642A103-57D6-4797-98FB-1B73A5A5AD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04" t="19187" b="17530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398BD450-EC8C-413C-8585-8E232EEDEFC7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F0897D-8413-4511-8CA9-73937267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Rectangle : avec coins arrondis en diagonale 11">
            <a:extLst>
              <a:ext uri="{FF2B5EF4-FFF2-40B4-BE49-F238E27FC236}">
                <a16:creationId xmlns:a16="http://schemas.microsoft.com/office/drawing/2014/main" id="{59C3BB5A-96C7-41E7-BF98-231B0123B32C}"/>
              </a:ext>
            </a:extLst>
          </p:cNvPr>
          <p:cNvSpPr/>
          <p:nvPr userDrawn="1"/>
        </p:nvSpPr>
        <p:spPr>
          <a:xfrm>
            <a:off x="623888" y="1500809"/>
            <a:ext cx="3021496" cy="3021496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6" name="Rectangle : avec coins arrondis en diagonale 15">
            <a:extLst>
              <a:ext uri="{FF2B5EF4-FFF2-40B4-BE49-F238E27FC236}">
                <a16:creationId xmlns:a16="http://schemas.microsoft.com/office/drawing/2014/main" id="{FAD28F9A-C07E-46F0-B659-F0E44B34E95E}"/>
              </a:ext>
            </a:extLst>
          </p:cNvPr>
          <p:cNvSpPr/>
          <p:nvPr userDrawn="1"/>
        </p:nvSpPr>
        <p:spPr>
          <a:xfrm>
            <a:off x="932001" y="2250154"/>
            <a:ext cx="568808" cy="568808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2001" y="3011555"/>
            <a:ext cx="2387669" cy="797875"/>
          </a:xfrm>
        </p:spPr>
        <p:txBody>
          <a:bodyPr anchor="ctr">
            <a:noAutofit/>
          </a:bodyPr>
          <a:lstStyle>
            <a:lvl1pPr>
              <a:defRPr sz="2100"/>
            </a:lvl1pPr>
          </a:lstStyle>
          <a:p>
            <a:r>
              <a:rPr lang="fr-FR"/>
              <a:t>Titre de section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32001" y="2377962"/>
            <a:ext cx="568808" cy="387577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N°</a:t>
            </a:r>
          </a:p>
        </p:txBody>
      </p:sp>
    </p:spTree>
    <p:extLst>
      <p:ext uri="{BB962C8B-B14F-4D97-AF65-F5344CB8AC3E}">
        <p14:creationId xmlns:p14="http://schemas.microsoft.com/office/powerpoint/2010/main" val="4159530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 -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62F1DFC9-82A8-4869-BB99-992D10CA30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" b="1296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398BD450-EC8C-413C-8585-8E232EEDEFC7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F0897D-8413-4511-8CA9-73937267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Rectangle : avec coins arrondis en diagonale 11">
            <a:extLst>
              <a:ext uri="{FF2B5EF4-FFF2-40B4-BE49-F238E27FC236}">
                <a16:creationId xmlns:a16="http://schemas.microsoft.com/office/drawing/2014/main" id="{59C3BB5A-96C7-41E7-BF98-231B0123B32C}"/>
              </a:ext>
            </a:extLst>
          </p:cNvPr>
          <p:cNvSpPr/>
          <p:nvPr userDrawn="1"/>
        </p:nvSpPr>
        <p:spPr>
          <a:xfrm>
            <a:off x="623888" y="1500809"/>
            <a:ext cx="3021496" cy="3021496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6" name="Rectangle : avec coins arrondis en diagonale 15">
            <a:extLst>
              <a:ext uri="{FF2B5EF4-FFF2-40B4-BE49-F238E27FC236}">
                <a16:creationId xmlns:a16="http://schemas.microsoft.com/office/drawing/2014/main" id="{FAD28F9A-C07E-46F0-B659-F0E44B34E95E}"/>
              </a:ext>
            </a:extLst>
          </p:cNvPr>
          <p:cNvSpPr/>
          <p:nvPr userDrawn="1"/>
        </p:nvSpPr>
        <p:spPr>
          <a:xfrm>
            <a:off x="932001" y="2250154"/>
            <a:ext cx="568808" cy="568808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2001" y="3011555"/>
            <a:ext cx="2387669" cy="797875"/>
          </a:xfrm>
        </p:spPr>
        <p:txBody>
          <a:bodyPr anchor="ctr">
            <a:noAutofit/>
          </a:bodyPr>
          <a:lstStyle>
            <a:lvl1pPr>
              <a:defRPr sz="2100"/>
            </a:lvl1pPr>
          </a:lstStyle>
          <a:p>
            <a:r>
              <a:rPr lang="fr-FR"/>
              <a:t>Titre de section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32001" y="2377962"/>
            <a:ext cx="568808" cy="387577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N°</a:t>
            </a:r>
          </a:p>
        </p:txBody>
      </p:sp>
    </p:spTree>
    <p:extLst>
      <p:ext uri="{BB962C8B-B14F-4D97-AF65-F5344CB8AC3E}">
        <p14:creationId xmlns:p14="http://schemas.microsoft.com/office/powerpoint/2010/main" val="40590369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C5FE29B-A3D7-4FDB-A699-563DD001430C}"/>
              </a:ext>
            </a:extLst>
          </p:cNvPr>
          <p:cNvSpPr/>
          <p:nvPr userDrawn="1"/>
        </p:nvSpPr>
        <p:spPr>
          <a:xfrm>
            <a:off x="0" y="0"/>
            <a:ext cx="9144000" cy="3074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14B9ABD7-94D1-4A98-99B3-203C85F01553}"/>
              </a:ext>
            </a:extLst>
          </p:cNvPr>
          <p:cNvSpPr/>
          <p:nvPr userDrawn="1"/>
        </p:nvSpPr>
        <p:spPr>
          <a:xfrm rot="5400000">
            <a:off x="3034855" y="-961314"/>
            <a:ext cx="3074291" cy="9144002"/>
          </a:xfrm>
          <a:prstGeom prst="round2DiagRect">
            <a:avLst>
              <a:gd name="adj1" fmla="val 23958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1C7D5CD-91CA-4C55-879A-3EC12A0AF0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164" y="3025273"/>
            <a:ext cx="831672" cy="856324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C47884EB-ACAA-4C86-9A79-D982E6B3AD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99" y="105463"/>
            <a:ext cx="4000501" cy="50757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BF6C4EF-0A70-444F-BBF0-6F8B7DEA78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432858"/>
            <a:ext cx="7886700" cy="99417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367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able&#10;&#10;Description générée automatiquement">
            <a:extLst>
              <a:ext uri="{FF2B5EF4-FFF2-40B4-BE49-F238E27FC236}">
                <a16:creationId xmlns:a16="http://schemas.microsoft.com/office/drawing/2014/main" id="{1875303D-9C94-4E71-9A37-001F6C9845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E523264-687C-41A5-8A34-97D833F68C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1C7D5CD-91CA-4C55-879A-3EC12A0AF0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164" y="3025273"/>
            <a:ext cx="831672" cy="856324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BF6C4EF-0A70-444F-BBF0-6F8B7DEA78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432858"/>
            <a:ext cx="7886700" cy="99417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620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able&#10;&#10;Description générée automatiquement">
            <a:extLst>
              <a:ext uri="{FF2B5EF4-FFF2-40B4-BE49-F238E27FC236}">
                <a16:creationId xmlns:a16="http://schemas.microsoft.com/office/drawing/2014/main" id="{946D0E47-04BF-40AB-AC82-EFF9F27C41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4FA7A75-5CCF-4C33-91B2-3AFDC1BB1C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2" descr="Une image contenant table&#10;&#10;Description générée automatiquement">
            <a:extLst>
              <a:ext uri="{FF2B5EF4-FFF2-40B4-BE49-F238E27FC236}">
                <a16:creationId xmlns:a16="http://schemas.microsoft.com/office/drawing/2014/main" id="{1875303D-9C94-4E71-9A37-001F6C9845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1C7D5CD-91CA-4C55-879A-3EC12A0AF0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164" y="3025273"/>
            <a:ext cx="831672" cy="856324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BF6C4EF-0A70-444F-BBF0-6F8B7DEA78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432858"/>
            <a:ext cx="7886700" cy="99417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07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acts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EB2EF074-07F3-4B66-AD26-475FB124DBD9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315D-1A6B-4A62-AE3F-D0C0DFC1C7BF}" type="datetime1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3B05C0D-F11A-4965-97B6-80A12C6326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1688" t="16944" r="3074" b="9811"/>
          <a:stretch/>
        </p:blipFill>
        <p:spPr>
          <a:xfrm>
            <a:off x="-1" y="-10048"/>
            <a:ext cx="9144001" cy="2549571"/>
          </a:xfrm>
          <a:prstGeom prst="rect">
            <a:avLst/>
          </a:prstGeom>
        </p:spPr>
      </p:pic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D09F6D18-2595-4EC1-9B80-17B5DF57B8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28950" y="3527378"/>
            <a:ext cx="2887394" cy="252029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24" name="Espace réservé du texte 7">
            <a:extLst>
              <a:ext uri="{FF2B5EF4-FFF2-40B4-BE49-F238E27FC236}">
                <a16:creationId xmlns:a16="http://schemas.microsoft.com/office/drawing/2014/main" id="{BAA21B26-FA6C-4B3D-8595-10AB270438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29078" y="3250716"/>
            <a:ext cx="2887265" cy="25755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985867D1-FE95-4111-8DED-B87DFE389D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28949" y="3779407"/>
            <a:ext cx="2887394" cy="252029"/>
          </a:xfrm>
        </p:spPr>
        <p:txBody>
          <a:bodyPr anchor="ctr">
            <a:no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0A70E9B7-75C2-4BC2-BDBE-599C6F6DE6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0950" y="3527378"/>
            <a:ext cx="2887394" cy="252029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27" name="Espace réservé du texte 7">
            <a:extLst>
              <a:ext uri="{FF2B5EF4-FFF2-40B4-BE49-F238E27FC236}">
                <a16:creationId xmlns:a16="http://schemas.microsoft.com/office/drawing/2014/main" id="{850ABEA2-D863-4E96-A2D2-DE23254D51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1079" y="3250716"/>
            <a:ext cx="2887265" cy="25755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BC394DF7-E322-4E8B-9F72-EB76DC3A73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00950" y="3779407"/>
            <a:ext cx="2887394" cy="252029"/>
          </a:xfrm>
        </p:spPr>
        <p:txBody>
          <a:bodyPr anchor="ctr">
            <a:no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29" name="Espace réservé pour une image  28">
            <a:extLst>
              <a:ext uri="{FF2B5EF4-FFF2-40B4-BE49-F238E27FC236}">
                <a16:creationId xmlns:a16="http://schemas.microsoft.com/office/drawing/2014/main" id="{0FB520F8-7547-483A-9799-FB0265F8F65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57478" y="3041411"/>
            <a:ext cx="1223963" cy="1223963"/>
          </a:xfrm>
        </p:spPr>
        <p:txBody>
          <a:bodyPr/>
          <a:lstStyle/>
          <a:p>
            <a:endParaRPr lang="fr-FR"/>
          </a:p>
        </p:txBody>
      </p:sp>
      <p:sp>
        <p:nvSpPr>
          <p:cNvPr id="30" name="Espace réservé pour une image  28">
            <a:extLst>
              <a:ext uri="{FF2B5EF4-FFF2-40B4-BE49-F238E27FC236}">
                <a16:creationId xmlns:a16="http://schemas.microsoft.com/office/drawing/2014/main" id="{344E2336-1D71-4DED-9DDF-F5E00417F3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835431" y="3041411"/>
            <a:ext cx="1223963" cy="1223963"/>
          </a:xfrm>
        </p:spPr>
        <p:txBody>
          <a:bodyPr/>
          <a:lstStyle/>
          <a:p>
            <a:endParaRPr lang="fr-FR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A1BD2EAB-0289-44E3-B9C6-5905B7E559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6" y="4705351"/>
            <a:ext cx="361344" cy="37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44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acts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8FCD63A-1F5E-4A77-94EC-BB8A4A929C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023" t="17770" r="3307" b="9015"/>
          <a:stretch/>
        </p:blipFill>
        <p:spPr>
          <a:xfrm>
            <a:off x="-1" y="-10049"/>
            <a:ext cx="9144001" cy="2549571"/>
          </a:xfrm>
          <a:prstGeom prst="rect">
            <a:avLst/>
          </a:prstGeom>
        </p:spPr>
      </p:pic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EB2EF074-07F3-4B66-AD26-475FB124DBD9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315D-1A6B-4A62-AE3F-D0C0DFC1C7BF}" type="datetime1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D09F6D18-2595-4EC1-9B80-17B5DF57B8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28950" y="3527378"/>
            <a:ext cx="2887394" cy="252029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24" name="Espace réservé du texte 7">
            <a:extLst>
              <a:ext uri="{FF2B5EF4-FFF2-40B4-BE49-F238E27FC236}">
                <a16:creationId xmlns:a16="http://schemas.microsoft.com/office/drawing/2014/main" id="{BAA21B26-FA6C-4B3D-8595-10AB270438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29078" y="3250716"/>
            <a:ext cx="2887265" cy="25755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985867D1-FE95-4111-8DED-B87DFE389D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28949" y="3779407"/>
            <a:ext cx="2887394" cy="252029"/>
          </a:xfrm>
        </p:spPr>
        <p:txBody>
          <a:bodyPr anchor="ctr">
            <a:no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0A70E9B7-75C2-4BC2-BDBE-599C6F6DE6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0950" y="3527378"/>
            <a:ext cx="2887394" cy="252029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27" name="Espace réservé du texte 7">
            <a:extLst>
              <a:ext uri="{FF2B5EF4-FFF2-40B4-BE49-F238E27FC236}">
                <a16:creationId xmlns:a16="http://schemas.microsoft.com/office/drawing/2014/main" id="{850ABEA2-D863-4E96-A2D2-DE23254D51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1079" y="3250716"/>
            <a:ext cx="2887265" cy="25755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BC394DF7-E322-4E8B-9F72-EB76DC3A73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00950" y="3779407"/>
            <a:ext cx="2887394" cy="252029"/>
          </a:xfrm>
        </p:spPr>
        <p:txBody>
          <a:bodyPr anchor="ctr">
            <a:no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29" name="Espace réservé pour une image  28">
            <a:extLst>
              <a:ext uri="{FF2B5EF4-FFF2-40B4-BE49-F238E27FC236}">
                <a16:creationId xmlns:a16="http://schemas.microsoft.com/office/drawing/2014/main" id="{0FB520F8-7547-483A-9799-FB0265F8F65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57478" y="3041411"/>
            <a:ext cx="1223963" cy="1223963"/>
          </a:xfrm>
        </p:spPr>
        <p:txBody>
          <a:bodyPr/>
          <a:lstStyle/>
          <a:p>
            <a:endParaRPr lang="fr-FR"/>
          </a:p>
        </p:txBody>
      </p:sp>
      <p:sp>
        <p:nvSpPr>
          <p:cNvPr id="30" name="Espace réservé pour une image  28">
            <a:extLst>
              <a:ext uri="{FF2B5EF4-FFF2-40B4-BE49-F238E27FC236}">
                <a16:creationId xmlns:a16="http://schemas.microsoft.com/office/drawing/2014/main" id="{344E2336-1D71-4DED-9DDF-F5E00417F3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835431" y="3041411"/>
            <a:ext cx="1223963" cy="1223963"/>
          </a:xfrm>
        </p:spPr>
        <p:txBody>
          <a:bodyPr/>
          <a:lstStyle/>
          <a:p>
            <a:endParaRPr lang="fr-FR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A1BD2EAB-0289-44E3-B9C6-5905B7E559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6" y="4705351"/>
            <a:ext cx="361344" cy="371927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A279F9FD-62E2-46C0-9738-82AF6EB16D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97"/>
          <a:stretch/>
        </p:blipFill>
        <p:spPr>
          <a:xfrm>
            <a:off x="-1" y="-3125545"/>
            <a:ext cx="9144000" cy="2566772"/>
          </a:xfrm>
          <a:prstGeom prst="rect">
            <a:avLst/>
          </a:prstGeom>
        </p:spPr>
      </p:pic>
      <p:sp>
        <p:nvSpPr>
          <p:cNvPr id="22" name="Rectangle : avec coins arrondis en diagonale 21">
            <a:extLst>
              <a:ext uri="{FF2B5EF4-FFF2-40B4-BE49-F238E27FC236}">
                <a16:creationId xmlns:a16="http://schemas.microsoft.com/office/drawing/2014/main" id="{4B365BDA-52A2-4F63-8587-ABBBE280F041}"/>
              </a:ext>
            </a:extLst>
          </p:cNvPr>
          <p:cNvSpPr/>
          <p:nvPr userDrawn="1"/>
        </p:nvSpPr>
        <p:spPr>
          <a:xfrm>
            <a:off x="-433493" y="-3584189"/>
            <a:ext cx="9730982" cy="3143312"/>
          </a:xfrm>
          <a:prstGeom prst="round2DiagRect">
            <a:avLst>
              <a:gd name="adj1" fmla="val 30483"/>
              <a:gd name="adj2" fmla="val 0"/>
            </a:avLst>
          </a:prstGeom>
          <a:noFill/>
          <a:ln w="441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DC98DD-EC24-4B9C-9312-81609057637D}"/>
              </a:ext>
            </a:extLst>
          </p:cNvPr>
          <p:cNvSpPr/>
          <p:nvPr userDrawn="1"/>
        </p:nvSpPr>
        <p:spPr>
          <a:xfrm>
            <a:off x="8856616" y="2410097"/>
            <a:ext cx="284117" cy="161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357558AC-0558-46A2-948C-06C4A56D7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556"/>
            <a:ext cx="7886700" cy="82850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Contacts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948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re contacts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EB2EF074-07F3-4B66-AD26-475FB124DBD9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315D-1A6B-4A62-AE3F-D0C0DFC1C7BF}" type="datetime1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3B05C0D-F11A-4965-97B6-80A12C6326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1688" t="25529" r="3074" b="9812"/>
          <a:stretch/>
        </p:blipFill>
        <p:spPr>
          <a:xfrm>
            <a:off x="-1" y="-10049"/>
            <a:ext cx="9144001" cy="2250704"/>
          </a:xfrm>
          <a:prstGeom prst="rect">
            <a:avLst/>
          </a:prstGeom>
        </p:spPr>
      </p:pic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D09F6D18-2595-4EC1-9B80-17B5DF57B8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2859" y="2899261"/>
            <a:ext cx="2887394" cy="252029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24" name="Espace réservé du texte 7">
            <a:extLst>
              <a:ext uri="{FF2B5EF4-FFF2-40B4-BE49-F238E27FC236}">
                <a16:creationId xmlns:a16="http://schemas.microsoft.com/office/drawing/2014/main" id="{BAA21B26-FA6C-4B3D-8595-10AB270438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2987" y="2622598"/>
            <a:ext cx="2887265" cy="25755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985867D1-FE95-4111-8DED-B87DFE389D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2858" y="3151289"/>
            <a:ext cx="2887394" cy="252029"/>
          </a:xfrm>
        </p:spPr>
        <p:txBody>
          <a:bodyPr anchor="ctr">
            <a:no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0A70E9B7-75C2-4BC2-BDBE-599C6F6DE6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24860" y="2899261"/>
            <a:ext cx="2887394" cy="252029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27" name="Espace réservé du texte 7">
            <a:extLst>
              <a:ext uri="{FF2B5EF4-FFF2-40B4-BE49-F238E27FC236}">
                <a16:creationId xmlns:a16="http://schemas.microsoft.com/office/drawing/2014/main" id="{850ABEA2-D863-4E96-A2D2-DE23254D51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24988" y="2622598"/>
            <a:ext cx="2887265" cy="25755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BC394DF7-E322-4E8B-9F72-EB76DC3A73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4859" y="3151289"/>
            <a:ext cx="2887394" cy="252029"/>
          </a:xfrm>
        </p:spPr>
        <p:txBody>
          <a:bodyPr anchor="ctr">
            <a:no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29" name="Espace réservé pour une image  28">
            <a:extLst>
              <a:ext uri="{FF2B5EF4-FFF2-40B4-BE49-F238E27FC236}">
                <a16:creationId xmlns:a16="http://schemas.microsoft.com/office/drawing/2014/main" id="{0FB520F8-7547-483A-9799-FB0265F8F65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53806" y="2546591"/>
            <a:ext cx="957368" cy="957368"/>
          </a:xfrm>
        </p:spPr>
        <p:txBody>
          <a:bodyPr/>
          <a:lstStyle/>
          <a:p>
            <a:endParaRPr lang="fr-FR"/>
          </a:p>
        </p:txBody>
      </p:sp>
      <p:sp>
        <p:nvSpPr>
          <p:cNvPr id="30" name="Espace réservé pour une image  28">
            <a:extLst>
              <a:ext uri="{FF2B5EF4-FFF2-40B4-BE49-F238E27FC236}">
                <a16:creationId xmlns:a16="http://schemas.microsoft.com/office/drawing/2014/main" id="{344E2336-1D71-4DED-9DDF-F5E00417F3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04269" y="2546591"/>
            <a:ext cx="957368" cy="957368"/>
          </a:xfrm>
        </p:spPr>
        <p:txBody>
          <a:bodyPr/>
          <a:lstStyle/>
          <a:p>
            <a:endParaRPr lang="fr-FR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A1BD2EAB-0289-44E3-B9C6-5905B7E559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6" y="4705351"/>
            <a:ext cx="361344" cy="371927"/>
          </a:xfrm>
          <a:prstGeom prst="rect">
            <a:avLst/>
          </a:prstGeom>
        </p:spPr>
      </p:pic>
      <p:sp>
        <p:nvSpPr>
          <p:cNvPr id="33" name="Espace réservé du texte 2">
            <a:extLst>
              <a:ext uri="{FF2B5EF4-FFF2-40B4-BE49-F238E27FC236}">
                <a16:creationId xmlns:a16="http://schemas.microsoft.com/office/drawing/2014/main" id="{B1374249-1500-4F24-8711-5903A6FE0E6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2859" y="3957269"/>
            <a:ext cx="2887394" cy="252029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34" name="Espace réservé du texte 7">
            <a:extLst>
              <a:ext uri="{FF2B5EF4-FFF2-40B4-BE49-F238E27FC236}">
                <a16:creationId xmlns:a16="http://schemas.microsoft.com/office/drawing/2014/main" id="{4350BCF6-2BCF-4D5A-AF50-4FEA33B5A9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52987" y="3680607"/>
            <a:ext cx="2887265" cy="25755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35" name="Espace réservé du texte 2">
            <a:extLst>
              <a:ext uri="{FF2B5EF4-FFF2-40B4-BE49-F238E27FC236}">
                <a16:creationId xmlns:a16="http://schemas.microsoft.com/office/drawing/2014/main" id="{EC68462F-C8AC-42F8-8533-DDFF4F8112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2858" y="4209298"/>
            <a:ext cx="2887394" cy="252029"/>
          </a:xfrm>
        </p:spPr>
        <p:txBody>
          <a:bodyPr anchor="ctr">
            <a:no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36" name="Espace réservé du texte 2">
            <a:extLst>
              <a:ext uri="{FF2B5EF4-FFF2-40B4-BE49-F238E27FC236}">
                <a16:creationId xmlns:a16="http://schemas.microsoft.com/office/drawing/2014/main" id="{81447CA9-FB5B-4187-8F4D-93B41DA3A9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4860" y="3957269"/>
            <a:ext cx="2887394" cy="252029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37" name="Espace réservé du texte 7">
            <a:extLst>
              <a:ext uri="{FF2B5EF4-FFF2-40B4-BE49-F238E27FC236}">
                <a16:creationId xmlns:a16="http://schemas.microsoft.com/office/drawing/2014/main" id="{0F73E60B-42C2-4A34-ACC9-C7088B7852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24988" y="3680607"/>
            <a:ext cx="2887265" cy="25755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38" name="Espace réservé du texte 2">
            <a:extLst>
              <a:ext uri="{FF2B5EF4-FFF2-40B4-BE49-F238E27FC236}">
                <a16:creationId xmlns:a16="http://schemas.microsoft.com/office/drawing/2014/main" id="{49C3B38D-2793-42D0-BF50-D85E7583DF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24859" y="4209298"/>
            <a:ext cx="2887394" cy="252029"/>
          </a:xfrm>
        </p:spPr>
        <p:txBody>
          <a:bodyPr anchor="ctr">
            <a:no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39" name="Espace réservé pour une image  28">
            <a:extLst>
              <a:ext uri="{FF2B5EF4-FFF2-40B4-BE49-F238E27FC236}">
                <a16:creationId xmlns:a16="http://schemas.microsoft.com/office/drawing/2014/main" id="{025A7EE3-A293-4CE5-A296-6F6C0675A4D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53806" y="3604600"/>
            <a:ext cx="957368" cy="957368"/>
          </a:xfrm>
        </p:spPr>
        <p:txBody>
          <a:bodyPr/>
          <a:lstStyle/>
          <a:p>
            <a:endParaRPr lang="fr-FR"/>
          </a:p>
        </p:txBody>
      </p:sp>
      <p:sp>
        <p:nvSpPr>
          <p:cNvPr id="40" name="Espace réservé pour une image  28">
            <a:extLst>
              <a:ext uri="{FF2B5EF4-FFF2-40B4-BE49-F238E27FC236}">
                <a16:creationId xmlns:a16="http://schemas.microsoft.com/office/drawing/2014/main" id="{58B8FE86-86C1-441B-A9E1-7F56F7FE16C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04269" y="3604600"/>
            <a:ext cx="957368" cy="957368"/>
          </a:xfr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66518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re contacts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31">
            <a:extLst>
              <a:ext uri="{FF2B5EF4-FFF2-40B4-BE49-F238E27FC236}">
                <a16:creationId xmlns:a16="http://schemas.microsoft.com/office/drawing/2014/main" id="{3DFACCEE-0CE1-4E75-B770-B95542F71F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023" t="26357" r="3307" b="9015"/>
          <a:stretch/>
        </p:blipFill>
        <p:spPr>
          <a:xfrm>
            <a:off x="-1" y="0"/>
            <a:ext cx="9144001" cy="2250545"/>
          </a:xfrm>
          <a:prstGeom prst="rect">
            <a:avLst/>
          </a:prstGeom>
        </p:spPr>
      </p:pic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EB2EF074-07F3-4B66-AD26-475FB124DBD9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315D-1A6B-4A62-AE3F-D0C0DFC1C7BF}" type="datetime1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D09F6D18-2595-4EC1-9B80-17B5DF57B8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2859" y="2899261"/>
            <a:ext cx="2887394" cy="252029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24" name="Espace réservé du texte 7">
            <a:extLst>
              <a:ext uri="{FF2B5EF4-FFF2-40B4-BE49-F238E27FC236}">
                <a16:creationId xmlns:a16="http://schemas.microsoft.com/office/drawing/2014/main" id="{BAA21B26-FA6C-4B3D-8595-10AB270438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2987" y="2622598"/>
            <a:ext cx="2887265" cy="25755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985867D1-FE95-4111-8DED-B87DFE389D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2858" y="3151289"/>
            <a:ext cx="2887394" cy="252029"/>
          </a:xfrm>
        </p:spPr>
        <p:txBody>
          <a:bodyPr anchor="ctr">
            <a:no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0A70E9B7-75C2-4BC2-BDBE-599C6F6DE6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24860" y="2899261"/>
            <a:ext cx="2887394" cy="252029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27" name="Espace réservé du texte 7">
            <a:extLst>
              <a:ext uri="{FF2B5EF4-FFF2-40B4-BE49-F238E27FC236}">
                <a16:creationId xmlns:a16="http://schemas.microsoft.com/office/drawing/2014/main" id="{850ABEA2-D863-4E96-A2D2-DE23254D51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24988" y="2622598"/>
            <a:ext cx="2887265" cy="25755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BC394DF7-E322-4E8B-9F72-EB76DC3A73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4859" y="3151289"/>
            <a:ext cx="2887394" cy="252029"/>
          </a:xfrm>
        </p:spPr>
        <p:txBody>
          <a:bodyPr anchor="ctr">
            <a:no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29" name="Espace réservé pour une image  28">
            <a:extLst>
              <a:ext uri="{FF2B5EF4-FFF2-40B4-BE49-F238E27FC236}">
                <a16:creationId xmlns:a16="http://schemas.microsoft.com/office/drawing/2014/main" id="{0FB520F8-7547-483A-9799-FB0265F8F65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53806" y="2546591"/>
            <a:ext cx="957368" cy="957368"/>
          </a:xfrm>
        </p:spPr>
        <p:txBody>
          <a:bodyPr/>
          <a:lstStyle/>
          <a:p>
            <a:endParaRPr lang="fr-FR"/>
          </a:p>
        </p:txBody>
      </p:sp>
      <p:sp>
        <p:nvSpPr>
          <p:cNvPr id="30" name="Espace réservé pour une image  28">
            <a:extLst>
              <a:ext uri="{FF2B5EF4-FFF2-40B4-BE49-F238E27FC236}">
                <a16:creationId xmlns:a16="http://schemas.microsoft.com/office/drawing/2014/main" id="{344E2336-1D71-4DED-9DDF-F5E00417F3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04269" y="2546591"/>
            <a:ext cx="957368" cy="957368"/>
          </a:xfrm>
        </p:spPr>
        <p:txBody>
          <a:bodyPr/>
          <a:lstStyle/>
          <a:p>
            <a:endParaRPr lang="fr-FR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A1BD2EAB-0289-44E3-B9C6-5905B7E559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6" y="4705351"/>
            <a:ext cx="361344" cy="371927"/>
          </a:xfrm>
          <a:prstGeom prst="rect">
            <a:avLst/>
          </a:prstGeom>
        </p:spPr>
      </p:pic>
      <p:sp>
        <p:nvSpPr>
          <p:cNvPr id="33" name="Espace réservé du texte 2">
            <a:extLst>
              <a:ext uri="{FF2B5EF4-FFF2-40B4-BE49-F238E27FC236}">
                <a16:creationId xmlns:a16="http://schemas.microsoft.com/office/drawing/2014/main" id="{B1374249-1500-4F24-8711-5903A6FE0E6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2859" y="3957269"/>
            <a:ext cx="2887394" cy="252029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34" name="Espace réservé du texte 7">
            <a:extLst>
              <a:ext uri="{FF2B5EF4-FFF2-40B4-BE49-F238E27FC236}">
                <a16:creationId xmlns:a16="http://schemas.microsoft.com/office/drawing/2014/main" id="{4350BCF6-2BCF-4D5A-AF50-4FEA33B5A9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52987" y="3680607"/>
            <a:ext cx="2887265" cy="25755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35" name="Espace réservé du texte 2">
            <a:extLst>
              <a:ext uri="{FF2B5EF4-FFF2-40B4-BE49-F238E27FC236}">
                <a16:creationId xmlns:a16="http://schemas.microsoft.com/office/drawing/2014/main" id="{EC68462F-C8AC-42F8-8533-DDFF4F8112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2858" y="4209298"/>
            <a:ext cx="2887394" cy="252029"/>
          </a:xfrm>
        </p:spPr>
        <p:txBody>
          <a:bodyPr anchor="ctr">
            <a:no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36" name="Espace réservé du texte 2">
            <a:extLst>
              <a:ext uri="{FF2B5EF4-FFF2-40B4-BE49-F238E27FC236}">
                <a16:creationId xmlns:a16="http://schemas.microsoft.com/office/drawing/2014/main" id="{81447CA9-FB5B-4187-8F4D-93B41DA3A9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4860" y="3957269"/>
            <a:ext cx="2887394" cy="252029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37" name="Espace réservé du texte 7">
            <a:extLst>
              <a:ext uri="{FF2B5EF4-FFF2-40B4-BE49-F238E27FC236}">
                <a16:creationId xmlns:a16="http://schemas.microsoft.com/office/drawing/2014/main" id="{0F73E60B-42C2-4A34-ACC9-C7088B7852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24988" y="3680607"/>
            <a:ext cx="2887265" cy="25755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38" name="Espace réservé du texte 2">
            <a:extLst>
              <a:ext uri="{FF2B5EF4-FFF2-40B4-BE49-F238E27FC236}">
                <a16:creationId xmlns:a16="http://schemas.microsoft.com/office/drawing/2014/main" id="{49C3B38D-2793-42D0-BF50-D85E7583DF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24859" y="4209298"/>
            <a:ext cx="2887394" cy="252029"/>
          </a:xfrm>
        </p:spPr>
        <p:txBody>
          <a:bodyPr anchor="ctr">
            <a:no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39" name="Espace réservé pour une image  28">
            <a:extLst>
              <a:ext uri="{FF2B5EF4-FFF2-40B4-BE49-F238E27FC236}">
                <a16:creationId xmlns:a16="http://schemas.microsoft.com/office/drawing/2014/main" id="{025A7EE3-A293-4CE5-A296-6F6C0675A4D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53806" y="3604600"/>
            <a:ext cx="957368" cy="957368"/>
          </a:xfrm>
        </p:spPr>
        <p:txBody>
          <a:bodyPr/>
          <a:lstStyle/>
          <a:p>
            <a:endParaRPr lang="fr-FR"/>
          </a:p>
        </p:txBody>
      </p:sp>
      <p:sp>
        <p:nvSpPr>
          <p:cNvPr id="40" name="Espace réservé pour une image  28">
            <a:extLst>
              <a:ext uri="{FF2B5EF4-FFF2-40B4-BE49-F238E27FC236}">
                <a16:creationId xmlns:a16="http://schemas.microsoft.com/office/drawing/2014/main" id="{58B8FE86-86C1-441B-A9E1-7F56F7FE16C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04269" y="3604600"/>
            <a:ext cx="957368" cy="957368"/>
          </a:xfrm>
        </p:spPr>
        <p:txBody>
          <a:bodyPr/>
          <a:lstStyle/>
          <a:p>
            <a:endParaRPr lang="fr-FR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A644C361-9B40-44F4-904B-8A81256A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556"/>
            <a:ext cx="7886700" cy="82850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Contacts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97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A picture containing blur, highway&#10;&#10;Description automatically generated">
            <a:extLst>
              <a:ext uri="{FF2B5EF4-FFF2-40B4-BE49-F238E27FC236}">
                <a16:creationId xmlns:a16="http://schemas.microsoft.com/office/drawing/2014/main" id="{5C7287EC-0DF7-F091-D9B6-D17D75B02A76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371" y="0"/>
            <a:ext cx="9142629" cy="51435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9F77DB-28EA-41FA-80F6-1A44DFC872EC}" type="datetime1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016F367-151D-4D4E-8214-BE93B2BCED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886" y="2144737"/>
            <a:ext cx="3260228" cy="85402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1C7D5CD-91CA-4C55-879A-3EC12A0AF0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273" y="900136"/>
            <a:ext cx="1109325" cy="1142207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C47884EB-ACAA-4C86-9A79-D982E6B3AD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899" y="105463"/>
            <a:ext cx="4000501" cy="507572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225EFC25-31B7-F947-2C07-B321A4BB1D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899" y="126784"/>
            <a:ext cx="4000501" cy="50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424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 avec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A picture containing blur, highway&#10;&#10;Description automatically generated">
            <a:extLst>
              <a:ext uri="{FF2B5EF4-FFF2-40B4-BE49-F238E27FC236}">
                <a16:creationId xmlns:a16="http://schemas.microsoft.com/office/drawing/2014/main" id="{9FC2FDB0-5928-50C8-96AF-8EEC568C3C98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371" y="0"/>
            <a:ext cx="9142629" cy="51435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9F77DB-28EA-41FA-80F6-1A44DFC872EC}" type="datetime1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1C7D5CD-91CA-4C55-879A-3EC12A0AF0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520" y="3078795"/>
            <a:ext cx="785058" cy="808328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C47884EB-ACAA-4C86-9A79-D982E6B3AD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99" y="105463"/>
            <a:ext cx="4000501" cy="507572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9972A763-34AA-49EC-9F35-37365344A3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902" y="1533857"/>
            <a:ext cx="4000501" cy="99417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Merci !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70554F-1181-4E4E-A43E-47AEF948FE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6607" y="1332327"/>
            <a:ext cx="2887394" cy="252029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83CD77E-4F26-4331-BAB4-15DC1E22B2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6735" y="1055665"/>
            <a:ext cx="2887265" cy="25755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82F23BCB-97AB-4C1D-A378-BE7741039A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6078" y="2225041"/>
            <a:ext cx="2887265" cy="25755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3" name="Espace réservé du texte 7">
            <a:extLst>
              <a:ext uri="{FF2B5EF4-FFF2-40B4-BE49-F238E27FC236}">
                <a16:creationId xmlns:a16="http://schemas.microsoft.com/office/drawing/2014/main" id="{7429A49F-385C-4C59-969F-A187C3D86F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950" y="3394418"/>
            <a:ext cx="2887265" cy="25755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421E7A2D-3B5E-470D-BAE2-AC60E2FDB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clrChange>
              <a:clrFrom>
                <a:srgbClr val="01013D"/>
              </a:clrFrom>
              <a:clrTo>
                <a:srgbClr val="01013D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00" t="10051" r="48538" b="4205"/>
          <a:stretch/>
        </p:blipFill>
        <p:spPr>
          <a:xfrm>
            <a:off x="5598969" y="1072650"/>
            <a:ext cx="249701" cy="3040045"/>
          </a:xfrm>
          <a:prstGeom prst="rect">
            <a:avLst/>
          </a:prstGeom>
        </p:spPr>
      </p:pic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D62446EE-6588-4308-8CAB-561EB4B5E9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6606" y="1584355"/>
            <a:ext cx="2887394" cy="252029"/>
          </a:xfrm>
        </p:spPr>
        <p:txBody>
          <a:bodyPr anchor="ctr">
            <a:noAutofit/>
          </a:bodyPr>
          <a:lstStyle>
            <a:lvl1pPr marL="0" indent="0">
              <a:buNone/>
              <a:defRPr sz="135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B5149DF6-D8FB-4B4A-B4FA-3E8F42A309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5823" y="2495111"/>
            <a:ext cx="2887394" cy="252029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4B404841-4C37-4019-BA28-EFDFBEF2AC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5822" y="2747140"/>
            <a:ext cx="2887394" cy="252029"/>
          </a:xfrm>
        </p:spPr>
        <p:txBody>
          <a:bodyPr anchor="ctr">
            <a:noAutofit/>
          </a:bodyPr>
          <a:lstStyle>
            <a:lvl1pPr marL="0" indent="0">
              <a:buNone/>
              <a:defRPr sz="135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C576CB9F-6FF8-4073-B40A-34E2596C85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75823" y="3655772"/>
            <a:ext cx="2887394" cy="252029"/>
          </a:xfrm>
        </p:spPr>
        <p:txBody>
          <a:bodyPr anchor="ctr">
            <a:normAutofit/>
          </a:bodyPr>
          <a:lstStyle>
            <a:lvl1pPr marL="0" indent="0">
              <a:buNone/>
              <a:defRPr sz="135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F2B719FE-4211-47DE-B508-BFF6ED9BF9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75822" y="3907801"/>
            <a:ext cx="2887394" cy="252029"/>
          </a:xfrm>
        </p:spPr>
        <p:txBody>
          <a:bodyPr anchor="ctr">
            <a:noAutofit/>
          </a:bodyPr>
          <a:lstStyle>
            <a:lvl1pPr marL="0" indent="0">
              <a:buNone/>
              <a:defRPr sz="135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</p:spTree>
    <p:extLst>
      <p:ext uri="{BB962C8B-B14F-4D97-AF65-F5344CB8AC3E}">
        <p14:creationId xmlns:p14="http://schemas.microsoft.com/office/powerpoint/2010/main" val="9281094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 - 1">
  <p:cSld name="Titre seul - 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A2AA292-258A-4729-9144-C6B436FC17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8793" b="20146"/>
          <a:stretch/>
        </p:blipFill>
        <p:spPr>
          <a:xfrm>
            <a:off x="8705850" y="4705350"/>
            <a:ext cx="438150" cy="438151"/>
          </a:xfrm>
          <a:prstGeom prst="rect">
            <a:avLst/>
          </a:prstGeom>
        </p:spPr>
      </p:pic>
      <p:sp>
        <p:nvSpPr>
          <p:cNvPr id="17" name="Google Shape;17;p42"/>
          <p:cNvSpPr txBox="1">
            <a:spLocks noGrp="1"/>
          </p:cNvSpPr>
          <p:nvPr>
            <p:ph type="title"/>
          </p:nvPr>
        </p:nvSpPr>
        <p:spPr>
          <a:xfrm>
            <a:off x="628650" y="15556"/>
            <a:ext cx="7886700" cy="828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Quattrocento Sans"/>
              <a:buNone/>
              <a:defRPr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ldNum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Quattrocento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21" name="Google Shape;21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6" y="4705351"/>
            <a:ext cx="361344" cy="3719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25664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C8BB39-B02C-47A0-B9F6-7E27D7FB182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3" name="Rectangle : avec coins arrondis en diagonale 2">
            <a:extLst>
              <a:ext uri="{FF2B5EF4-FFF2-40B4-BE49-F238E27FC236}">
                <a16:creationId xmlns:a16="http://schemas.microsoft.com/office/drawing/2014/main" id="{DBF2BE83-D906-4FAC-9FDE-06ECAD7B513E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5DC1F87-4CA1-4BBA-A56C-5F8D7DA5B2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8B315D-1A6B-4A62-AE3F-D0C0DFC1C7BF}" type="datetime1">
              <a:rPr lang="fr-FR" smtClean="0"/>
              <a:pPr/>
              <a:t>04/09/2026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AF17787-38FF-4AFF-87A8-8B05C2F5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7CD565-2B81-4F10-A9AC-92D6AB21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50D7210-FAB3-46D0-B1DE-47ED72F346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6" y="4705286"/>
            <a:ext cx="361344" cy="37205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28B5858-D4E9-4630-9E3D-815D40E59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556"/>
            <a:ext cx="7886700" cy="82850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216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C8BB39-B02C-47A0-B9F6-7E27D7FB182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504173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u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blur, highway&#10;&#10;Description automatically generated">
            <a:extLst>
              <a:ext uri="{FF2B5EF4-FFF2-40B4-BE49-F238E27FC236}">
                <a16:creationId xmlns:a16="http://schemas.microsoft.com/office/drawing/2014/main" id="{A679F780-8734-4BE5-89A7-A127EF43B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42707"/>
          <a:stretch/>
        </p:blipFill>
        <p:spPr>
          <a:xfrm rot="10800000">
            <a:off x="1371" y="0"/>
            <a:ext cx="9142629" cy="5143500"/>
          </a:xfrm>
          <a:prstGeom prst="rect">
            <a:avLst/>
          </a:prstGeom>
        </p:spPr>
      </p:pic>
      <p:sp>
        <p:nvSpPr>
          <p:cNvPr id="3" name="Rectangle : avec coins arrondis en diagonale 2">
            <a:extLst>
              <a:ext uri="{FF2B5EF4-FFF2-40B4-BE49-F238E27FC236}">
                <a16:creationId xmlns:a16="http://schemas.microsoft.com/office/drawing/2014/main" id="{DBF2BE83-D906-4FAC-9FDE-06ECAD7B513E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Aptos" panose="020B0004020202020204" pitchFamily="34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5DC1F87-4CA1-4BBA-A56C-5F8D7DA5B2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2B8B315D-1A6B-4A62-AE3F-D0C0DFC1C7BF}" type="datetime1">
              <a:rPr lang="fr-FR" smtClean="0"/>
              <a:pPr/>
              <a:t>04/09/2026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AF17787-38FF-4AFF-87A8-8B05C2F5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7CD565-2B81-4F10-A9AC-92D6AB21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50D7210-FAB3-46D0-B1DE-47ED72F346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6" y="4705286"/>
            <a:ext cx="361344" cy="37205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28B5858-D4E9-4630-9E3D-815D40E59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556"/>
            <a:ext cx="7886700" cy="82850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fr-FR"/>
              <a:t>Titre de la page</a:t>
            </a:r>
            <a:endParaRPr lang="en-US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CCF1BF1-15BF-1103-10C6-9F839C63FB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629841"/>
            <a:ext cx="7982262" cy="333375"/>
          </a:xfrm>
        </p:spPr>
        <p:txBody>
          <a:bodyPr>
            <a:normAutofit fontScale="92500"/>
          </a:bodyPr>
          <a:lstStyle>
            <a:lvl1pPr marL="0" indent="0">
              <a:buNone/>
              <a:defRPr lang="fr-FR" sz="1350" b="1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r>
              <a:rPr lang="fr-FR"/>
              <a:t>Sous-titre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23B4DB-C26B-2425-0472-60AD87C2A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97280"/>
            <a:ext cx="7886700" cy="3535443"/>
          </a:xfrm>
        </p:spPr>
        <p:txBody>
          <a:bodyPr/>
          <a:lstStyle>
            <a:lvl1pPr marL="171450" indent="-171450">
              <a:lnSpc>
                <a:spcPct val="100000"/>
              </a:lnSpc>
              <a:buFontTx/>
              <a:buBlip>
                <a:blip r:embed="rId4"/>
              </a:buBlip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514350" indent="-171450">
              <a:lnSpc>
                <a:spcPct val="100000"/>
              </a:lnSpc>
              <a:buFontTx/>
              <a:buBlip>
                <a:blip r:embed="rId5"/>
              </a:buBlip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>
              <a:lnSpc>
                <a:spcPct val="100000"/>
              </a:lnSpc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>
              <a:lnSpc>
                <a:spcPct val="100000"/>
              </a:lnSpc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pic>
        <p:nvPicPr>
          <p:cNvPr id="11" name="Picture 6" descr="Microsoft Azure logo et symbole, sens, histoire, PNG, marque">
            <a:extLst>
              <a:ext uri="{FF2B5EF4-FFF2-40B4-BE49-F238E27FC236}">
                <a16:creationId xmlns:a16="http://schemas.microsoft.com/office/drawing/2014/main" id="{C639A48B-E3A1-BE68-12ED-A645527CF15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screen">
            <a:lum bright="70000" contrast="-70000"/>
            <a:alphaModFix amt="7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43381"/>
          <a:stretch/>
        </p:blipFill>
        <p:spPr bwMode="auto">
          <a:xfrm>
            <a:off x="5396346" y="770878"/>
            <a:ext cx="3747654" cy="3723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B56C589-5E22-4CCE-771E-FC5DF5160F0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lum contrast="-70000"/>
            <a:alphaModFix amt="2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40277"/>
          <a:stretch/>
        </p:blipFill>
        <p:spPr>
          <a:xfrm>
            <a:off x="1" y="770878"/>
            <a:ext cx="2223611" cy="372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543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C8BB39-B02C-47A0-B9F6-7E27D7FB182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3" name="Rectangle : avec coins arrondis en diagonale 2">
            <a:extLst>
              <a:ext uri="{FF2B5EF4-FFF2-40B4-BE49-F238E27FC236}">
                <a16:creationId xmlns:a16="http://schemas.microsoft.com/office/drawing/2014/main" id="{DBF2BE83-D906-4FAC-9FDE-06ECAD7B513E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5DC1F87-4CA1-4BBA-A56C-5F8D7DA5B2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8B315D-1A6B-4A62-AE3F-D0C0DFC1C7BF}" type="datetime1">
              <a:rPr lang="fr-FR" smtClean="0"/>
              <a:pPr/>
              <a:t>04/09/2026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AF17787-38FF-4AFF-87A8-8B05C2F5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7CD565-2B81-4F10-A9AC-92D6AB21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50D7210-FAB3-46D0-B1DE-47ED72F346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6" y="4705286"/>
            <a:ext cx="361344" cy="37205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28B5858-D4E9-4630-9E3D-815D40E59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556"/>
            <a:ext cx="7886700" cy="82850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page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CC91D36-B858-40DD-BEF2-4CB22C2A1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97280"/>
            <a:ext cx="7886700" cy="3545994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57213" indent="-214313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040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seul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EB2EF074-07F3-4B66-AD26-475FB124DBD9}"/>
              </a:ext>
            </a:extLst>
          </p:cNvPr>
          <p:cNvSpPr/>
          <p:nvPr userDrawn="1"/>
        </p:nvSpPr>
        <p:spPr>
          <a:xfrm rot="5400000">
            <a:off x="8705850" y="4705350"/>
            <a:ext cx="438150" cy="43815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15556"/>
            <a:ext cx="7886700" cy="828506"/>
          </a:xfrm>
        </p:spPr>
        <p:txBody>
          <a:bodyPr/>
          <a:lstStyle>
            <a:lvl1pPr>
              <a:defRPr b="1">
                <a:solidFill>
                  <a:srgbClr val="002060"/>
                </a:solidFill>
                <a:latin typeface="Aptos" panose="020B0004020202020204" pitchFamily="34" charset="0"/>
              </a:defRPr>
            </a:lvl1pPr>
          </a:lstStyle>
          <a:p>
            <a:r>
              <a:rPr lang="fr-FR"/>
              <a:t>Titre de la page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315D-1A6B-4A62-AE3F-D0C0DFC1C7BF}" type="datetime1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D5413C9-153C-4B3A-BB67-855BDDA572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6" y="4705351"/>
            <a:ext cx="361344" cy="371927"/>
          </a:xfrm>
          <a:prstGeom prst="rect">
            <a:avLst/>
          </a:prstGeom>
        </p:spPr>
      </p:pic>
      <p:pic>
        <p:nvPicPr>
          <p:cNvPr id="1028" name="Picture 4" descr="Logo ChatGPT PNG transparents - StickPNG">
            <a:extLst>
              <a:ext uri="{FF2B5EF4-FFF2-40B4-BE49-F238E27FC236}">
                <a16:creationId xmlns:a16="http://schemas.microsoft.com/office/drawing/2014/main" id="{C8751ACF-B203-D4CC-3735-5B090E2D53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70000" contrast="-70000"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96354" y="349330"/>
            <a:ext cx="4297940" cy="4356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icrosoft Azure logo et symbole, sens, histoire, PNG, marque">
            <a:extLst>
              <a:ext uri="{FF2B5EF4-FFF2-40B4-BE49-F238E27FC236}">
                <a16:creationId xmlns:a16="http://schemas.microsoft.com/office/drawing/2014/main" id="{E6B51D14-5FF4-DDE0-80E1-7207DC9AD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lum bright="70000" contrast="-70000"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346" y="770878"/>
            <a:ext cx="6619008" cy="3723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53F37-F36B-0B72-15BC-A29C67BB4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97280"/>
            <a:ext cx="7886700" cy="3535443"/>
          </a:xfrm>
        </p:spPr>
        <p:txBody>
          <a:bodyPr/>
          <a:lstStyle>
            <a:lvl1pPr marL="171450" indent="-171450">
              <a:lnSpc>
                <a:spcPct val="100000"/>
              </a:lnSpc>
              <a:buFontTx/>
              <a:buBlip>
                <a:blip r:embed="rId5"/>
              </a:buBlip>
              <a:defRPr>
                <a:latin typeface="Aptos" panose="020B0004020202020204" pitchFamily="34" charset="0"/>
              </a:defRPr>
            </a:lvl1pPr>
            <a:lvl2pPr marL="514350" indent="-171450">
              <a:lnSpc>
                <a:spcPct val="100000"/>
              </a:lnSpc>
              <a:buFontTx/>
              <a:buBlip>
                <a:blip r:embed="rId6"/>
              </a:buBlip>
              <a:defRPr>
                <a:latin typeface="Aptos" panose="020B0004020202020204" pitchFamily="34" charset="0"/>
              </a:defRPr>
            </a:lvl2pPr>
            <a:lvl3pPr>
              <a:lnSpc>
                <a:spcPct val="100000"/>
              </a:lnSpc>
              <a:defRPr>
                <a:latin typeface="Aptos" panose="020B0004020202020204" pitchFamily="34" charset="0"/>
              </a:defRPr>
            </a:lvl3pPr>
            <a:lvl4pPr>
              <a:lnSpc>
                <a:spcPct val="100000"/>
              </a:lnSpc>
              <a:defRPr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BA475B0-DEBC-D2B0-1283-4E4F0EF6D2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629841"/>
            <a:ext cx="7982262" cy="333375"/>
          </a:xfrm>
        </p:spPr>
        <p:txBody>
          <a:bodyPr>
            <a:normAutofit fontScale="92500"/>
          </a:bodyPr>
          <a:lstStyle>
            <a:lvl1pPr marL="0" indent="0">
              <a:buNone/>
              <a:defRPr lang="fr-FR" sz="1350" b="1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8947386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C364DA-1AE8-11F1-A1F4-21005A57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789785-15CD-94B9-E272-DCFEDBB98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0B1C0E-4577-767A-985C-D2E04862A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FFA4A-A4EF-47E4-ADDE-032791EA1406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0C2214-3BE6-82C5-2DDB-AD589273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0E46E1-9A54-8F91-634F-08C246D3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81485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3ED5258-7685-1C52-78D7-4E596D760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FFA4A-A4EF-47E4-ADDE-032791EA1406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2620749-2132-0568-9895-4D7915EED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CFC306-E607-F44D-7EC3-893BCE156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0331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3C9079-82B9-E14C-5902-D9CFDE567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453BE12-3D73-098A-A99B-41512CAE4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756AEA-3F0C-A458-0840-9579E9A18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A4E-4945-4D73-9C5B-A53E82C9C6E7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FD649F-5E56-F25D-FABD-E9F1C0522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B1F9B8-D605-184A-2284-41050AF34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80B8A-B45C-4F40-84A6-89EAC00BFA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76596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DA158D-39F4-2D1B-2283-B3F47E023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E26DE4-A1B5-33A9-3C9E-906433BB5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33557F-08F4-A626-24CE-F7BFC1288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A4E-4945-4D73-9C5B-A53E82C9C6E7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288C2B-5105-BAD8-7B00-32CBB3251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2AA98A-896B-DCED-F4C4-53D1E5AF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80B8A-B45C-4F40-84A6-89EAC00BFA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04148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CD297E-0918-D57E-AAD8-8CEC16FD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E47610-322A-9CE2-1BFE-CB04B5270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5473FF-0551-68DC-76F3-AD08765FC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A4E-4945-4D73-9C5B-A53E82C9C6E7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A1FE2D-D8C4-FB75-D141-3E465B85E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FB5DEF-222C-F340-906A-E0DF674D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80B8A-B45C-4F40-84A6-89EAC00BFA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58833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8BD83E-5392-0CF9-2FCF-3756808A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2B8F8B-DBC4-ED7C-D542-28890F175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F0443A-323A-9CE8-5663-D16AE4B93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A9721D-CB2A-A18A-54A0-78D6457F9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A4E-4945-4D73-9C5B-A53E82C9C6E7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FBA572-F387-1ED2-0D89-8AB8126F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6BE8721-6509-D260-CD94-DBA6525FF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80B8A-B45C-4F40-84A6-89EAC00BFA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15784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0474B-A78A-385D-09FB-2887059D2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04526A-838A-86DC-36CC-AD83ADE0B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8D2C31-8FAE-A3F0-0127-E1966ADE2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2D51755-CD6F-6450-7638-BE92670396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CDD54D4-968C-80AE-9E68-616875662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E76968E-9BBE-B3A1-B121-03FE312F5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A4E-4945-4D73-9C5B-A53E82C9C6E7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1E48AAB-4A90-70B9-FEDE-4542F4856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1BD91DF-4B27-DB93-4EC8-A7AB7837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80B8A-B45C-4F40-84A6-89EAC00BFA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2130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74A632-7466-4649-6D5E-26E5CFE9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F408BBB-6BB2-E58E-2E14-8769AB138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A4E-4945-4D73-9C5B-A53E82C9C6E7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2037827-0A4E-0983-559C-452C3A53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750C720-48D2-C490-B9EE-2CB6F99C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80B8A-B45C-4F40-84A6-89EAC00BFA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23240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FB6A2C0-9B34-E854-6123-B13E793E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A4E-4945-4D73-9C5B-A53E82C9C6E7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CA97BB1-2890-8949-F0BF-B15B9DF1B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D1848E-18AB-2E1F-F318-4A5C301F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80B8A-B45C-4F40-84A6-89EAC00BFA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38136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ED9A60-3610-40E3-73AF-B48721CF3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014689-684E-9915-1105-4D1531F55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35F840-70CB-D1BE-92E3-F4C07937C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8DAA12-2B99-BF09-5415-161264E7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A4E-4945-4D73-9C5B-A53E82C9C6E7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BCE4B9-97D5-AE80-2AC8-3DC7C240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3162C0-DA75-9290-3CE3-CF8E60D8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80B8A-B45C-4F40-84A6-89EAC00BFA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41064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5EA72E-92EF-C789-7B55-0C650E24A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B7FFFD7-9420-127A-7B2A-9C9DBD54AF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A10759-CCD8-4DF8-9C1E-E3BE57E37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2F467-5878-8810-98AD-A459A761F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A4E-4945-4D73-9C5B-A53E82C9C6E7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79943B-A818-3C2A-E704-E5FCD4CA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58A310-D917-8094-F07D-227E653D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80B8A-B45C-4F40-84A6-89EAC00BFA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54860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C92EEB-E6D8-3215-4885-8EFC45186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64B6D84-699F-42D8-0DFE-9EAE87683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7C8D55-BF0B-961C-8A3D-8872F4962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A4E-4945-4D73-9C5B-A53E82C9C6E7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CB1289-0801-7681-9D2B-44025B452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D012EC-4853-41E8-8C11-9A8F531EB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80B8A-B45C-4F40-84A6-89EAC00BFA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60818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0BE91C2-1359-F067-1098-120BEE416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895D824-EBB8-6635-4971-CB78B58C0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9E0CC6-216F-6E23-2361-949B07B0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A4E-4945-4D73-9C5B-A53E82C9C6E7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2AF1D0-2F5D-BF97-6D88-92E41937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36A903-FE81-7E3E-9E53-23C3FB102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80B8A-B45C-4F40-84A6-89EAC00BFA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4029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82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393FA-339C-4FA4-907B-FF47975436B3}" type="datetime1">
              <a:rPr lang="fr-FR" smtClean="0"/>
              <a:t>04/09/2026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880D31E-F10B-40F7-9219-B1CCD2124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5850" y="4767263"/>
            <a:ext cx="438150" cy="273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379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53BB2F-7A38-00CF-6C75-F13B38876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39E32B-9E30-23EB-4BBF-5A5250CED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56ECCB-3F41-6F8B-3D1D-DD4210E0E8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4FA4E-4945-4D73-9C5B-A53E82C9C6E7}" type="datetimeFigureOut">
              <a:rPr lang="fr-FR" smtClean="0"/>
              <a:t>04/09/2026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D62953-5353-12B3-C00E-026E05B27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8507D2-3995-4195-478B-67BCFEE37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80B8A-B45C-4F40-84A6-89EAC00BFA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693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power-bi/create-reports/copilot-prepare-data-ai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ustomXml" Target="../ink/ink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74.png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msft-shreyas/fabconeu-2025-dataagent-tutorial/blob/main/Lab%204/Fabrikam%20Company%20Sales%20Report.pbix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power-bi/transform-model/desktop-measure-copilot-descriptions" TargetMode="External"/><Relationship Id="rId3" Type="http://schemas.openxmlformats.org/officeDocument/2006/relationships/hyperlink" Target="https://learn.microsoft.com/en-us/power-bi/create-reports/copilot-create-reports" TargetMode="External"/><Relationship Id="rId7" Type="http://schemas.openxmlformats.org/officeDocument/2006/relationships/hyperlink" Target="https://learn.microsoft.com/en-us/dax/dax-copilot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9.xml"/><Relationship Id="rId6" Type="http://schemas.openxmlformats.org/officeDocument/2006/relationships/hyperlink" Target="https://learn.microsoft.com/en-us/power-bi/create-reports/copilot-create-narrative" TargetMode="External"/><Relationship Id="rId5" Type="http://schemas.openxmlformats.org/officeDocument/2006/relationships/hyperlink" Target="https://learn.microsoft.com/en-us/power-bi/create-reports/copilot-reports-overview#summarize-the-underlying-semantic-model" TargetMode="External"/><Relationship Id="rId10" Type="http://schemas.openxmlformats.org/officeDocument/2006/relationships/image" Target="../media/image79.png"/><Relationship Id="rId4" Type="http://schemas.openxmlformats.org/officeDocument/2006/relationships/hyperlink" Target="https://learn.microsoft.com/en-us/power-bi/create-reports/copilot-prompts-report-pages" TargetMode="External"/><Relationship Id="rId9" Type="http://schemas.openxmlformats.org/officeDocument/2006/relationships/image" Target="../media/image78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97.pn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669280" y="274320"/>
            <a:ext cx="3840480" cy="3840480"/>
          </a:xfrm>
          <a:prstGeom prst="ellipse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583680" y="1005840"/>
            <a:ext cx="2286000" cy="22860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CD4"/>
                </a:solidFill>
              </a:rPr>
              <a:t>Microsoft Fabric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Copilot pour Power BI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CD4"/>
                </a:solidFill>
              </a:rPr>
              <a:t>Formation – Consommateurs de données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C4D8"/>
                </a:solidFill>
              </a:rPr>
              <a:t>Modèle de démonstration : Fabrikam Sales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FA6"/>
                </a:solidFill>
              </a:rPr>
              <a:t>Paul PETON  |  Architecte DATA  |  Expertime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BigCircle"/>
          <p:cNvSpPr/>
          <p:nvPr/>
        </p:nvSpPr>
        <p:spPr>
          <a:xfrm>
            <a:off x="6096000" y="1600200"/>
            <a:ext cx="3048000" cy="3048000"/>
          </a:xfrm>
          <a:prstGeom prst="ellipse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mallCircle"/>
          <p:cNvSpPr/>
          <p:nvPr/>
        </p:nvSpPr>
        <p:spPr>
          <a:xfrm>
            <a:off x="7543800" y="2324100"/>
            <a:ext cx="1600200" cy="1600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6936CD3-D42E-B519-D005-0AB4BE106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FFFF"/>
                </a:solidFill>
              </a:rPr>
              <a:t>A l’image d’un humain, </a:t>
            </a:r>
            <a:r>
              <a:rPr lang="fr-FR" dirty="0" err="1">
                <a:solidFill>
                  <a:srgbClr val="FFFFFF"/>
                </a:solidFill>
              </a:rPr>
              <a:t>Copilot</a:t>
            </a:r>
            <a:r>
              <a:rPr lang="fr-FR" dirty="0">
                <a:solidFill>
                  <a:srgbClr val="FFFFFF"/>
                </a:solidFill>
              </a:rPr>
              <a:t>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4E785F-B2BE-5C5C-A213-B7D62C5B2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solidFill>
                  <a:srgbClr val="FFFFFF"/>
                </a:solidFill>
              </a:rPr>
              <a:t>… ne peut pas deviner ce que vous ne lui dîtes pas</a:t>
            </a:r>
          </a:p>
          <a:p>
            <a:endParaRPr lang="fr-FR" sz="2400" dirty="0">
              <a:solidFill>
                <a:srgbClr val="FFFFFF"/>
              </a:solidFill>
            </a:endParaRPr>
          </a:p>
          <a:p>
            <a:r>
              <a:rPr lang="fr-FR" sz="2400" dirty="0">
                <a:solidFill>
                  <a:srgbClr val="FFFFFF"/>
                </a:solidFill>
              </a:rPr>
              <a:t>… interprétera les ambiguïtés ou sous-entendus</a:t>
            </a:r>
          </a:p>
          <a:p>
            <a:endParaRPr lang="fr-FR" sz="2400" dirty="0">
              <a:solidFill>
                <a:srgbClr val="FFFFFF"/>
              </a:solidFill>
            </a:endParaRPr>
          </a:p>
          <a:p>
            <a:r>
              <a:rPr lang="fr-FR" sz="2400" dirty="0">
                <a:solidFill>
                  <a:srgbClr val="FFFFFF"/>
                </a:solidFill>
              </a:rPr>
              <a:t>… est aussi performant que la qualité des informations que vous lui fournissez</a:t>
            </a:r>
          </a:p>
          <a:p>
            <a:pPr marL="0" indent="0"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1297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67213D-8C21-9A99-63D0-3084AE0E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BigCircle"/>
          <p:cNvSpPr/>
          <p:nvPr/>
        </p:nvSpPr>
        <p:spPr>
          <a:xfrm>
            <a:off x="6096000" y="1600200"/>
            <a:ext cx="3048000" cy="3048000"/>
          </a:xfrm>
          <a:prstGeom prst="ellipse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mallCircle"/>
          <p:cNvSpPr/>
          <p:nvPr/>
        </p:nvSpPr>
        <p:spPr>
          <a:xfrm>
            <a:off x="7543800" y="2324100"/>
            <a:ext cx="1600200" cy="1600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74A13F6-6383-B257-7F19-ADD3E41E6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rgbClr val="FFFFFF"/>
                </a:solidFill>
              </a:rPr>
              <a:t>A l’inverse d’un humain, </a:t>
            </a:r>
            <a:r>
              <a:rPr lang="fr-FR" err="1">
                <a:solidFill>
                  <a:srgbClr val="FFFFFF"/>
                </a:solidFill>
              </a:rPr>
              <a:t>Copilot</a:t>
            </a:r>
            <a:r>
              <a:rPr lang="fr-FR">
                <a:solidFill>
                  <a:srgbClr val="FFFFFF"/>
                </a:solidFill>
              </a:rPr>
              <a:t>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3984FA-68BE-7A36-0B1B-E8978B7F6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solidFill>
                  <a:srgbClr val="FFFFFF"/>
                </a:solidFill>
              </a:rPr>
              <a:t>… ne profitera pas de la communication non-verbale</a:t>
            </a:r>
          </a:p>
          <a:p>
            <a:endParaRPr lang="fr-FR" sz="2400" dirty="0">
              <a:solidFill>
                <a:srgbClr val="FFFFFF"/>
              </a:solidFill>
            </a:endParaRPr>
          </a:p>
          <a:p>
            <a:r>
              <a:rPr lang="fr-FR" sz="2400" dirty="0">
                <a:solidFill>
                  <a:srgbClr val="FFFFFF"/>
                </a:solidFill>
              </a:rPr>
              <a:t>… ne vous dira pas [pour l’instant] que votre demande est incomplète</a:t>
            </a:r>
          </a:p>
          <a:p>
            <a:pPr marL="342900" lvl="1" indent="0">
              <a:buNone/>
            </a:pPr>
            <a:r>
              <a:rPr lang="fr-FR" sz="1800" dirty="0">
                <a:solidFill>
                  <a:srgbClr val="FFFFFF"/>
                </a:solidFill>
              </a:rPr>
              <a:t>même si la meilleure réponse serait « </a:t>
            </a:r>
            <a:r>
              <a:rPr lang="fr-FR" sz="1800" i="1" dirty="0">
                <a:solidFill>
                  <a:srgbClr val="FFFFFF"/>
                </a:solidFill>
              </a:rPr>
              <a:t>je n’ai pas assez d’informations</a:t>
            </a:r>
            <a:r>
              <a:rPr lang="fr-FR" sz="1800" dirty="0">
                <a:solidFill>
                  <a:srgbClr val="FFFFFF"/>
                </a:solidFill>
              </a:rPr>
              <a:t> »</a:t>
            </a:r>
          </a:p>
          <a:p>
            <a:endParaRPr lang="fr-FR" sz="2400" dirty="0">
              <a:solidFill>
                <a:srgbClr val="FFFFFF"/>
              </a:solidFill>
            </a:endParaRPr>
          </a:p>
          <a:p>
            <a:r>
              <a:rPr lang="fr-FR" sz="2400" dirty="0">
                <a:solidFill>
                  <a:srgbClr val="FFFFFF"/>
                </a:solidFill>
              </a:rPr>
              <a:t>… fera tout pour vous satisfaire</a:t>
            </a:r>
          </a:p>
          <a:p>
            <a:pPr marL="342900" lvl="1" indent="0">
              <a:buNone/>
            </a:pPr>
            <a:r>
              <a:rPr lang="fr-FR" sz="1800" dirty="0">
                <a:solidFill>
                  <a:srgbClr val="FFFFFF"/>
                </a:solidFill>
              </a:rPr>
              <a:t>c’est-à-dire vous faire consommer de nouveaux </a:t>
            </a:r>
            <a:r>
              <a:rPr lang="fr-FR" sz="1800" dirty="0" err="1">
                <a:solidFill>
                  <a:srgbClr val="FFFFFF"/>
                </a:solidFill>
              </a:rPr>
              <a:t>tokens</a:t>
            </a:r>
            <a:endParaRPr lang="fr-FR" sz="1800" dirty="0">
              <a:solidFill>
                <a:srgbClr val="FFFFFF"/>
              </a:solidFill>
            </a:endParaRPr>
          </a:p>
          <a:p>
            <a:pPr marL="342900" lvl="1" indent="0">
              <a:buNone/>
            </a:pPr>
            <a:endParaRPr lang="fr-FR" sz="1800" dirty="0">
              <a:solidFill>
                <a:srgbClr val="FFFFFF"/>
              </a:solidFill>
            </a:endParaRPr>
          </a:p>
          <a:p>
            <a:pPr marL="342900" lvl="1" indent="0">
              <a:buNone/>
            </a:pPr>
            <a:endParaRPr lang="fr-FR" sz="1800" dirty="0">
              <a:solidFill>
                <a:srgbClr val="FFFFFF"/>
              </a:solidFill>
            </a:endParaRP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60259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Agenda de la formation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64008" cy="804672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0149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F6E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Introduction à Copilot pour Power BI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47672"/>
            <a:ext cx="4206240" cy="80467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947672"/>
            <a:ext cx="64008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00253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03911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Le modèle Fabrikam – Contexte métier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935224"/>
            <a:ext cx="420624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" y="2935224"/>
            <a:ext cx="64008" cy="804672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99008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F6E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02666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Génération de rapports assistée par l'IA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922776"/>
            <a:ext cx="4206240" cy="80467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3922776"/>
            <a:ext cx="64008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01421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Q&amp;A conversationnel – Chat avec les données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20624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54880" y="960120"/>
            <a:ext cx="64008" cy="804672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92040" y="10149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F6E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10515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Résumés et insights automatiques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947672"/>
            <a:ext cx="4206240" cy="80467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54880" y="1947672"/>
            <a:ext cx="64008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92040" y="200253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203911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Création de visuels à la volée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935224"/>
            <a:ext cx="420624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754880" y="2935224"/>
            <a:ext cx="64008" cy="804672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92040" y="299008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F6E"/>
                </a:solidFill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302666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Génération DAX &amp; Agent autonome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922776"/>
            <a:ext cx="4206240" cy="80467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754880" y="3922776"/>
            <a:ext cx="64008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892040" y="39776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40680" y="401421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Sécurité, limites &amp; Bonnes pratiques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0B022-243C-3868-E9AC-6551A6CF4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B8A488-7A31-31B1-BB1A-A1EB7E72C9A3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65351F-EC00-0C8C-E181-8BA5F249DBE8}"/>
              </a:ext>
            </a:extLst>
          </p:cNvPr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Microsoft Fabric Data Agents : questions </a:t>
            </a:r>
            <a:r>
              <a:rPr lang="en-US" sz="2100" b="1" dirty="0" err="1">
                <a:solidFill>
                  <a:srgbClr val="FFFFFF"/>
                </a:solidFill>
              </a:rPr>
              <a:t>avancées</a:t>
            </a:r>
            <a:endParaRPr lang="en-US" sz="2100" dirty="0"/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12BFE613-5ED5-C335-DD22-B7CE3FEE9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144" y="868680"/>
            <a:ext cx="6209712" cy="4096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5517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EAE92-39C6-863A-5CF5-47140F9A0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29C3A8-A9DA-0712-4635-1D99C73C963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FAFC4A-E6F5-6EF1-86A8-E91C021FA0B9}"/>
              </a:ext>
            </a:extLst>
          </p:cNvPr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Microsoft Fabric Data Agents : questions </a:t>
            </a:r>
            <a:r>
              <a:rPr lang="en-US" sz="2100" b="1" dirty="0" err="1">
                <a:solidFill>
                  <a:srgbClr val="FFFFFF"/>
                </a:solidFill>
              </a:rPr>
              <a:t>avancées</a:t>
            </a:r>
            <a:endParaRPr lang="en-US" sz="21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DBC9978-1D86-56B6-0CEB-7FC56C4D9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937260"/>
            <a:ext cx="7086600" cy="40213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46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FD782-8866-6793-670F-1BB50CF09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938580-21E0-BF85-FB2F-760977777FC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439C67-49E1-F1E6-5894-D40E9DCBCC4C}"/>
              </a:ext>
            </a:extLst>
          </p:cNvPr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Microsoft Fabric Data Agents : questions </a:t>
            </a:r>
            <a:r>
              <a:rPr lang="en-US" sz="2100" b="1" dirty="0" err="1">
                <a:solidFill>
                  <a:srgbClr val="FFFFFF"/>
                </a:solidFill>
              </a:rPr>
              <a:t>avancées</a:t>
            </a:r>
            <a:endParaRPr lang="en-US" sz="21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128C4D4-F2EF-1AA4-DB56-345B46EF1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420" y="868680"/>
            <a:ext cx="6741160" cy="39174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187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2809B-B2FC-BB7A-DCF4-D215390F3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CDF590-918D-3561-76FA-54C0C5308773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F8AA1D-B72F-EBEB-0EF8-94C02A3AA3DD}"/>
              </a:ext>
            </a:extLst>
          </p:cNvPr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Microsoft Fabric Data Agents : questions </a:t>
            </a:r>
            <a:r>
              <a:rPr lang="en-US" sz="2100" b="1" dirty="0" err="1">
                <a:solidFill>
                  <a:srgbClr val="FFFFFF"/>
                </a:solidFill>
              </a:rPr>
              <a:t>avancées</a:t>
            </a:r>
            <a:endParaRPr lang="en-US" sz="21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E46433E-4CE3-E7B1-A100-FC348E675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591" y="868680"/>
            <a:ext cx="6646817" cy="40157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1505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4A29C-A148-0206-EEE8-81BC91CE8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7DB85D-45F6-946C-5CB8-DB8501717D26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F6A9CB-EBEF-FDFA-1482-24383093F78E}"/>
              </a:ext>
            </a:extLst>
          </p:cNvPr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Microsoft Fabric Data Agents : questions </a:t>
            </a:r>
            <a:r>
              <a:rPr lang="en-US" sz="2100" b="1" dirty="0" err="1">
                <a:solidFill>
                  <a:srgbClr val="FFFFFF"/>
                </a:solidFill>
              </a:rPr>
              <a:t>avancées</a:t>
            </a:r>
            <a:endParaRPr lang="en-US" sz="21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BA3B755-3594-4461-DD8A-ADFC31B59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022349"/>
            <a:ext cx="6995160" cy="37628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0081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28D56-8127-AB70-4A35-0B0FD8E9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3A731D-3FCB-A17E-5A6A-D5553FA546FA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0AAB46-3D11-2453-7311-D69213AE3FCF}"/>
              </a:ext>
            </a:extLst>
          </p:cNvPr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Agenda de la formation</a:t>
            </a:r>
            <a:endParaRPr lang="en-US" sz="21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1FD3025-0272-F884-F816-3761BAA8AA75}"/>
              </a:ext>
            </a:extLst>
          </p:cNvPr>
          <p:cNvSpPr/>
          <p:nvPr/>
        </p:nvSpPr>
        <p:spPr>
          <a:xfrm>
            <a:off x="320040" y="960120"/>
            <a:ext cx="420624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4BEE5A2-6D8F-B976-A75B-D2D3C73BFA88}"/>
              </a:ext>
            </a:extLst>
          </p:cNvPr>
          <p:cNvSpPr/>
          <p:nvPr/>
        </p:nvSpPr>
        <p:spPr>
          <a:xfrm>
            <a:off x="320040" y="960120"/>
            <a:ext cx="64008" cy="804672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09829B7-BCDA-770E-3CA0-BA8B4E00DEB6}"/>
              </a:ext>
            </a:extLst>
          </p:cNvPr>
          <p:cNvSpPr/>
          <p:nvPr/>
        </p:nvSpPr>
        <p:spPr>
          <a:xfrm>
            <a:off x="457200" y="10149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F6E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B61830F-76B6-1BAB-6579-93CBE83F95B3}"/>
              </a:ext>
            </a:extLst>
          </p:cNvPr>
          <p:cNvSpPr/>
          <p:nvPr/>
        </p:nvSpPr>
        <p:spPr>
          <a:xfrm>
            <a:off x="1005840" y="10515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Introduction à Copilot pour Power BI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A5E9661-6EC5-398F-F396-1FF37E2BD5CB}"/>
              </a:ext>
            </a:extLst>
          </p:cNvPr>
          <p:cNvSpPr/>
          <p:nvPr/>
        </p:nvSpPr>
        <p:spPr>
          <a:xfrm>
            <a:off x="320040" y="1947672"/>
            <a:ext cx="4206240" cy="80467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0BF2944-E18D-4EF9-B709-EA3087CB3B13}"/>
              </a:ext>
            </a:extLst>
          </p:cNvPr>
          <p:cNvSpPr/>
          <p:nvPr/>
        </p:nvSpPr>
        <p:spPr>
          <a:xfrm>
            <a:off x="320040" y="1947672"/>
            <a:ext cx="64008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144DD0A-DA9F-39B6-74C7-B0AFF2CE614A}"/>
              </a:ext>
            </a:extLst>
          </p:cNvPr>
          <p:cNvSpPr/>
          <p:nvPr/>
        </p:nvSpPr>
        <p:spPr>
          <a:xfrm>
            <a:off x="457200" y="200253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9EE5790-5B26-C881-603C-6147737A01ED}"/>
              </a:ext>
            </a:extLst>
          </p:cNvPr>
          <p:cNvSpPr/>
          <p:nvPr/>
        </p:nvSpPr>
        <p:spPr>
          <a:xfrm>
            <a:off x="1005840" y="203911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E293B"/>
                </a:solidFill>
              </a:rPr>
              <a:t>Q&amp;A </a:t>
            </a:r>
            <a:r>
              <a:rPr lang="en-US" sz="1300" dirty="0" err="1">
                <a:solidFill>
                  <a:srgbClr val="1E293B"/>
                </a:solidFill>
              </a:rPr>
              <a:t>conversationnel</a:t>
            </a:r>
            <a:r>
              <a:rPr lang="en-US" sz="1300" dirty="0">
                <a:solidFill>
                  <a:srgbClr val="1E293B"/>
                </a:solidFill>
              </a:rPr>
              <a:t> – Chat avec les données</a:t>
            </a: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1CC3E63-119B-3C23-E1BE-BC1FFC1EE0CA}"/>
              </a:ext>
            </a:extLst>
          </p:cNvPr>
          <p:cNvSpPr/>
          <p:nvPr/>
        </p:nvSpPr>
        <p:spPr>
          <a:xfrm>
            <a:off x="320040" y="2935224"/>
            <a:ext cx="420624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90F66AC-36D1-D333-0B80-069FC08C6192}"/>
              </a:ext>
            </a:extLst>
          </p:cNvPr>
          <p:cNvSpPr/>
          <p:nvPr/>
        </p:nvSpPr>
        <p:spPr>
          <a:xfrm>
            <a:off x="320040" y="2935224"/>
            <a:ext cx="64008" cy="804672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99D8173-8266-7FA9-8094-DE4D410529FE}"/>
              </a:ext>
            </a:extLst>
          </p:cNvPr>
          <p:cNvSpPr/>
          <p:nvPr/>
        </p:nvSpPr>
        <p:spPr>
          <a:xfrm>
            <a:off x="457200" y="299008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F6E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E6438BB-24B5-EDC8-0782-D166556E52F4}"/>
              </a:ext>
            </a:extLst>
          </p:cNvPr>
          <p:cNvSpPr/>
          <p:nvPr/>
        </p:nvSpPr>
        <p:spPr>
          <a:xfrm>
            <a:off x="1005840" y="302666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28D94EE-6035-25FF-182B-567BE36CD216}"/>
              </a:ext>
            </a:extLst>
          </p:cNvPr>
          <p:cNvSpPr/>
          <p:nvPr/>
        </p:nvSpPr>
        <p:spPr>
          <a:xfrm>
            <a:off x="320040" y="3922776"/>
            <a:ext cx="4206240" cy="80467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D5B71DA-69D2-BB6F-BBA2-63FFEAF51198}"/>
              </a:ext>
            </a:extLst>
          </p:cNvPr>
          <p:cNvSpPr/>
          <p:nvPr/>
        </p:nvSpPr>
        <p:spPr>
          <a:xfrm>
            <a:off x="320040" y="3922776"/>
            <a:ext cx="64008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4FE4CF0-0959-5366-3A1A-A3DE16C53965}"/>
              </a:ext>
            </a:extLst>
          </p:cNvPr>
          <p:cNvSpPr/>
          <p:nvPr/>
        </p:nvSpPr>
        <p:spPr>
          <a:xfrm>
            <a:off x="457200" y="39776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681D278-6A2D-1C5A-358E-57C818E53611}"/>
              </a:ext>
            </a:extLst>
          </p:cNvPr>
          <p:cNvSpPr/>
          <p:nvPr/>
        </p:nvSpPr>
        <p:spPr>
          <a:xfrm>
            <a:off x="1005840" y="401421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1E293B"/>
                </a:solidFill>
              </a:rPr>
              <a:t>Génération</a:t>
            </a:r>
            <a:r>
              <a:rPr lang="en-US" sz="1300" dirty="0">
                <a:solidFill>
                  <a:srgbClr val="1E293B"/>
                </a:solidFill>
              </a:rPr>
              <a:t> de rapports </a:t>
            </a:r>
            <a:r>
              <a:rPr lang="en-US" sz="1300" dirty="0" err="1">
                <a:solidFill>
                  <a:srgbClr val="1E293B"/>
                </a:solidFill>
              </a:rPr>
              <a:t>assistée</a:t>
            </a:r>
            <a:r>
              <a:rPr lang="en-US" sz="1300" dirty="0">
                <a:solidFill>
                  <a:srgbClr val="1E293B"/>
                </a:solidFill>
              </a:rPr>
              <a:t> par </a:t>
            </a:r>
            <a:r>
              <a:rPr lang="en-US" sz="1300" dirty="0" err="1">
                <a:solidFill>
                  <a:srgbClr val="1E293B"/>
                </a:solidFill>
              </a:rPr>
              <a:t>l'IA</a:t>
            </a:r>
            <a:endParaRPr lang="en-US" sz="13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01827F7-F9FF-3B17-2B1F-55455479CB5D}"/>
              </a:ext>
            </a:extLst>
          </p:cNvPr>
          <p:cNvSpPr/>
          <p:nvPr/>
        </p:nvSpPr>
        <p:spPr>
          <a:xfrm>
            <a:off x="4754880" y="960120"/>
            <a:ext cx="420624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7255168-BBC5-AFC8-DC51-27D9FDBC2A5D}"/>
              </a:ext>
            </a:extLst>
          </p:cNvPr>
          <p:cNvSpPr/>
          <p:nvPr/>
        </p:nvSpPr>
        <p:spPr>
          <a:xfrm>
            <a:off x="4754880" y="960120"/>
            <a:ext cx="64008" cy="804672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01D46F2-200E-76FC-0BC9-B3A6F90A74FD}"/>
              </a:ext>
            </a:extLst>
          </p:cNvPr>
          <p:cNvSpPr/>
          <p:nvPr/>
        </p:nvSpPr>
        <p:spPr>
          <a:xfrm>
            <a:off x="4892040" y="10149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F6E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8CE3CB5-4986-9A70-68BC-A67D2496A742}"/>
              </a:ext>
            </a:extLst>
          </p:cNvPr>
          <p:cNvSpPr/>
          <p:nvPr/>
        </p:nvSpPr>
        <p:spPr>
          <a:xfrm>
            <a:off x="5440680" y="10515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1E293B"/>
                </a:solidFill>
              </a:rPr>
              <a:t>Création</a:t>
            </a:r>
            <a:r>
              <a:rPr lang="en-US" sz="1300" dirty="0">
                <a:solidFill>
                  <a:srgbClr val="1E293B"/>
                </a:solidFill>
              </a:rPr>
              <a:t> de </a:t>
            </a:r>
            <a:r>
              <a:rPr lang="en-US" sz="1300" dirty="0" err="1">
                <a:solidFill>
                  <a:srgbClr val="1E293B"/>
                </a:solidFill>
              </a:rPr>
              <a:t>visuels</a:t>
            </a:r>
            <a:r>
              <a:rPr lang="en-US" sz="1300" dirty="0">
                <a:solidFill>
                  <a:srgbClr val="1E293B"/>
                </a:solidFill>
              </a:rPr>
              <a:t> à la </a:t>
            </a:r>
            <a:r>
              <a:rPr lang="en-US" sz="1300" dirty="0" err="1">
                <a:solidFill>
                  <a:srgbClr val="1E293B"/>
                </a:solidFill>
              </a:rPr>
              <a:t>volée</a:t>
            </a:r>
            <a:endParaRPr lang="en-US" sz="13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340A6C3-D2FB-3DA7-160D-B52102EC1942}"/>
              </a:ext>
            </a:extLst>
          </p:cNvPr>
          <p:cNvSpPr/>
          <p:nvPr/>
        </p:nvSpPr>
        <p:spPr>
          <a:xfrm>
            <a:off x="4754880" y="1947672"/>
            <a:ext cx="4206240" cy="80467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4C12762-17B2-9F8F-7C6F-2423BA3B53EA}"/>
              </a:ext>
            </a:extLst>
          </p:cNvPr>
          <p:cNvSpPr/>
          <p:nvPr/>
        </p:nvSpPr>
        <p:spPr>
          <a:xfrm>
            <a:off x="4754880" y="1947672"/>
            <a:ext cx="64008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16D241D-455C-AC4A-C6DC-960F5E70349E}"/>
              </a:ext>
            </a:extLst>
          </p:cNvPr>
          <p:cNvSpPr/>
          <p:nvPr/>
        </p:nvSpPr>
        <p:spPr>
          <a:xfrm>
            <a:off x="4892040" y="200253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</a:rPr>
              <a:t>06</a:t>
            </a:r>
            <a:endParaRPr lang="en-US" sz="14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F8E913C-CA1F-55BB-BDEB-68969FE187EE}"/>
              </a:ext>
            </a:extLst>
          </p:cNvPr>
          <p:cNvSpPr/>
          <p:nvPr/>
        </p:nvSpPr>
        <p:spPr>
          <a:xfrm>
            <a:off x="5440680" y="203911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E293B"/>
                </a:solidFill>
              </a:rPr>
              <a:t>Sécurité, </a:t>
            </a:r>
            <a:r>
              <a:rPr lang="en-US" sz="1300" dirty="0" err="1">
                <a:solidFill>
                  <a:srgbClr val="1E293B"/>
                </a:solidFill>
              </a:rPr>
              <a:t>limites</a:t>
            </a:r>
            <a:r>
              <a:rPr lang="en-US" sz="1300" dirty="0">
                <a:solidFill>
                  <a:srgbClr val="1E293B"/>
                </a:solidFill>
              </a:rPr>
              <a:t> &amp; Bonnes pratiques</a:t>
            </a:r>
            <a:endParaRPr lang="en-US" sz="13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91BEBB2-378C-24E7-4438-3F2ECF47BB6B}"/>
              </a:ext>
            </a:extLst>
          </p:cNvPr>
          <p:cNvSpPr/>
          <p:nvPr/>
        </p:nvSpPr>
        <p:spPr>
          <a:xfrm>
            <a:off x="4754880" y="2935224"/>
            <a:ext cx="420624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F37BF41-8368-8838-BCC5-3D48E55D041A}"/>
              </a:ext>
            </a:extLst>
          </p:cNvPr>
          <p:cNvSpPr/>
          <p:nvPr/>
        </p:nvSpPr>
        <p:spPr>
          <a:xfrm>
            <a:off x="4754880" y="2935224"/>
            <a:ext cx="64008" cy="804672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864764C-6BA0-FE9F-361D-2A71E25827FB}"/>
              </a:ext>
            </a:extLst>
          </p:cNvPr>
          <p:cNvSpPr/>
          <p:nvPr/>
        </p:nvSpPr>
        <p:spPr>
          <a:xfrm>
            <a:off x="4892040" y="299008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F6E"/>
                </a:solidFill>
              </a:rPr>
              <a:t>07</a:t>
            </a:r>
            <a:endParaRPr lang="en-US" sz="14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64D950C-D293-D9B4-EA7F-9EFF4F18F863}"/>
              </a:ext>
            </a:extLst>
          </p:cNvPr>
          <p:cNvSpPr/>
          <p:nvPr/>
        </p:nvSpPr>
        <p:spPr>
          <a:xfrm>
            <a:off x="5440680" y="302666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ANNEXE : </a:t>
            </a:r>
            <a:r>
              <a:rPr lang="en-US" sz="1300" dirty="0" err="1">
                <a:solidFill>
                  <a:srgbClr val="1E293B"/>
                </a:solidFill>
              </a:rPr>
              <a:t>bonnes</a:t>
            </a:r>
            <a:r>
              <a:rPr lang="en-US" sz="1300" dirty="0">
                <a:solidFill>
                  <a:srgbClr val="1E293B"/>
                </a:solidFill>
              </a:rPr>
              <a:t> pratiques de prompting</a:t>
            </a:r>
            <a:endParaRPr lang="en-US" sz="13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660E7F8-DC81-1A16-3242-B9CF71156722}"/>
              </a:ext>
            </a:extLst>
          </p:cNvPr>
          <p:cNvSpPr/>
          <p:nvPr/>
        </p:nvSpPr>
        <p:spPr>
          <a:xfrm>
            <a:off x="4754880" y="3922776"/>
            <a:ext cx="4206240" cy="80467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34786C9-C1C7-70C3-BF7A-117C49FEFECF}"/>
              </a:ext>
            </a:extLst>
          </p:cNvPr>
          <p:cNvSpPr/>
          <p:nvPr/>
        </p:nvSpPr>
        <p:spPr>
          <a:xfrm>
            <a:off x="4754880" y="3922776"/>
            <a:ext cx="64008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B4D8ABA-0AD6-6922-339C-4C8F73AC340F}"/>
              </a:ext>
            </a:extLst>
          </p:cNvPr>
          <p:cNvSpPr/>
          <p:nvPr/>
        </p:nvSpPr>
        <p:spPr>
          <a:xfrm>
            <a:off x="4892040" y="39776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</a:rPr>
              <a:t>08</a:t>
            </a:r>
            <a:endParaRPr lang="en-US" sz="14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E9A237C-A751-D741-4EE7-1FCD9E5DAC8B}"/>
              </a:ext>
            </a:extLst>
          </p:cNvPr>
          <p:cNvSpPr/>
          <p:nvPr/>
        </p:nvSpPr>
        <p:spPr>
          <a:xfrm>
            <a:off x="5440680" y="401421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ANNEXE : type de </a:t>
            </a:r>
            <a:r>
              <a:rPr lang="en-US" sz="1300" dirty="0" err="1">
                <a:solidFill>
                  <a:srgbClr val="1E293B"/>
                </a:solidFill>
              </a:rPr>
              <a:t>visuels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n-US" sz="1300" dirty="0" err="1">
                <a:solidFill>
                  <a:srgbClr val="1E293B"/>
                </a:solidFill>
              </a:rPr>
              <a:t>supportés</a:t>
            </a:r>
            <a:endParaRPr lang="en-US" sz="1300" dirty="0"/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C0FE4805-D1EF-074D-7D9D-C3842E016402}"/>
              </a:ext>
            </a:extLst>
          </p:cNvPr>
          <p:cNvSpPr/>
          <p:nvPr/>
        </p:nvSpPr>
        <p:spPr>
          <a:xfrm>
            <a:off x="1005840" y="304855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Résumés et insights automatiques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293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FB93C1-3439-BBB2-0D19-ECD7FE024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09B344-E053-4F70-CA12-E9CE3F802CCA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2A341F-4C44-F7DA-5C68-9E08D2D47B14}"/>
              </a:ext>
            </a:extLst>
          </p:cNvPr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00BCD4">
                    <a:alpha val="4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50A994-029E-99D8-1703-FEB06C37D3E5}"/>
              </a:ext>
            </a:extLst>
          </p:cNvPr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à Copilot pour Power BI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6D88AE-99CA-135E-B3B9-60E7C00E5031}"/>
              </a:ext>
            </a:extLst>
          </p:cNvPr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Principes,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prérequis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licences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utilisation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1351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Qu'est-ce que Copilot pour Power BI 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Un assistant IA intégré à Power BI, propulsé par Azure OpenAI (GPT-4 à </a:t>
            </a:r>
            <a:r>
              <a:rPr lang="en-US" sz="1400" dirty="0" err="1">
                <a:solidFill>
                  <a:srgbClr val="1E293B"/>
                </a:solidFill>
              </a:rPr>
              <a:t>l’origine</a:t>
            </a:r>
            <a:r>
              <a:rPr lang="en-US" sz="1400" dirty="0">
                <a:solidFill>
                  <a:srgbClr val="1E293B"/>
                </a:solidFill>
              </a:rPr>
              <a:t>), qui comprend le langage naturel et agit sur vos données.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97480" cy="333756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697480" cy="64008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💬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Langage naturel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Posez vos questions en français ou en anglais. Copilot comprend et répond avec des données réelles de votre modèle.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72968" y="1554480"/>
            <a:ext cx="2697480" cy="3337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172968" y="1554480"/>
            <a:ext cx="269748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995928" y="1783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310128" y="2651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Génération de contenu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10128" y="32004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Rapports, visuels, narrations, résumés… générés automatiquement depuis votre modèle Power BI.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25896" y="1554480"/>
            <a:ext cx="2697480" cy="333756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025896" y="1554480"/>
            <a:ext cx="2697480" cy="64008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848856" y="1783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🔍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163056" y="2651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Analyse intelligente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63056" y="32004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Détecte les tendances, anomalies et insights clés sans que vous ayez à chercher manuellement dans vos données.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Requiert une capacité Fabric F2+ ou Power BI Premium P1+ — activé par défaut, géré par l'administrateur tenant.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Prérequis et licences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20700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64008" cy="1207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75488" y="1005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⚡  Capacité Fabric / Premium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033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REQUIS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4447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F2 minimum ou Power BI Premium P1+. Pro, PPU </a:t>
            </a:r>
            <a:r>
              <a:rPr lang="en-US" sz="1100" dirty="0" err="1">
                <a:solidFill>
                  <a:srgbClr val="64748B"/>
                </a:solidFill>
              </a:rPr>
              <a:t>ou</a:t>
            </a:r>
            <a:r>
              <a:rPr lang="en-US" sz="1100" dirty="0">
                <a:solidFill>
                  <a:srgbClr val="64748B"/>
                </a:solidFill>
              </a:rPr>
              <a:t> capacité d'essai ne </a:t>
            </a:r>
            <a:r>
              <a:rPr lang="en-US" sz="1100" dirty="0" err="1">
                <a:solidFill>
                  <a:srgbClr val="64748B"/>
                </a:solidFill>
              </a:rPr>
              <a:t>suffisent</a:t>
            </a:r>
            <a:r>
              <a:rPr lang="en-US" sz="1100" dirty="0">
                <a:solidFill>
                  <a:srgbClr val="64748B"/>
                </a:solidFill>
              </a:rPr>
              <a:t> pas.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27448" y="914400"/>
            <a:ext cx="4206240" cy="120700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27448" y="914400"/>
            <a:ext cx="64008" cy="1207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82896" y="1005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🌍  Région supportée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90688" y="1033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REQUIS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82896" y="14447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La capacité Fabric doit se trouver dans une région supportée par Copilot (Europe, US…).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267712"/>
            <a:ext cx="4206240" cy="120700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64008" cy="1207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5488" y="23591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🔑  Paramètre admin activé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3865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REQUIS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279806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L'admin tenant doit activer "Users can use Copilot powered by Azure OpenAI" dans Fabric.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27448" y="2267712"/>
            <a:ext cx="4206240" cy="12070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27448" y="2267712"/>
            <a:ext cx="64008" cy="1207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82896" y="23591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📖  Accès en lecture suffit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90688" y="23865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7A7"/>
                </a:solidFill>
              </a:rPr>
              <a:t>INFO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82896" y="279806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Pour résumés et Q&amp;A, la lecture suffit. La création de visuels nécessite un accès Build.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21024"/>
            <a:ext cx="4206240" cy="120700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3621024"/>
            <a:ext cx="64008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5488" y="37124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🌐  Langue : anglais recommandé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37398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ATTENTION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" y="415137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Meilleures performances en anglais. Le français </a:t>
            </a:r>
            <a:r>
              <a:rPr lang="en-US" sz="1100" dirty="0" err="1">
                <a:solidFill>
                  <a:srgbClr val="64748B"/>
                </a:solidFill>
              </a:rPr>
              <a:t>était</a:t>
            </a:r>
            <a:r>
              <a:rPr lang="en-US" sz="1100" dirty="0">
                <a:solidFill>
                  <a:srgbClr val="64748B"/>
                </a:solidFill>
              </a:rPr>
              <a:t> partiellement supporté </a:t>
            </a:r>
            <a:r>
              <a:rPr lang="en-US" sz="1100" dirty="0" err="1">
                <a:solidFill>
                  <a:srgbClr val="64748B"/>
                </a:solidFill>
              </a:rPr>
              <a:t>en</a:t>
            </a:r>
            <a:r>
              <a:rPr lang="en-US" sz="1100" dirty="0">
                <a:solidFill>
                  <a:srgbClr val="64748B"/>
                </a:solidFill>
              </a:rPr>
              <a:t> 2025 (des mots </a:t>
            </a:r>
            <a:r>
              <a:rPr lang="en-US" sz="1100" dirty="0" err="1">
                <a:solidFill>
                  <a:srgbClr val="64748B"/>
                </a:solidFill>
              </a:rPr>
              <a:t>en</a:t>
            </a:r>
            <a:r>
              <a:rPr lang="en-US" sz="1100" dirty="0">
                <a:solidFill>
                  <a:srgbClr val="64748B"/>
                </a:solidFill>
              </a:rPr>
              <a:t> anglais </a:t>
            </a:r>
            <a:r>
              <a:rPr lang="en-US" sz="1100" dirty="0" err="1">
                <a:solidFill>
                  <a:srgbClr val="64748B"/>
                </a:solidFill>
              </a:rPr>
              <a:t>peuvent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apparaître</a:t>
            </a:r>
            <a:r>
              <a:rPr lang="en-US" sz="1100" dirty="0">
                <a:solidFill>
                  <a:srgbClr val="64748B"/>
                </a:solidFill>
              </a:rPr>
              <a:t> dans les </a:t>
            </a:r>
            <a:r>
              <a:rPr lang="en-US" sz="1100" dirty="0" err="1">
                <a:solidFill>
                  <a:srgbClr val="64748B"/>
                </a:solidFill>
              </a:rPr>
              <a:t>réponses</a:t>
            </a:r>
            <a:r>
              <a:rPr lang="en-US" sz="1100" dirty="0">
                <a:solidFill>
                  <a:srgbClr val="64748B"/>
                </a:solidFill>
              </a:rPr>
              <a:t>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27448" y="3621024"/>
            <a:ext cx="4206240" cy="120700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727448" y="3621024"/>
            <a:ext cx="64008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82896" y="37124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🔒  Données hors EU/US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90688" y="37398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ATTENTION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82896" y="415137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Paramètre supplémentaire requis si le tenant est hors zone US/Europe pour le traitement OpenAI.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93A53-AEC9-3B00-EA6B-7F89228B5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DBC0C6-FFB2-A884-CFE0-2EDACA85BB3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CB6FBA-721B-2951-FE12-F69611F7AA98}"/>
              </a:ext>
            </a:extLst>
          </p:cNvPr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Les 3 surfaces Copilot pour Power BI</a:t>
            </a:r>
            <a:endParaRPr lang="en-US" sz="21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1313A15-6670-E106-5611-FBA876067A62}"/>
              </a:ext>
            </a:extLst>
          </p:cNvPr>
          <p:cNvSpPr/>
          <p:nvPr/>
        </p:nvSpPr>
        <p:spPr>
          <a:xfrm>
            <a:off x="320040" y="960120"/>
            <a:ext cx="274320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087D3BB-CBF4-AFAD-2457-E7665C28D774}"/>
              </a:ext>
            </a:extLst>
          </p:cNvPr>
          <p:cNvSpPr/>
          <p:nvPr/>
        </p:nvSpPr>
        <p:spPr>
          <a:xfrm>
            <a:off x="320040" y="960120"/>
            <a:ext cx="2743200" cy="5486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6EFA597-B659-8C00-8814-970CF00F8A0F}"/>
              </a:ext>
            </a:extLst>
          </p:cNvPr>
          <p:cNvSpPr/>
          <p:nvPr/>
        </p:nvSpPr>
        <p:spPr>
          <a:xfrm>
            <a:off x="2240280" y="1033272"/>
            <a:ext cx="749808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FA5406A-1D27-59E1-F299-5C3B54FDD58A}"/>
              </a:ext>
            </a:extLst>
          </p:cNvPr>
          <p:cNvSpPr/>
          <p:nvPr/>
        </p:nvSpPr>
        <p:spPr>
          <a:xfrm>
            <a:off x="2240280" y="10332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GA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33F69F4-7A65-10FD-D212-67CD0180942A}"/>
              </a:ext>
            </a:extLst>
          </p:cNvPr>
          <p:cNvSpPr/>
          <p:nvPr/>
        </p:nvSpPr>
        <p:spPr>
          <a:xfrm>
            <a:off x="429768" y="10241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7C18A2B-F487-C77F-920A-0EA2CCB86E9C}"/>
              </a:ext>
            </a:extLst>
          </p:cNvPr>
          <p:cNvSpPr/>
          <p:nvPr/>
        </p:nvSpPr>
        <p:spPr>
          <a:xfrm>
            <a:off x="429768" y="1627632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Volet Copilot (Rapport)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5894987-5257-29D6-0A3B-A45C113BCBB4}"/>
              </a:ext>
            </a:extLst>
          </p:cNvPr>
          <p:cNvSpPr/>
          <p:nvPr/>
        </p:nvSpPr>
        <p:spPr>
          <a:xfrm>
            <a:off x="429768" y="21945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3F6E"/>
                </a:solidFill>
              </a:rPr>
              <a:t>Disponibilité générale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E67C313-D6B6-F27E-67C1-221E8EA6445B}"/>
              </a:ext>
            </a:extLst>
          </p:cNvPr>
          <p:cNvSpPr/>
          <p:nvPr/>
        </p:nvSpPr>
        <p:spPr>
          <a:xfrm>
            <a:off x="429768" y="2542032"/>
            <a:ext cx="25237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Panneau latéral droit d'un rapport ouvert. Limité au rapport en cours. Résumés, Q&amp;A et génération de visuels sur le modèle actif.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228AE41-5EB3-99B3-FFC6-9F838644D474}"/>
              </a:ext>
            </a:extLst>
          </p:cNvPr>
          <p:cNvSpPr/>
          <p:nvPr/>
        </p:nvSpPr>
        <p:spPr>
          <a:xfrm>
            <a:off x="365760" y="4855747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Toutes ces surfaces respectent le Row-Level Security (RLS) et les permissions de votre organisation.</a:t>
            </a:r>
            <a:endParaRPr lang="en-US" sz="1000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65D4E1A8-1AD7-AEC5-C708-13087BA39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465" y="132915"/>
            <a:ext cx="3152503" cy="4877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5774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9ABBA-AB60-F254-9EA7-AA787DBCB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>
                <a:solidFill>
                  <a:schemeClr val="tx1"/>
                </a:solidFill>
                <a:latin typeface="Aptos"/>
              </a:rPr>
              <a:t>Onglet « </a:t>
            </a:r>
            <a:r>
              <a:rPr lang="fr-FR" sz="3600" b="1" i="1" dirty="0" err="1">
                <a:solidFill>
                  <a:schemeClr val="tx1"/>
                </a:solidFill>
                <a:latin typeface="Aptos"/>
              </a:rPr>
              <a:t>Copilot</a:t>
            </a:r>
            <a:r>
              <a:rPr lang="fr-FR" sz="3600" b="1" dirty="0">
                <a:solidFill>
                  <a:schemeClr val="tx1"/>
                </a:solidFill>
                <a:latin typeface="Aptos"/>
              </a:rPr>
              <a:t> » dans les rapports</a:t>
            </a:r>
            <a:endParaRPr lang="fr-FR" sz="3600" b="1" i="1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DB1251-9BB9-187B-6CB0-085E976B7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323DE39C-8A81-4508-8EC3-8C55B05C4E7E}" type="slidenum">
              <a:rPr lang="fr-FR" sz="1350">
                <a:solidFill>
                  <a:srgbClr val="FFFFFF"/>
                </a:solidFill>
                <a:latin typeface="Segoe UI Semibold"/>
              </a:rPr>
              <a:pPr defTabSz="685800">
                <a:defRPr/>
              </a:pPr>
              <a:t>15</a:t>
            </a:fld>
            <a:endParaRPr lang="fr-FR" sz="135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0C894504-CD24-963A-DFD3-5F96510ABE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r>
              <a:rPr lang="fr-FR">
                <a:solidFill>
                  <a:srgbClr val="0070C0"/>
                </a:solidFill>
                <a:cs typeface="Segoe UI"/>
              </a:rPr>
              <a:t>Copilot comme assistant pour l’analyse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97D677-9FA9-FB09-6FC3-00AB9B55AF97}"/>
              </a:ext>
            </a:extLst>
          </p:cNvPr>
          <p:cNvSpPr txBox="1"/>
          <p:nvPr/>
        </p:nvSpPr>
        <p:spPr>
          <a:xfrm>
            <a:off x="6024388" y="3249368"/>
            <a:ext cx="877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fr-FR" sz="900">
                <a:solidFill>
                  <a:srgbClr val="02023F"/>
                </a:solidFill>
                <a:latin typeface="Segoe UI"/>
              </a:rPr>
              <a:t>*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4A6117-E935-691B-4F36-23441A99F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69" y="921850"/>
            <a:ext cx="7982262" cy="4119257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F835C94-5260-AF11-550A-B6CCCDB0FBB0}"/>
              </a:ext>
            </a:extLst>
          </p:cNvPr>
          <p:cNvSpPr/>
          <p:nvPr/>
        </p:nvSpPr>
        <p:spPr>
          <a:xfrm>
            <a:off x="3211552" y="1120697"/>
            <a:ext cx="340112" cy="144966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fr-FR" sz="135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E08B9-5929-8FB0-7324-3204229CB2DA}"/>
              </a:ext>
            </a:extLst>
          </p:cNvPr>
          <p:cNvSpPr/>
          <p:nvPr/>
        </p:nvSpPr>
        <p:spPr>
          <a:xfrm>
            <a:off x="7086600" y="1265664"/>
            <a:ext cx="1470956" cy="367990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fr-FR" sz="1350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71732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Les 3 surfaces Copilot pour Power BI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5486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40280" y="1033272"/>
            <a:ext cx="749808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240280" y="10332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9768" y="10241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9768" y="1627632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Volet Copilot (Rapport)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" y="21945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3F6E"/>
                </a:solidFill>
              </a:rPr>
              <a:t>Disponibilité générale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542032"/>
            <a:ext cx="25237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Panneau latéral droit d'un rapport ouvert. Limité au rapport en cours. Résumés, Q&amp;A et génération de visuels sur le modèle actif.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72968" y="960120"/>
            <a:ext cx="274320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172968" y="960120"/>
            <a:ext cx="2743200" cy="5486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093208" y="1033272"/>
            <a:ext cx="749808" cy="2560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093208" y="10332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PREVIEW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82696" y="10241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82696" y="1627632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Copilot Autonome (Standalone)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82696" y="21945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97A7"/>
                </a:solidFill>
              </a:rPr>
              <a:t>Préversion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82696" y="2542032"/>
            <a:ext cx="25237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Expérience plein écran depuis la navigation Fabric. </a:t>
            </a:r>
            <a:r>
              <a:rPr lang="en-US" sz="1200" dirty="0" err="1">
                <a:solidFill>
                  <a:srgbClr val="64748B"/>
                </a:solidFill>
              </a:rPr>
              <a:t>Interroge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n’importe</a:t>
            </a:r>
            <a:r>
              <a:rPr lang="en-US" sz="1200" dirty="0">
                <a:solidFill>
                  <a:srgbClr val="64748B"/>
                </a:solidFill>
              </a:rPr>
              <a:t> quel rapport ou modèle sémantique auquel l'utilisateur a accès.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25896" y="960120"/>
            <a:ext cx="274320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025896" y="960120"/>
            <a:ext cx="27432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7946136" y="1033272"/>
            <a:ext cx="749808" cy="2560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946136" y="10332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PREVIEW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35624" y="10241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35624" y="1627632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Copilot dans les apps / mobile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35624" y="21945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3AED"/>
                </a:solidFill>
              </a:rPr>
              <a:t>Préversion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35624" y="2542032"/>
            <a:ext cx="25237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solidFill>
                <a:srgbClr val="64748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64748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64748B"/>
              </a:solidFill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</a:rPr>
              <a:t>Intégré</a:t>
            </a:r>
            <a:r>
              <a:rPr lang="en-US" sz="1200" dirty="0">
                <a:solidFill>
                  <a:srgbClr val="64748B"/>
                </a:solidFill>
              </a:rPr>
              <a:t> à la navigation d'une app Power BI. Répond dans le périmètre de l'app. Supporte les réponses vérifiées par les auteurs de </a:t>
            </a:r>
            <a:r>
              <a:rPr lang="en-US" sz="1200" dirty="0" err="1">
                <a:solidFill>
                  <a:srgbClr val="64748B"/>
                </a:solidFill>
              </a:rPr>
              <a:t>l'app</a:t>
            </a:r>
            <a:r>
              <a:rPr lang="en-US" sz="1200" dirty="0">
                <a:solidFill>
                  <a:srgbClr val="64748B"/>
                </a:solidFill>
              </a:rPr>
              <a:t>.</a:t>
            </a:r>
          </a:p>
          <a:p>
            <a:pPr marL="0" indent="0">
              <a:buNone/>
            </a:pPr>
            <a:endParaRPr lang="en-US" sz="1200" dirty="0">
              <a:solidFill>
                <a:srgbClr val="64748B"/>
              </a:solidFill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</a:rPr>
              <a:t>Egalement</a:t>
            </a:r>
            <a:r>
              <a:rPr lang="en-US" sz="1200" dirty="0">
                <a:solidFill>
                  <a:srgbClr val="64748B"/>
                </a:solidFill>
              </a:rPr>
              <a:t> disponible sur </a:t>
            </a:r>
            <a:r>
              <a:rPr lang="en-US" sz="1200" dirty="0" err="1">
                <a:solidFill>
                  <a:srgbClr val="64748B"/>
                </a:solidFill>
              </a:rPr>
              <a:t>l’application</a:t>
            </a:r>
            <a:r>
              <a:rPr lang="en-US" sz="1200" dirty="0">
                <a:solidFill>
                  <a:srgbClr val="64748B"/>
                </a:solidFill>
              </a:rPr>
              <a:t> mobile Power BI.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Toutes ces surfaces respectent le Row-Level Security (RLS) et les permissions de votre organisation.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23C55F-615A-64C0-BC83-44139DA89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itle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100" b="1">
                <a:solidFill>
                  <a:srgbClr val="FFFFFF"/>
                </a:solidFill>
              </a:rPr>
              <a:t>Utilisation responsable de Copilot dans Power BI</a:t>
            </a:r>
            <a:endParaRPr lang="fr-FR" sz="2100"/>
          </a:p>
        </p:txBody>
      </p:sp>
      <p:sp>
        <p:nvSpPr>
          <p:cNvPr id="4" name="Intro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1E293B"/>
                </a:solidFill>
              </a:rPr>
              <a:t>Quatre bonnes pratiques pour déployer Copilot de façon sûre, efficace et maîtrisée.</a:t>
            </a:r>
            <a:endParaRPr lang="fr-FR" sz="1400"/>
          </a:p>
        </p:txBody>
      </p:sp>
      <p:sp>
        <p:nvSpPr>
          <p:cNvPr id="10" name="Card1"/>
          <p:cNvSpPr/>
          <p:nvPr/>
        </p:nvSpPr>
        <p:spPr>
          <a:xfrm>
            <a:off x="320040" y="1554480"/>
            <a:ext cx="2011680" cy="333756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Card1Accent"/>
          <p:cNvSpPr/>
          <p:nvPr/>
        </p:nvSpPr>
        <p:spPr>
          <a:xfrm>
            <a:off x="320040" y="1554480"/>
            <a:ext cx="2011680" cy="64008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Card1Icon"/>
          <p:cNvSpPr/>
          <p:nvPr/>
        </p:nvSpPr>
        <p:spPr>
          <a:xfrm>
            <a:off x="800100" y="1783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>
                <a:solidFill>
                  <a:srgbClr val="000000"/>
                </a:solidFill>
              </a:rPr>
              <a:t>🛡️</a:t>
            </a:r>
            <a:endParaRPr lang="fr-FR" sz="3200"/>
          </a:p>
        </p:txBody>
      </p:sp>
      <p:sp>
        <p:nvSpPr>
          <p:cNvPr id="13" name="Card1Heading"/>
          <p:cNvSpPr/>
          <p:nvPr/>
        </p:nvSpPr>
        <p:spPr>
          <a:xfrm>
            <a:off x="45720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>
                <a:solidFill>
                  <a:srgbClr val="1E293B"/>
                </a:solidFill>
              </a:rPr>
              <a:t>Gouvernance</a:t>
            </a:r>
            <a:endParaRPr lang="fr-FR" sz="1400"/>
          </a:p>
        </p:txBody>
      </p:sp>
      <p:sp>
        <p:nvSpPr>
          <p:cNvPr id="14" name="Card1Body"/>
          <p:cNvSpPr/>
          <p:nvPr/>
        </p:nvSpPr>
        <p:spPr>
          <a:xfrm>
            <a:off x="457200" y="320040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dirty="0">
                <a:solidFill>
                  <a:srgbClr val="64748B"/>
                </a:solidFill>
              </a:rPr>
              <a:t>Créez des groupes de sécurité et n’ouvrez l’accès qu’</a:t>
            </a:r>
            <a:r>
              <a:rPr lang="fr-FR" sz="1100" b="1" dirty="0">
                <a:solidFill>
                  <a:srgbClr val="64748B"/>
                </a:solidFill>
              </a:rPr>
              <a:t>après la formation</a:t>
            </a:r>
            <a:r>
              <a:rPr lang="fr-FR" sz="1100" dirty="0">
                <a:solidFill>
                  <a:srgbClr val="64748B"/>
                </a:solidFill>
              </a:rPr>
              <a:t> des utilisateurs. Déployez </a:t>
            </a:r>
            <a:r>
              <a:rPr lang="fr-FR" sz="1100" dirty="0" err="1">
                <a:solidFill>
                  <a:srgbClr val="64748B"/>
                </a:solidFill>
              </a:rPr>
              <a:t>Copilot</a:t>
            </a:r>
            <a:r>
              <a:rPr lang="fr-FR" sz="1100" dirty="0">
                <a:solidFill>
                  <a:srgbClr val="64748B"/>
                </a:solidFill>
              </a:rPr>
              <a:t> par phases.</a:t>
            </a:r>
            <a:endParaRPr lang="fr-FR" sz="1100" dirty="0"/>
          </a:p>
        </p:txBody>
      </p:sp>
      <p:sp>
        <p:nvSpPr>
          <p:cNvPr id="20" name="Card2"/>
          <p:cNvSpPr/>
          <p:nvPr/>
        </p:nvSpPr>
        <p:spPr>
          <a:xfrm>
            <a:off x="2484120" y="1554480"/>
            <a:ext cx="2011680" cy="3337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Card2Accent"/>
          <p:cNvSpPr/>
          <p:nvPr/>
        </p:nvSpPr>
        <p:spPr>
          <a:xfrm>
            <a:off x="2484120" y="1554480"/>
            <a:ext cx="201168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Card2Icon"/>
          <p:cNvSpPr/>
          <p:nvPr/>
        </p:nvSpPr>
        <p:spPr>
          <a:xfrm>
            <a:off x="2964180" y="1783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>
                <a:solidFill>
                  <a:srgbClr val="000000"/>
                </a:solidFill>
              </a:rPr>
              <a:t>🧩</a:t>
            </a:r>
            <a:endParaRPr lang="fr-FR" sz="3200"/>
          </a:p>
        </p:txBody>
      </p:sp>
      <p:sp>
        <p:nvSpPr>
          <p:cNvPr id="23" name="Card2Heading"/>
          <p:cNvSpPr/>
          <p:nvPr/>
        </p:nvSpPr>
        <p:spPr>
          <a:xfrm>
            <a:off x="262128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>
                <a:solidFill>
                  <a:srgbClr val="1E293B"/>
                </a:solidFill>
              </a:rPr>
              <a:t>Modèles sémantiques</a:t>
            </a:r>
            <a:endParaRPr lang="fr-FR" sz="1400"/>
          </a:p>
        </p:txBody>
      </p:sp>
      <p:sp>
        <p:nvSpPr>
          <p:cNvPr id="24" name="Card2Body"/>
          <p:cNvSpPr/>
          <p:nvPr/>
        </p:nvSpPr>
        <p:spPr>
          <a:xfrm>
            <a:off x="2621280" y="320040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64748B"/>
                </a:solidFill>
              </a:rPr>
              <a:t>Soignez le nommage, les descriptions </a:t>
            </a:r>
            <a:r>
              <a:rPr lang="fr-FR" sz="1100" dirty="0">
                <a:solidFill>
                  <a:srgbClr val="64748B"/>
                </a:solidFill>
              </a:rPr>
              <a:t>et la modélisation sémantique : un modèle mal préparé donne des résultats inexacts.</a:t>
            </a:r>
            <a:endParaRPr lang="fr-FR" sz="1100" dirty="0"/>
          </a:p>
        </p:txBody>
      </p:sp>
      <p:sp>
        <p:nvSpPr>
          <p:cNvPr id="30" name="Card3"/>
          <p:cNvSpPr/>
          <p:nvPr/>
        </p:nvSpPr>
        <p:spPr>
          <a:xfrm>
            <a:off x="4648200" y="1554480"/>
            <a:ext cx="2011680" cy="333756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Card3Accent"/>
          <p:cNvSpPr/>
          <p:nvPr/>
        </p:nvSpPr>
        <p:spPr>
          <a:xfrm>
            <a:off x="4648200" y="1554480"/>
            <a:ext cx="2011680" cy="64008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Card3Icon"/>
          <p:cNvSpPr/>
          <p:nvPr/>
        </p:nvSpPr>
        <p:spPr>
          <a:xfrm>
            <a:off x="5128260" y="1783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>
                <a:solidFill>
                  <a:srgbClr val="000000"/>
                </a:solidFill>
              </a:rPr>
              <a:t>👥</a:t>
            </a:r>
            <a:endParaRPr lang="fr-FR" sz="3200"/>
          </a:p>
        </p:txBody>
      </p:sp>
      <p:sp>
        <p:nvSpPr>
          <p:cNvPr id="33" name="Card3Heading"/>
          <p:cNvSpPr/>
          <p:nvPr/>
        </p:nvSpPr>
        <p:spPr>
          <a:xfrm>
            <a:off x="478536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>
                <a:solidFill>
                  <a:srgbClr val="1E293B"/>
                </a:solidFill>
              </a:rPr>
              <a:t>Utilisateurs métier</a:t>
            </a:r>
            <a:endParaRPr lang="fr-FR" sz="1400"/>
          </a:p>
        </p:txBody>
      </p:sp>
      <p:sp>
        <p:nvSpPr>
          <p:cNvPr id="34" name="Card3Body"/>
          <p:cNvSpPr/>
          <p:nvPr/>
        </p:nvSpPr>
        <p:spPr>
          <a:xfrm>
            <a:off x="4785360" y="320040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dirty="0">
                <a:solidFill>
                  <a:srgbClr val="64748B"/>
                </a:solidFill>
              </a:rPr>
              <a:t>Expliquez quand utiliser </a:t>
            </a:r>
            <a:r>
              <a:rPr lang="fr-FR" sz="1100" dirty="0" err="1">
                <a:solidFill>
                  <a:srgbClr val="64748B"/>
                </a:solidFill>
              </a:rPr>
              <a:t>Copilot</a:t>
            </a:r>
            <a:r>
              <a:rPr lang="fr-FR" sz="1100" dirty="0">
                <a:solidFill>
                  <a:srgbClr val="64748B"/>
                </a:solidFill>
              </a:rPr>
              <a:t> plutôt que lire les rapports, pour éviter la </a:t>
            </a:r>
            <a:r>
              <a:rPr lang="fr-FR" sz="1100" b="1" dirty="0">
                <a:solidFill>
                  <a:srgbClr val="64748B"/>
                </a:solidFill>
              </a:rPr>
              <a:t>surconsommation</a:t>
            </a:r>
            <a:r>
              <a:rPr lang="fr-FR" sz="1100" dirty="0">
                <a:solidFill>
                  <a:srgbClr val="64748B"/>
                </a:solidFill>
              </a:rPr>
              <a:t> de capacité et les pertes de temps.</a:t>
            </a:r>
            <a:endParaRPr lang="fr-FR" sz="1100" dirty="0"/>
          </a:p>
        </p:txBody>
      </p:sp>
      <p:sp>
        <p:nvSpPr>
          <p:cNvPr id="40" name="Card4"/>
          <p:cNvSpPr/>
          <p:nvPr/>
        </p:nvSpPr>
        <p:spPr>
          <a:xfrm>
            <a:off x="6812280" y="1554480"/>
            <a:ext cx="2011680" cy="3337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Card4Accent"/>
          <p:cNvSpPr/>
          <p:nvPr/>
        </p:nvSpPr>
        <p:spPr>
          <a:xfrm>
            <a:off x="6812280" y="1554480"/>
            <a:ext cx="201168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Card4Icon"/>
          <p:cNvSpPr/>
          <p:nvPr/>
        </p:nvSpPr>
        <p:spPr>
          <a:xfrm>
            <a:off x="7292340" y="1783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>
                <a:solidFill>
                  <a:srgbClr val="000000"/>
                </a:solidFill>
              </a:rPr>
              <a:t>✅</a:t>
            </a:r>
            <a:endParaRPr lang="fr-FR" sz="3200"/>
          </a:p>
        </p:txBody>
      </p:sp>
      <p:sp>
        <p:nvSpPr>
          <p:cNvPr id="43" name="Card4Heading"/>
          <p:cNvSpPr/>
          <p:nvPr/>
        </p:nvSpPr>
        <p:spPr>
          <a:xfrm>
            <a:off x="694944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>
                <a:solidFill>
                  <a:srgbClr val="1E293B"/>
                </a:solidFill>
              </a:rPr>
              <a:t>Évaluation des résultats</a:t>
            </a:r>
            <a:endParaRPr lang="fr-FR" sz="1400"/>
          </a:p>
        </p:txBody>
      </p:sp>
      <p:sp>
        <p:nvSpPr>
          <p:cNvPr id="44" name="Card4Body"/>
          <p:cNvSpPr/>
          <p:nvPr/>
        </p:nvSpPr>
        <p:spPr>
          <a:xfrm>
            <a:off x="6949440" y="320040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dirty="0">
                <a:solidFill>
                  <a:srgbClr val="64748B"/>
                </a:solidFill>
              </a:rPr>
              <a:t>Les réponses peuvent être inexactes et </a:t>
            </a:r>
            <a:r>
              <a:rPr lang="fr-FR" sz="1100" b="1" dirty="0">
                <a:solidFill>
                  <a:srgbClr val="64748B"/>
                </a:solidFill>
              </a:rPr>
              <a:t>non déterministes</a:t>
            </a:r>
            <a:r>
              <a:rPr lang="fr-FR" sz="1100" dirty="0">
                <a:solidFill>
                  <a:srgbClr val="64748B"/>
                </a:solidFill>
              </a:rPr>
              <a:t> : fixez les attentes et apprenez aux utilisateurs à valider les sorties.</a:t>
            </a:r>
            <a:endParaRPr lang="fr-FR" sz="1100" dirty="0"/>
          </a:p>
        </p:txBody>
      </p:sp>
      <p:sp>
        <p:nvSpPr>
          <p:cNvPr id="50" name="Footer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i="1">
                <a:solidFill>
                  <a:srgbClr val="64748B"/>
                </a:solidFill>
              </a:rPr>
              <a:t>En savoir plus : </a:t>
            </a:r>
            <a:r>
              <a:rPr lang="fr-FR" sz="1000" i="1">
                <a:solidFill>
                  <a:srgbClr val="1B3F6E"/>
                </a:solidFill>
                <a:hlinkClick r:id="rId3"/>
              </a:rPr>
              <a:t>préparer vos données pour l’IA et Copilot dans Power BI.</a:t>
            </a:r>
            <a:endParaRPr lang="fr-FR" sz="1000" i="1"/>
          </a:p>
        </p:txBody>
      </p:sp>
    </p:spTree>
    <p:extLst>
      <p:ext uri="{BB962C8B-B14F-4D97-AF65-F5344CB8AC3E}">
        <p14:creationId xmlns:p14="http://schemas.microsoft.com/office/powerpoint/2010/main" val="2740969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00BCD4">
                    <a:alpha val="45000"/>
                  </a:srgbClr>
                </a:solidFill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Q&amp;A conversationnel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BCD4"/>
                </a:solidFill>
              </a:rPr>
              <a:t>Interroger vos données en langage naturel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Q&amp;A conversationnel – Chat avec vos données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84632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64008" cy="749808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75488" y="1033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💬  Question → Données réelles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80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Copilot interroge le modèle sémantique et renvoie des chiffres réels.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484632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64008" cy="7498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5488" y="1901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📊  Visuel généré dynamiquement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249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La réponse prend souvent la forme d'un graphique ou tableau adapté.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697480"/>
            <a:ext cx="484632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" y="2697480"/>
            <a:ext cx="64008" cy="749808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5488" y="2770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🔢  Mesure DAX ad hoc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Si la mesure n'existe pas, Copilot peut la créer à la volée en coulisse. Mais on ne </a:t>
            </a:r>
            <a:r>
              <a:rPr lang="en-US" sz="1100" dirty="0" err="1">
                <a:solidFill>
                  <a:srgbClr val="64748B"/>
                </a:solidFill>
              </a:rPr>
              <a:t>saura</a:t>
            </a:r>
            <a:r>
              <a:rPr lang="en-US" sz="1100" dirty="0">
                <a:solidFill>
                  <a:srgbClr val="64748B"/>
                </a:solidFill>
              </a:rPr>
              <a:t> pas comment </a:t>
            </a:r>
            <a:r>
              <a:rPr lang="en-US" sz="1100" dirty="0" err="1">
                <a:solidFill>
                  <a:srgbClr val="64748B"/>
                </a:solidFill>
              </a:rPr>
              <a:t>elle</a:t>
            </a:r>
            <a:r>
              <a:rPr lang="en-US" sz="1100" dirty="0">
                <a:solidFill>
                  <a:srgbClr val="64748B"/>
                </a:solidFill>
              </a:rPr>
              <a:t> a </a:t>
            </a:r>
            <a:r>
              <a:rPr lang="en-US" sz="1100" dirty="0" err="1">
                <a:solidFill>
                  <a:srgbClr val="64748B"/>
                </a:solidFill>
              </a:rPr>
              <a:t>été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écrite</a:t>
            </a:r>
            <a:r>
              <a:rPr lang="en-US" sz="1100" dirty="0">
                <a:solidFill>
                  <a:srgbClr val="64748B"/>
                </a:solidFill>
              </a:rPr>
              <a:t>. A </a:t>
            </a:r>
            <a:r>
              <a:rPr lang="en-US" sz="1100" dirty="0" err="1">
                <a:solidFill>
                  <a:srgbClr val="64748B"/>
                </a:solidFill>
              </a:rPr>
              <a:t>éviter</a:t>
            </a:r>
            <a:r>
              <a:rPr lang="en-US" sz="1100" dirty="0">
                <a:solidFill>
                  <a:srgbClr val="64748B"/>
                </a:solidFill>
              </a:rPr>
              <a:t>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484632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3566160"/>
            <a:ext cx="64008" cy="7498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5488" y="3639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🔁  Contexte conversationnel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3986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"Et l'année précédente ?" — Copilot maintient le fil de la conversation.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94960" y="896112"/>
            <a:ext cx="347472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486400" y="9692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</a:rPr>
              <a:t>Conversation Fabrikam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1353312"/>
            <a:ext cx="3291840" cy="713232"/>
          </a:xfrm>
          <a:prstGeom prst="rect">
            <a:avLst/>
          </a:prstGeom>
          <a:solidFill>
            <a:srgbClr val="33415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577840" y="14081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</a:rPr>
              <a:t>Vous: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77840" y="16276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Top 5 territories by revenue this year?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2157984"/>
            <a:ext cx="329184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577840" y="2212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300"/>
                </a:solidFill>
              </a:rPr>
              <a:t>Copilot: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24323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</a:rPr>
              <a:t>Bar chart: N. America Central ($5.2M), France ($3.1M), Germany ($2.8M)…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0" y="2962656"/>
            <a:ext cx="3291840" cy="713232"/>
          </a:xfrm>
          <a:prstGeom prst="rect">
            <a:avLst/>
          </a:prstGeom>
          <a:solidFill>
            <a:srgbClr val="33415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577840" y="3017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</a:rPr>
              <a:t>Vous: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32369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Show gross margin for these territories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3767328"/>
            <a:ext cx="329184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577840" y="38221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300"/>
                </a:solidFill>
              </a:rPr>
              <a:t>Copilot: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40416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</a:rPr>
              <a:t>Table: France leads at 42% margin, Germany 38%, N.A. Central 31%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579F8-66A5-DE5E-8D79-5BEC6A430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59C47-E8A1-DABE-FDF6-B02EC67F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>
                <a:solidFill>
                  <a:schemeClr val="tx1"/>
                </a:solidFill>
                <a:latin typeface="Aptos"/>
              </a:rPr>
              <a:t>Questionner le contenu des rapports</a:t>
            </a:r>
            <a:endParaRPr lang="fr-FR" sz="3600" b="1" i="1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E33D6F-B6F7-8A67-7766-79326EA29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323DE39C-8A81-4508-8EC3-8C55B05C4E7E}" type="slidenum">
              <a:rPr lang="fr-FR" sz="1350">
                <a:solidFill>
                  <a:srgbClr val="FFFFFF"/>
                </a:solidFill>
                <a:latin typeface="Segoe UI Semibold"/>
              </a:rPr>
              <a:pPr defTabSz="685800">
                <a:defRPr/>
              </a:pPr>
              <a:t>20</a:t>
            </a:fld>
            <a:endParaRPr lang="fr-FR" sz="135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FBDB125E-C389-246A-8F66-02AC406DBA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r>
              <a:rPr lang="fr-FR">
                <a:solidFill>
                  <a:srgbClr val="0070C0"/>
                </a:solidFill>
                <a:cs typeface="Segoe UI"/>
              </a:rPr>
              <a:t>Copilot comme assistant pour l’analyse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D8FF3-D5A5-8025-3567-30DEBF613349}"/>
              </a:ext>
            </a:extLst>
          </p:cNvPr>
          <p:cNvSpPr txBox="1"/>
          <p:nvPr/>
        </p:nvSpPr>
        <p:spPr>
          <a:xfrm>
            <a:off x="6024388" y="3249368"/>
            <a:ext cx="877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fr-FR" sz="900">
                <a:solidFill>
                  <a:srgbClr val="02023F"/>
                </a:solidFill>
                <a:latin typeface="Segoe UI"/>
              </a:rPr>
              <a:t>*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A88693-FF40-701E-0B9E-38BE29A66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69" y="921850"/>
            <a:ext cx="7982262" cy="4112657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624D7E9-8C09-5045-7AF9-FFF8865D9CFE}"/>
              </a:ext>
            </a:extLst>
          </p:cNvPr>
          <p:cNvSpPr/>
          <p:nvPr/>
        </p:nvSpPr>
        <p:spPr>
          <a:xfrm>
            <a:off x="2464420" y="2806177"/>
            <a:ext cx="3105614" cy="114135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fr-FR" sz="135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259EEFE-AC52-8A6E-C3CF-3CA33AD68262}"/>
              </a:ext>
            </a:extLst>
          </p:cNvPr>
          <p:cNvSpPr/>
          <p:nvPr/>
        </p:nvSpPr>
        <p:spPr>
          <a:xfrm>
            <a:off x="7209264" y="2174487"/>
            <a:ext cx="1232210" cy="178421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fr-FR" sz="1350">
              <a:solidFill>
                <a:srgbClr val="FFFFFF"/>
              </a:solidFill>
              <a:latin typeface="Segoe U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C797A1C-A542-A850-2B36-C1857F934777}"/>
                  </a:ext>
                </a:extLst>
              </p14:cNvPr>
              <p14:cNvContentPartPr/>
              <p14:nvPr/>
            </p14:nvContentPartPr>
            <p14:xfrm>
              <a:off x="4853865" y="3003840"/>
              <a:ext cx="261090" cy="2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C797A1C-A542-A850-2B36-C1857F9347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17902" y="2931840"/>
                <a:ext cx="332656" cy="14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0712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Q&amp;A – Exemples de questions sur Fabrikam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Exemples de questions à poser dans le volet Copilot d'un rapport Fabrikam 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4206240" cy="64008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F6E"/>
                </a:solidFill>
              </a:rPr>
              <a:t>Ventes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</a:rPr>
              <a:t>"What are the top 10 products by sales amount in 2023?"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↳ Tableau des 10 meilleurs produits avec montants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27448" y="135331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27448" y="1353312"/>
            <a:ext cx="420624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18888" y="14630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</a:rPr>
              <a:t>Tendances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18888" y="1737360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</a:rPr>
              <a:t>"Show monthly sales trend for the Fabrikam brand in 2023"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21031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↳ Graphique en courbes par mois sur l'année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5603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4206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11480" y="26700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Géographie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4436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</a:rPr>
              <a:t>"Which territories had a sales decline vs last year?"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31012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↳ Tableau avec variation %, territoires en baisse identifiés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27448" y="25603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27448" y="2560320"/>
            <a:ext cx="420624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18888" y="26700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</a:rPr>
              <a:t>Revendeurs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18888" y="294436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</a:rPr>
              <a:t>"Who are the top resellers by gross margin in Europe?"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18888" y="331012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↳ Classement des revendeurs avec marge brute Europe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767328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3767328"/>
            <a:ext cx="4206240" cy="640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11480" y="38770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</a:rPr>
              <a:t>Produits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151376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</a:rPr>
              <a:t>"Compare average unit price across product categories"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51713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↳ Graphique barres : prix moyen par catégorie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27448" y="3767328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727448" y="3767328"/>
            <a:ext cx="42062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18888" y="38770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KPI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18888" y="4151376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</a:rPr>
              <a:t>"Summarize the key performance metrics for this quarter"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18888" y="451713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↳ Résumé textuel + visuels des KPIs principaux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" y="4846320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Astuce : formulez vos questions en anglais pour de meilleurs résultats. Le français est partiellement supporté.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Q&amp;A conversationnel – Potentiel &amp; Limites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1148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84048" y="932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Potentiel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896112"/>
            <a:ext cx="41148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64608" y="932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Limites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1480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84048" y="1435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Réponses ad hoc en secondes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7739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Plus besoin d'attendre un analyste — vous obtenez la réponse immédiatement.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67712"/>
            <a:ext cx="411480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Exploration libre des données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Affinez votre analyse progressivement en enchaînant les questions.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163824"/>
            <a:ext cx="411480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84048" y="3227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Respect du RLS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3566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Copilot ne montre que les données auxquelles vous avez droit.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059936"/>
            <a:ext cx="411480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41239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Zéro compétence technique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4462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Aucune connaissance de DAX ou de l'éditeur de rapport requise.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411480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64608" y="1435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Anglais recommandé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4608" y="17739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"CA" peut être interprété comme "California" au lieu de "Chiffre d'Affaires".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267712"/>
            <a:ext cx="411480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64608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Questions simples seulement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2670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Les analyses multi-étapes complexes peuvent dérouter Copilot.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163824"/>
            <a:ext cx="411480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64608" y="3227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Mode lecture parfois limité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3566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Certaines mesures ad hoc nécessitent un accès Build (pas juste lecteur).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4059936"/>
            <a:ext cx="411480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64608" y="41239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Valider les résultats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462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Copilot peut se tromper — recoupez toujours les chiffres critiques.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00BCD4">
                    <a:alpha val="45000"/>
                  </a:srgbClr>
                </a:solidFill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Résumés et insights automatiques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BCD4"/>
                </a:solidFill>
              </a:rPr>
              <a:t>Extraire les points clés d'un rapport en quelques secondes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Résumés automatiques – Deux approches complémentaires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160520" cy="4069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64008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10698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F6E"/>
                </a:solidFill>
              </a:rPr>
              <a:t>Résumé via le chat Copilot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Demandez un résumé en langage naturel. Copilot analyse l'ensemble du rapport et génère un texte structuré avec les points saillants.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393192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30352" y="2496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</a:rPr>
              <a:t>Prompt 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7797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"Summarize the key insights from this Fabrikam sales report"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324612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</a:rPr>
              <a:t>Sales are up 12% YoY driven by North America Central (+18%). Computers lead with $4.2M revenue. Gross margin declined 2pts in Q3 due to rising component costs.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932688"/>
            <a:ext cx="4160520" cy="4069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09160" y="932688"/>
            <a:ext cx="416052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10698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</a:rPr>
              <a:t>Visuel Narratif (Narrative with Copilot)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53619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Visuel inséré dans la page de rapport. Génère automatiquement un texte de synthèse — se met à jour quand les données changent.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Paramétrable : nombre de points, focus thématique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8803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Se synchronise avec les filtres du rapport en temps réel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3375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Exportable dans les abonnements email automatiques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7947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Idéal pour les décideurs non-techniques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42519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Personnalisable via un template de narration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F5B35-A0CA-5B0C-176F-66B877CFD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0757159-D01B-F068-A6D3-76C51792EB0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82363" y="963216"/>
            <a:ext cx="1419758" cy="1608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F4EF47-73A2-EC70-B0E7-4D403A3BC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chemeClr val="tx1"/>
                </a:solidFill>
                <a:latin typeface="Aptos"/>
              </a:rPr>
              <a:t>Résumer les insights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18F4E6-6DDB-B8E7-C7A5-D03E31BAC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323DE39C-8A81-4508-8EC3-8C55B05C4E7E}" type="slidenum">
              <a:rPr lang="fr-FR" sz="1350">
                <a:solidFill>
                  <a:srgbClr val="FFFFFF"/>
                </a:solidFill>
                <a:latin typeface="Segoe UI Semibold"/>
              </a:rPr>
              <a:pPr defTabSz="685800">
                <a:defRPr/>
              </a:pPr>
              <a:t>25</a:t>
            </a:fld>
            <a:endParaRPr lang="fr-FR" sz="135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B299A05B-7ECA-099D-53E1-2790DF8121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r>
              <a:rPr lang="fr-FR">
                <a:solidFill>
                  <a:srgbClr val="0070C0"/>
                </a:solidFill>
                <a:cs typeface="Segoe UI"/>
              </a:rPr>
              <a:t>Copilot comme assistant pour l’analyse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5A4D51-8CA6-385E-CBC2-F7EC0C39D335}"/>
              </a:ext>
            </a:extLst>
          </p:cNvPr>
          <p:cNvSpPr txBox="1"/>
          <p:nvPr/>
        </p:nvSpPr>
        <p:spPr>
          <a:xfrm>
            <a:off x="6024388" y="3249368"/>
            <a:ext cx="877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fr-FR" sz="900">
                <a:solidFill>
                  <a:srgbClr val="02023F"/>
                </a:solidFill>
                <a:latin typeface="Segoe UI"/>
              </a:rPr>
              <a:t>*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D4407C-E886-130B-F485-88F9CAEC4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69" y="921850"/>
            <a:ext cx="1827848" cy="4112657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2DEBD2-CEDB-2088-15DB-F24757202E55}"/>
              </a:ext>
            </a:extLst>
          </p:cNvPr>
          <p:cNvSpPr/>
          <p:nvPr/>
        </p:nvSpPr>
        <p:spPr>
          <a:xfrm>
            <a:off x="1262232" y="1322952"/>
            <a:ext cx="1080919" cy="197238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fr-FR" sz="1350">
              <a:solidFill>
                <a:srgbClr val="FFFFFF"/>
              </a:solidFill>
              <a:latin typeface="Segoe U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522FCF-674F-C4EC-9571-602246E2BB3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38713" y="963216"/>
            <a:ext cx="1560971" cy="16085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AB8910-8839-4B6D-0CA1-C62A5998228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8420" b="1376"/>
          <a:stretch>
            <a:fillRect/>
          </a:stretch>
        </p:blipFill>
        <p:spPr>
          <a:xfrm>
            <a:off x="2694163" y="2522650"/>
            <a:ext cx="2568777" cy="25118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D52E9F6-B49F-75BF-476E-ADA12464B80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02121" y="921850"/>
            <a:ext cx="1456269" cy="16499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1FBADF-E153-BAB0-69F2-BD3C20F8216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58390" y="903964"/>
            <a:ext cx="1604741" cy="165364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83BA133-9E55-4CC6-5A79-399C3132CD37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2940" y="2522650"/>
            <a:ext cx="3052385" cy="1516642"/>
          </a:xfrm>
          <a:prstGeom prst="rect">
            <a:avLst/>
          </a:prstGeom>
        </p:spPr>
      </p:pic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9FC0B4CA-89EB-0A0F-93F4-B2E5F4FE5DA6}"/>
              </a:ext>
            </a:extLst>
          </p:cNvPr>
          <p:cNvSpPr/>
          <p:nvPr/>
        </p:nvSpPr>
        <p:spPr>
          <a:xfrm>
            <a:off x="3362565" y="1024709"/>
            <a:ext cx="135000" cy="1350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fr-FR" sz="788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9D2C7FB1-14CD-72A2-636D-0D0009D81BCB}"/>
              </a:ext>
            </a:extLst>
          </p:cNvPr>
          <p:cNvSpPr/>
          <p:nvPr/>
        </p:nvSpPr>
        <p:spPr>
          <a:xfrm>
            <a:off x="3541448" y="2595878"/>
            <a:ext cx="135000" cy="1350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fr-FR" sz="788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EF1AF1F4-B853-35E5-5E00-10432D9130E2}"/>
              </a:ext>
            </a:extLst>
          </p:cNvPr>
          <p:cNvSpPr/>
          <p:nvPr/>
        </p:nvSpPr>
        <p:spPr>
          <a:xfrm>
            <a:off x="4743151" y="1024709"/>
            <a:ext cx="135000" cy="1350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fr-FR" sz="788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5F9E97AF-0BA3-7B2C-B94B-5681E694E815}"/>
              </a:ext>
            </a:extLst>
          </p:cNvPr>
          <p:cNvSpPr/>
          <p:nvPr/>
        </p:nvSpPr>
        <p:spPr>
          <a:xfrm>
            <a:off x="4917323" y="1024709"/>
            <a:ext cx="135000" cy="1350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fr-FR" sz="788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9D7F8644-4516-692F-E33E-E1F884940980}"/>
              </a:ext>
            </a:extLst>
          </p:cNvPr>
          <p:cNvSpPr/>
          <p:nvPr/>
        </p:nvSpPr>
        <p:spPr>
          <a:xfrm>
            <a:off x="6027755" y="1024709"/>
            <a:ext cx="135000" cy="1350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fr-FR" sz="788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239B5B1-B1B8-1D15-D9A1-30A92B5FCA3E}"/>
              </a:ext>
            </a:extLst>
          </p:cNvPr>
          <p:cNvSpPr/>
          <p:nvPr/>
        </p:nvSpPr>
        <p:spPr>
          <a:xfrm>
            <a:off x="7619024" y="1023118"/>
            <a:ext cx="135000" cy="1350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fr-FR" sz="788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2392248-EFF4-B3B0-7CD1-C77BA92F0EDB}"/>
              </a:ext>
            </a:extLst>
          </p:cNvPr>
          <p:cNvSpPr/>
          <p:nvPr/>
        </p:nvSpPr>
        <p:spPr>
          <a:xfrm>
            <a:off x="5747933" y="2595878"/>
            <a:ext cx="135000" cy="1350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fr-FR" sz="788">
                <a:solidFill>
                  <a:srgbClr val="FFFFFF"/>
                </a:solidFill>
                <a:latin typeface="Segoe U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7406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D99CD-2E6D-D3BD-34A8-E90BA3EE4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E900-74AD-BBDA-A8F2-0D84E9253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ptos"/>
              </a:rPr>
              <a:t>Narrative Visual with Copilot for Power BI</a:t>
            </a:r>
            <a:endParaRPr lang="fr-FR" sz="3200" b="1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ED846-C59A-FD2F-30F9-45502481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323DE39C-8A81-4508-8EC3-8C55B05C4E7E}" type="slidenum">
              <a:rPr lang="fr-FR" sz="1350">
                <a:solidFill>
                  <a:srgbClr val="FFFFFF"/>
                </a:solidFill>
                <a:latin typeface="Segoe UI Semibold"/>
              </a:rPr>
              <a:pPr defTabSz="685800">
                <a:defRPr/>
              </a:pPr>
              <a:t>26</a:t>
            </a:fld>
            <a:endParaRPr lang="fr-FR" sz="135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D096A7FA-1C49-6CA0-14E6-28F35A1DCD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cs typeface="Segoe UI"/>
              </a:rPr>
              <a:t>Summarize the entire report, specific pages, or even specific visuals</a:t>
            </a:r>
            <a:endParaRPr lang="fr-FR" dirty="0">
              <a:solidFill>
                <a:srgbClr val="0070C0"/>
              </a:solidFill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CF7C1C-EFC6-E6AC-173E-2B3028009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963216"/>
            <a:ext cx="7473792" cy="400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91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0ABA5-AFA4-7474-12E1-FA8D370E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5C3F0-74FD-7B0D-8F50-AF69BEE32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Aptos"/>
              </a:rPr>
              <a:t>Narrative Visual with Copilot for Power BI</a:t>
            </a:r>
            <a:endParaRPr lang="fr-FR" sz="3200" b="1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5D33FB-0056-01C4-E8DE-9A7D475B6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323DE39C-8A81-4508-8EC3-8C55B05C4E7E}" type="slidenum">
              <a:rPr lang="fr-FR" sz="1350">
                <a:solidFill>
                  <a:srgbClr val="FFFFFF"/>
                </a:solidFill>
                <a:latin typeface="Segoe UI Semibold"/>
              </a:rPr>
              <a:pPr defTabSz="685800">
                <a:defRPr/>
              </a:pPr>
              <a:t>27</a:t>
            </a:fld>
            <a:endParaRPr lang="fr-FR" sz="135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657C6850-E18C-F849-E139-2E6A95BE3F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cs typeface="Segoe UI"/>
              </a:rPr>
              <a:t>If you select to many visuals, Copilot may leave them out of the summary.</a:t>
            </a:r>
            <a:endParaRPr lang="fr-FR" dirty="0">
              <a:solidFill>
                <a:srgbClr val="0070C0"/>
              </a:solidFill>
              <a:cs typeface="Segoe UI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B964B72-8E22-35CA-8CDC-A4BE46CB5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30" y="963216"/>
            <a:ext cx="7412502" cy="398243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2E49275-7FE0-1A1C-8457-E5AF8BCF4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534" y="3978288"/>
            <a:ext cx="1606582" cy="1165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1759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AA243-3E8B-A212-9D2E-7D312A1F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9264C-6D0B-3E40-55A0-984FF11F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ptos"/>
              </a:rPr>
              <a:t>Narrative Visual with Copilot for Power BI</a:t>
            </a:r>
            <a:endParaRPr lang="fr-FR" sz="3200" b="1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0DB7F0-7CB8-D665-7662-EFA241F6E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323DE39C-8A81-4508-8EC3-8C55B05C4E7E}" type="slidenum">
              <a:rPr lang="fr-FR" sz="1350">
                <a:solidFill>
                  <a:srgbClr val="FFFFFF"/>
                </a:solidFill>
                <a:latin typeface="Segoe UI Semibold"/>
              </a:rPr>
              <a:pPr defTabSz="685800">
                <a:defRPr/>
              </a:pPr>
              <a:t>28</a:t>
            </a:fld>
            <a:endParaRPr lang="fr-FR" sz="135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840C5A69-82CF-D735-8EDA-98987C8C92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cs typeface="Segoe UI"/>
              </a:rPr>
              <a:t>Summarize the entire report, specific pages, or even specific visuals</a:t>
            </a:r>
            <a:endParaRPr lang="fr-FR" dirty="0">
              <a:solidFill>
                <a:srgbClr val="0070C0"/>
              </a:solidFill>
              <a:cs typeface="Segoe UI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6F2A87-72EC-6438-F1E7-A938C78A9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45" y="1018636"/>
            <a:ext cx="7475873" cy="402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94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95106-DF33-DF81-4E3D-971E2691F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01DB6-315F-0424-389C-2C1F0396F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ptos"/>
              </a:rPr>
              <a:t>Narrative Visual with Copilot for Power BI</a:t>
            </a:r>
            <a:endParaRPr lang="fr-FR" sz="3200" b="1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730BA3-214A-2D75-D942-9693614D9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323DE39C-8A81-4508-8EC3-8C55B05C4E7E}" type="slidenum">
              <a:rPr lang="fr-FR" sz="1350">
                <a:solidFill>
                  <a:srgbClr val="FFFFFF"/>
                </a:solidFill>
                <a:latin typeface="Segoe UI Semibold"/>
              </a:rPr>
              <a:pPr defTabSz="685800">
                <a:defRPr/>
              </a:pPr>
              <a:t>29</a:t>
            </a:fld>
            <a:endParaRPr lang="fr-FR" sz="135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8744B907-53D0-9005-9A46-C5591F378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cs typeface="Segoe UI"/>
              </a:rPr>
              <a:t>Fine-tune a custom narrative</a:t>
            </a:r>
            <a:endParaRPr lang="fr-FR" dirty="0">
              <a:solidFill>
                <a:srgbClr val="0070C0"/>
              </a:solidFill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471B354-C38C-0C4C-D42A-07BB4811C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20" y="1045196"/>
            <a:ext cx="7448161" cy="399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519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A0FD8B-6173-7D8B-F231-61A274DE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30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667252C-305B-F63B-A35A-26E07A9AA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315"/>
            <a:ext cx="9144000" cy="455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595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0D6148F-6BD6-4E36-AEFF-F72DDCF2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31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D2AED48-CA33-FC50-6293-B16459A53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0" y="1089348"/>
            <a:ext cx="4439270" cy="37057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9EBBCD8-5E2A-D8B4-A7DE-99F1168AF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036" y="1089348"/>
            <a:ext cx="4325094" cy="30452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5800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0FC8977-F090-56A4-5159-78961A00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32</a:t>
            </a:fld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D06817B-0850-7570-2633-9BA3663AF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1723"/>
            <a:ext cx="9144000" cy="286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0851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1AFE907-E470-F905-F404-B1397A4B8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33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E0DE443-B364-B95A-CEE8-CE2E47AEB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843" y="0"/>
            <a:ext cx="507631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348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BA7E7DD-790D-EF3B-5D72-667E350C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34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420A8CF-BE59-D91A-EAC8-2EA2610AF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9564"/>
            <a:ext cx="9144000" cy="280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22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898E3AB-5CB9-7EB2-D4FD-B09A94E0A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35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18242FF-396F-0A3C-46AF-02C03F244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65" y="0"/>
            <a:ext cx="816566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841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Résumés automatiques – Potentiel &amp; Limites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1148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84048" y="932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Potentiel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896112"/>
            <a:ext cx="41148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64608" y="932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Limites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1480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84048" y="1435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Synthèse instantanée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7739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Analyse un rapport complexe en secondes — idéal en préparation de réunion.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67712"/>
            <a:ext cx="411480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Narratif dynamique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 visuel narratif s'actualise avec les données sans réécriture manuelle.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163824"/>
            <a:ext cx="411480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84048" y="3227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Ciblage précis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3566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"Résume seulement les ventes Europe" — focus sur un sous-ensemble ciblé.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059936"/>
            <a:ext cx="411480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41239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Intégration emails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4462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 résumé peut être inclus dans les abonnements rapport planifiés.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411480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64608" y="1435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Narration générique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4608" y="17739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"Les ventes ont augmenté" sans chiffre précis. À affiner avant diffusion officielle.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267712"/>
            <a:ext cx="411480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64608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Sortie en anglais par défaut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2670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Aucun support multilingue officiel en juin 2025. Traduction manuelle nécessaire.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163824"/>
            <a:ext cx="411480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64608" y="3227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Dépend de la qualité du rapport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3566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Un rapport surchargé ou mal structuré produit un résumé peu pertinent.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4059936"/>
            <a:ext cx="411480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64608" y="41239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Validation indispensable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462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Ne diffusez jamais un narratif automatique sans relecture humaine préalable.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2B2842-4F88-71FD-FF7F-16A1932CF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Résumez les principaux enseignements tirés de ce rapport commercial de </a:t>
            </a:r>
            <a:r>
              <a:rPr lang="fr-FR" dirty="0" err="1"/>
              <a:t>Fabrikam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73DC60-4609-0C7F-76AC-C822925DC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Depuis un rapport vierge ?</a:t>
            </a:r>
          </a:p>
          <a:p>
            <a:r>
              <a:rPr lang="fr-FR" dirty="0"/>
              <a:t>S’appuie uniquement sur les visuels déjà définis ?</a:t>
            </a:r>
          </a:p>
          <a:p>
            <a:r>
              <a:rPr lang="fr-FR" dirty="0"/>
              <a:t>Utilise les filtres de pages ?</a:t>
            </a:r>
          </a:p>
          <a:p>
            <a:r>
              <a:rPr lang="fr-FR" dirty="0"/>
              <a:t>Ne présente pas les requêtes DAX utilisées ?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9B8AAF1-240A-2C51-56AF-8A1E3B1B2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636" y="1944696"/>
            <a:ext cx="3467584" cy="30198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7909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00BCD4">
                    <a:alpha val="45000"/>
                  </a:srgbClr>
                </a:solidFill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Génération de rapports assistée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BCD4"/>
                </a:solidFill>
              </a:rPr>
              <a:t>Créer un rapport Power BI depuis une instruction en langage naturel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274320" y="960120"/>
            <a:ext cx="201168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295927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Vous décrivez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"Crée un rapport sur les ventes Fabrikam par territoire et catégorie produit"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41448" y="960120"/>
            <a:ext cx="2011680" cy="16916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32888" y="1295927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Copilot analyse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32888" y="15087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Parcourt le modèle, identifie tables, mesures et relations pertinentes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08576" y="960120"/>
            <a:ext cx="201168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700016" y="1295927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Copilot génère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15087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Propose une page de rapport avec visuels adaptés à la demande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75704" y="960120"/>
            <a:ext cx="2011680" cy="16916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867144" y="1295927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Vous affinez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67144" y="15087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Modifiez, ajustez, approuvez ou régénérez selon vos besoins</a:t>
            </a:r>
            <a:endParaRPr lang="en-US" sz="11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Génération de rapports – Comment ça marche 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78408" y="658368"/>
            <a:ext cx="566928" cy="566928"/>
          </a:xfrm>
          <a:prstGeom prst="ellipse">
            <a:avLst/>
          </a:prstGeom>
          <a:solidFill>
            <a:srgbClr val="1B3F6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78408" y="69494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1828800"/>
            <a:ext cx="155448" cy="0"/>
          </a:xfrm>
          <a:prstGeom prst="line">
            <a:avLst/>
          </a:prstGeom>
          <a:noFill/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145536" y="658368"/>
            <a:ext cx="566928" cy="56692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145536" y="69494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53128" y="1828800"/>
            <a:ext cx="155448" cy="0"/>
          </a:xfrm>
          <a:prstGeom prst="line">
            <a:avLst/>
          </a:prstGeom>
          <a:noFill/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312664" y="658368"/>
            <a:ext cx="566928" cy="566928"/>
          </a:xfrm>
          <a:prstGeom prst="ellipse">
            <a:avLst/>
          </a:prstGeom>
          <a:solidFill>
            <a:srgbClr val="1B3F6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312664" y="69494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20256" y="1828800"/>
            <a:ext cx="155448" cy="0"/>
          </a:xfrm>
          <a:prstGeom prst="line">
            <a:avLst/>
          </a:prstGeom>
          <a:noFill/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7479792" y="658368"/>
            <a:ext cx="566928" cy="56692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479792" y="69494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02920" y="2926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</a:rPr>
              <a:t>Exemple de prompt – Fabrikam Sales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273552"/>
            <a:ext cx="8229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</a:rPr>
              <a:t>"</a:t>
            </a:r>
            <a:r>
              <a:rPr lang="en-US" sz="1300" i="1" dirty="0">
                <a:solidFill>
                  <a:srgbClr val="FFFFFF"/>
                </a:solidFill>
              </a:rPr>
              <a:t>Generate a report showing Fabrikam monthly revenue by territory group (Europe, North America, Pacific). Include a product category market share donut and a KPI card for YoY sales growth.</a:t>
            </a:r>
            <a:r>
              <a:rPr lang="en-US" sz="1300" b="1" i="1" dirty="0">
                <a:solidFill>
                  <a:srgbClr val="00BCD4"/>
                </a:solidFill>
              </a:rPr>
              <a:t>"</a:t>
            </a:r>
            <a:endParaRPr lang="en-US" sz="1300" i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411D-B62C-7DD1-1B90-AF1CE2333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6B09C-91E0-C508-B7B1-2CF38657D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>
                <a:solidFill>
                  <a:schemeClr val="tx1"/>
                </a:solidFill>
                <a:latin typeface="Aptos"/>
              </a:rPr>
              <a:t>Assister la création</a:t>
            </a:r>
            <a:r>
              <a:rPr lang="fr-FR" sz="3200" b="1" dirty="0">
                <a:solidFill>
                  <a:schemeClr val="tx1"/>
                </a:solidFill>
                <a:latin typeface="Aptos"/>
              </a:rPr>
              <a:t> des pages de rapport</a:t>
            </a:r>
            <a:endParaRPr lang="fr-FR" sz="3200" b="1" i="1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44293A-2BAB-B29E-1C94-D2033E572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323DE39C-8A81-4508-8EC3-8C55B05C4E7E}" type="slidenum">
              <a:rPr lang="fr-FR" sz="1350">
                <a:solidFill>
                  <a:srgbClr val="FFFFFF"/>
                </a:solidFill>
                <a:latin typeface="Segoe UI Semibold"/>
              </a:rPr>
              <a:pPr defTabSz="685800">
                <a:defRPr/>
              </a:pPr>
              <a:t>40</a:t>
            </a:fld>
            <a:endParaRPr lang="fr-FR" sz="135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6794C-EEAD-0C90-9797-EAF62475E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97280"/>
            <a:ext cx="7886700" cy="3535443"/>
          </a:xfr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fr-FR" sz="1800">
                <a:latin typeface="Aptos"/>
                <a:cs typeface="Segoe UI"/>
              </a:rPr>
              <a:t>XXX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705AB097-9B22-33D3-0840-C6A65BF5BA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r>
              <a:rPr lang="fr-FR">
                <a:solidFill>
                  <a:srgbClr val="0070C0"/>
                </a:solidFill>
                <a:cs typeface="Segoe UI"/>
              </a:rPr>
              <a:t>Copilot comme assistant pour l’analyse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8A4957-1C43-0C11-5647-C1B20303A8A7}"/>
              </a:ext>
            </a:extLst>
          </p:cNvPr>
          <p:cNvSpPr txBox="1"/>
          <p:nvPr/>
        </p:nvSpPr>
        <p:spPr>
          <a:xfrm>
            <a:off x="6024388" y="3249368"/>
            <a:ext cx="877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fr-FR" sz="900">
                <a:solidFill>
                  <a:srgbClr val="02023F"/>
                </a:solidFill>
                <a:latin typeface="Segoe UI"/>
              </a:rPr>
              <a:t>*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06F6E7-5DAB-8E30-E539-578842E9A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69" y="921850"/>
            <a:ext cx="7982261" cy="4119359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964947-4CF3-0143-60E0-8D62933957D2}"/>
              </a:ext>
            </a:extLst>
          </p:cNvPr>
          <p:cNvSpPr/>
          <p:nvPr/>
        </p:nvSpPr>
        <p:spPr>
          <a:xfrm>
            <a:off x="6165856" y="1614648"/>
            <a:ext cx="2286038" cy="178421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fr-FR" sz="1350">
              <a:solidFill>
                <a:srgbClr val="FFFFFF"/>
              </a:solidFill>
              <a:latin typeface="Segoe UI"/>
            </a:endParaRPr>
          </a:p>
        </p:txBody>
      </p:sp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3C6E0CB-AA5B-3F06-9631-3FB0A33C3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708" y="15557"/>
            <a:ext cx="30382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3824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1129883-7DDB-41D8-9A3D-1E0CD30A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DE39C-8A81-4508-8EC3-8C55B05C4E7E}" type="slidenum">
              <a:rPr lang="fr-FR" smtClean="0"/>
              <a:pPr/>
              <a:t>41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55CD973-5889-2468-7E27-908D17455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718"/>
            <a:ext cx="9144000" cy="456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62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ADE695-78AE-AD0C-0A15-66D12ADCE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42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1B84157-D6C2-36A9-68C1-229E0C1CE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399" y="0"/>
            <a:ext cx="3105509" cy="51435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2DF4013-C514-27C1-65B2-DB71D1ADE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8867"/>
            <a:ext cx="9144000" cy="454576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0F7A74C-CCEB-B824-AC9E-D0645C0D22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2792" y="3110938"/>
            <a:ext cx="2025876" cy="2032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44969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395450-9E24-5D5C-8502-63CB3154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43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988FB98-A86E-4DD9-5BDB-CC10E033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4123"/>
            <a:ext cx="9144000" cy="455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6607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F4A6B29-2E5D-29B8-F551-E359A26F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44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7A09EBF-B282-8AF6-F248-CA3FBA6BA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867"/>
            <a:ext cx="9144000" cy="454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36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7D661A1-8041-80C3-ACEF-7C9CCC86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45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C2543FF-32D0-102B-E95A-E3E4A84B4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609"/>
            <a:ext cx="9144000" cy="486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241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792CFE1-4AD5-19F9-BBFE-743D66FD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46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6B0C7A0-9A7A-438D-FFC8-8DAD18611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160"/>
            <a:ext cx="9144000" cy="456002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AADC6E6-F94C-E2BE-DB4F-1C4F1996D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301" y="52422"/>
            <a:ext cx="1866593" cy="5143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43641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81AC7F6-58A1-A1D7-834A-3199D9A9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47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E21B5DA-E0D8-BF9C-7215-1AF93659C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880"/>
            <a:ext cx="9144000" cy="453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6039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7D8C156-A946-A73A-788E-713528048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48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956C92C-2D36-0A6B-C818-63894C398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0537"/>
            <a:ext cx="9144000" cy="45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152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AA40D4E-4378-F224-D199-4B56C96F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49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A709C39-6DC3-372A-7236-569AF647F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551"/>
            <a:ext cx="9144000" cy="457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0550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Génération de rapports – Potentiel &amp; Limites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1148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84048" y="932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Potentiel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896112"/>
            <a:ext cx="41148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64608" y="932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Limites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1480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84048" y="1435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Point de départ instantané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7739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Plus besoin de partir d'une page blanche — rapport ébauché en secondes.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11480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2276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Accessible aux non-techniques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6151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Un métier peut créer un rapport sans connaître DAX ni l'éditeur.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54096"/>
            <a:ext cx="411480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84048" y="3118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Encourage le self-service BI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34564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Démocratise la création de rapports dans les équipes métier.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895344"/>
            <a:ext cx="411480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3959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Suggestions pertinentes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42976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Copilot propose des visuels et mesures cohérents avec le modèle.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4114800" cy="749808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64608" y="1435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Pertinence variable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4608" y="17739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Les visuels générés peuvent ne pas correspondre exactement au besoin métier.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212848"/>
            <a:ext cx="4114800" cy="749808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64608" y="2276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Dépend du modèle de données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26151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Si le modèle est mal structuré ou sans mesures, la qualité en souffre.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054096"/>
            <a:ext cx="4114800" cy="749808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64608" y="3118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Pas de charte graphique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34564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Couleurs et mise en forme par défaut — à adapter manuellement.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895344"/>
            <a:ext cx="4114800" cy="749808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64608" y="3959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Accès Build requis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2976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Un simple lecteur ne peut pas générer ni sauvegarder un rapport.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</a:rPr>
              <a:t>Conseil : traitez le rapport généré comme un brouillon — vérifiez chaque mesure et ajustez selon votre charte graphique avant de partager.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FB37-7107-1602-000E-AFC3FE91D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6B906FD7-1A68-1D43-610D-0858F238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Limites des prompts utilisateurs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F16811-AA1C-D3C9-6C68-8221871ED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097280"/>
            <a:ext cx="5121220" cy="3535443"/>
          </a:xfrm>
        </p:spPr>
        <p:txBody>
          <a:bodyPr>
            <a:normAutofit/>
          </a:bodyPr>
          <a:lstStyle/>
          <a:p>
            <a:r>
              <a:rPr lang="fr-FR" dirty="0" err="1"/>
              <a:t>Copilot</a:t>
            </a:r>
            <a:r>
              <a:rPr lang="fr-FR" dirty="0"/>
              <a:t> pour Power BI prend en charge </a:t>
            </a:r>
            <a:r>
              <a:rPr lang="fr-FR" b="1" dirty="0"/>
              <a:t>jusqu’à 10 000 caractères par prompt </a:t>
            </a:r>
            <a:r>
              <a:rPr lang="fr-FR" dirty="0"/>
              <a:t>dans toutes les interfaces </a:t>
            </a:r>
            <a:r>
              <a:rPr lang="fr-FR" dirty="0" err="1"/>
              <a:t>Copilot</a:t>
            </a:r>
            <a:r>
              <a:rPr lang="fr-FR" dirty="0"/>
              <a:t>, y compris l’expérience autonome, le volet </a:t>
            </a:r>
            <a:r>
              <a:rPr lang="fr-FR" dirty="0" err="1"/>
              <a:t>Copilot</a:t>
            </a:r>
            <a:r>
              <a:rPr lang="fr-FR" dirty="0"/>
              <a:t> du rapport, </a:t>
            </a:r>
            <a:r>
              <a:rPr lang="fr-FR" dirty="0" err="1"/>
              <a:t>Copilot</a:t>
            </a:r>
            <a:r>
              <a:rPr lang="fr-FR" dirty="0"/>
              <a:t> dans les applications, Power BI Mobile et Power BI Embedded. </a:t>
            </a:r>
          </a:p>
          <a:p>
            <a:pPr lvl="1"/>
            <a:r>
              <a:rPr lang="fr-FR" dirty="0"/>
              <a:t>fournir des instructions plus longues et plus détaillées, ainsi qu’un contexte plus riche, dans un seul message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BA4351-F54E-0910-B1FC-8B99552214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456BCD6-7E1C-70F0-B1AA-D3D25AC0F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866" y="2860940"/>
            <a:ext cx="2615762" cy="19973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Espace réservé du contenu 3">
            <a:extLst>
              <a:ext uri="{FF2B5EF4-FFF2-40B4-BE49-F238E27FC236}">
                <a16:creationId xmlns:a16="http://schemas.microsoft.com/office/drawing/2014/main" id="{95FA6CA3-28CE-A01F-9D4F-8182F502C468}"/>
              </a:ext>
            </a:extLst>
          </p:cNvPr>
          <p:cNvSpPr txBox="1">
            <a:spLocks/>
          </p:cNvSpPr>
          <p:nvPr/>
        </p:nvSpPr>
        <p:spPr>
          <a:xfrm>
            <a:off x="628650" y="2995004"/>
            <a:ext cx="5606612" cy="353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Tx/>
              <a:buBlip>
                <a:blip r:embed="rId3"/>
              </a:buBlip>
              <a:defRPr sz="15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Tx/>
              <a:buBlip>
                <a:blip r:embed="rId4"/>
              </a:buBlip>
              <a:defRPr sz="135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Power BI </a:t>
            </a:r>
            <a:r>
              <a:rPr lang="fr-FR" dirty="0" err="1"/>
              <a:t>Copilot</a:t>
            </a:r>
            <a:r>
              <a:rPr lang="fr-FR" dirty="0"/>
              <a:t> </a:t>
            </a:r>
            <a:r>
              <a:rPr lang="fr-FR" b="1" dirty="0"/>
              <a:t>ne prend pas en charge les signets </a:t>
            </a:r>
            <a:r>
              <a:rPr lang="fr-FR" dirty="0"/>
              <a:t>(bookmarks).</a:t>
            </a:r>
          </a:p>
          <a:p>
            <a:r>
              <a:rPr lang="fr-FR" dirty="0"/>
              <a:t>Power BI </a:t>
            </a:r>
            <a:r>
              <a:rPr lang="fr-FR" dirty="0" err="1"/>
              <a:t>Copilot</a:t>
            </a:r>
            <a:r>
              <a:rPr lang="fr-FR" b="1" dirty="0"/>
              <a:t> ne prend pas en charge la mise en forme conditionnelle</a:t>
            </a:r>
            <a:r>
              <a:rPr lang="fr-FR" dirty="0"/>
              <a:t>.</a:t>
            </a:r>
          </a:p>
          <a:p>
            <a:r>
              <a:rPr lang="fr-FR" dirty="0"/>
              <a:t>Power BI </a:t>
            </a:r>
            <a:r>
              <a:rPr lang="fr-FR" dirty="0" err="1"/>
              <a:t>Copilot</a:t>
            </a:r>
            <a:r>
              <a:rPr lang="fr-FR" dirty="0"/>
              <a:t> </a:t>
            </a:r>
            <a:r>
              <a:rPr lang="fr-FR" b="1" dirty="0"/>
              <a:t>ne prend pas en charge les fonctionnalités de filtre au niveau du rapport</a:t>
            </a:r>
            <a:r>
              <a:rPr lang="fr-FR" dirty="0"/>
              <a:t>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9324DB0-1C53-42C1-514A-E4D2EA7DA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151" y="1161853"/>
            <a:ext cx="2886478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1340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00BCD4">
                    <a:alpha val="45000"/>
                  </a:srgbClr>
                </a:solidFill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Création de visuels à la volée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BCD4"/>
                </a:solidFill>
              </a:rPr>
              <a:t>Générer des graphiques Power BI depuis une question naturelle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Créer des visuels – Exemples Fabrikam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Dans le volet Copilot, demandez un visuel spécifique — il est généré dynamiquement sur votre modèle Fabrikam 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64008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Barres – Ventes par catégorie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"Show sales by product category as a bar chart"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141732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172968" y="1417320"/>
            <a:ext cx="269748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64408" y="15544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Courbes – Tendance mensuelle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19659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"Monthly revenue trend for Fabrikam brand in 2023"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25896" y="141732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025896" y="141732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117336" y="15544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Carte – CA par pays revendeur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17336" y="19659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"Map the sales amount by country for Fabrikam resellers"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62072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2862072"/>
            <a:ext cx="269748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1480" y="29992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Anneau – Répartition catégories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41071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"Share of each product category in total revenue"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72968" y="2862072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172968" y="2862072"/>
            <a:ext cx="2697480" cy="640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264408" y="29992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Tableau – Top revendeurs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64408" y="341071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"List resellers with their sales amount and margin"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25896" y="2862072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025896" y="2862072"/>
            <a:ext cx="26974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117336" y="29992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KPI card – CA vs objectif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17336" y="341071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"Create a KPI card for YTD Sales vs target"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Les visuels peuvent être épinglés au rapport (accès Build requis) ou exportés comme image. Itérez avec "Transform this into a line chart".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Création de visuels – Potentiel &amp; Limites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1148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84048" y="932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Potentiel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896112"/>
            <a:ext cx="41148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64608" y="932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Limites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1480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84048" y="1435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Création instantanée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7739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Un graphique en quelques secondes sans ouvrir l'éditeur de rapport.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67712"/>
            <a:ext cx="411480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Accessible aux consommateurs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Analyses visuelles sans être auteur ni connaître le modèle en détail.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163824"/>
            <a:ext cx="411480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84048" y="3227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Itération par prompt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3566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"Transform this into a pie chart" — changez le type de visuel naturellement.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059936"/>
            <a:ext cx="411480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41239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Épinglage possible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4462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Un visuel Copilot peut être épinglé à un dashboard Power BI (service).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411480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64608" y="1435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Personnalisation absente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4608" y="17739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Couleurs, thème, polices par défaut. Ajustement manuel toujours nécessaire.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267712"/>
            <a:ext cx="411480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64608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Sauvegarde = accès Build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2670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Sans droits Build, le visuel reste temporaire et n'est pas sauvegardé.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163824"/>
            <a:ext cx="411480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64608" y="3227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Qualité à vérifier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3566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Copilot choisit axes et agrégations — vérifiez toujours la logique métier.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4059936"/>
            <a:ext cx="411480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64608" y="41239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Visuels standards uniquement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462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Pas de custom visuals tiers (AppSource). Uniquement les visuels Power BI natifs.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00BCD4">
                    <a:alpha val="45000"/>
                  </a:srgbClr>
                </a:solidFill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Sécurité, Limites &amp; Bonnes pratiques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BCD4"/>
                </a:solidFill>
              </a:rPr>
              <a:t>Ce que Copilot ne peut pas faire – et comment l'utiliser intelligemment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Sécurité et confidentialité avec Copilot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4206240" cy="11887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64008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84632" y="1024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RLS respecté à 100%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4356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Copilot ne montre que les données autorisées par votre rôle. La sécurité du modèle s'applique à toutes les réponses.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27448" y="932688"/>
            <a:ext cx="4206240" cy="118872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27448" y="932688"/>
            <a:ext cx="64008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92040" y="1024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Traitement via Azure OpenAI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356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Les métadonnées et données sont envoyées à Azure OpenAI. Vérifiez la conformité si vos données sont sensibles.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206240" cy="118872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64008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Données hors zone géographique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27889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Si le tenant est hors US/EU, activez le paramètre "Data processed outside geographic region" dans l'admin Fabric.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27448" y="2286000"/>
            <a:ext cx="420624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27448" y="2286000"/>
            <a:ext cx="64008" cy="1188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9204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RGPD et conformité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7889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Microsoft s'engage à ne pas utiliser vos données pour entraîner les modèles IA. Consultez la politique Fabric.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639312"/>
            <a:ext cx="4206240" cy="11887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3639312"/>
            <a:ext cx="64008" cy="1188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4632" y="3730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Traçabilité des usages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" y="41422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Les admins peuvent suivre la consommation Copilot via le Fabric Capacity Metrics app (en Capacity Units).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27448" y="3639312"/>
            <a:ext cx="4206240" cy="11887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27448" y="3639312"/>
            <a:ext cx="64008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92040" y="3730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Données cloisonnées par utilisateur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1422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Les réponses Copilot sont scoped aux permissions individuelles — un utilisateur ne voit jamais les données d'un autre.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Préparer son </a:t>
            </a:r>
            <a:r>
              <a:rPr lang="en-US" sz="2100" b="1" dirty="0" err="1">
                <a:solidFill>
                  <a:srgbClr val="FFFFFF"/>
                </a:solidFill>
              </a:rPr>
              <a:t>modèle</a:t>
            </a:r>
            <a:r>
              <a:rPr lang="en-US" sz="2100" b="1" dirty="0">
                <a:solidFill>
                  <a:srgbClr val="FFFFFF"/>
                </a:solidFill>
              </a:rPr>
              <a:t> </a:t>
            </a:r>
            <a:r>
              <a:rPr lang="en-US" sz="2100" b="1" dirty="0" err="1">
                <a:solidFill>
                  <a:srgbClr val="FFFFFF"/>
                </a:solidFill>
              </a:rPr>
              <a:t>sémantique</a:t>
            </a:r>
            <a:r>
              <a:rPr lang="en-US" sz="2100" b="1" dirty="0">
                <a:solidFill>
                  <a:srgbClr val="FFFFFF"/>
                </a:solidFill>
              </a:rPr>
              <a:t> pour Copilot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La qualité de Copilot dépend directement de la qualité du modèle sémantique. Bonnes pratiques recommandées par Microsoft 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2062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64008" cy="10058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4632" y="1554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Noms explicites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938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"SalesAmt" → "Sales Amount (€)" — nommez avec des termes métier compréhensibles.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27448" y="1463040"/>
            <a:ext cx="42062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27448" y="1463040"/>
            <a:ext cx="64008" cy="10058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Descriptions des mesures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938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Ajoutez une description textuelle à chaque mesure DAX. Copilot les utilise comme contexte.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42062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" y="2606040"/>
            <a:ext cx="64008" cy="10058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4632" y="2697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Synonymes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3081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"CA" = "Chiffre d'Affaires" = "Revenue" — définissez les équivalences dans le modèle.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27448" y="2606040"/>
            <a:ext cx="42062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727448" y="2606040"/>
            <a:ext cx="64008" cy="10058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92040" y="2697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Dossiers de mesures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081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Organisez par dossiers thématiques : Ventes, Marges, Volumes… pour guider Copilot.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49040"/>
            <a:ext cx="42062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" y="3749040"/>
            <a:ext cx="64008" cy="10058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4632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Masquer les colonnes techniques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Cachez les clés et colonnes non-métier pour réduire le bruit dans les réponses.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27448" y="3749040"/>
            <a:ext cx="42062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27448" y="3749040"/>
            <a:ext cx="64008" cy="10058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92040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Instructions IA </a:t>
            </a:r>
            <a:r>
              <a:rPr lang="en-US" sz="1300" b="1" dirty="0" err="1">
                <a:solidFill>
                  <a:srgbClr val="1E293B"/>
                </a:solidFill>
              </a:rPr>
              <a:t>personnalisées</a:t>
            </a:r>
            <a:r>
              <a:rPr lang="en-US" sz="1300" b="1" dirty="0">
                <a:solidFill>
                  <a:srgbClr val="1E293B"/>
                </a:solidFill>
              </a:rPr>
              <a:t> (preview)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Définissez des instructions custom : "Toujours afficher en K€" ou "Priorité à la marge brute".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Bonnes pratiques pour les consommateurs de données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420624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29768" y="1097280"/>
            <a:ext cx="548640" cy="5486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29768" y="1115568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4241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Soyez précis dans vos prompts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Spécifiez l'année, la région, le produit. "Sales 2023 Europe Computers" &gt; "Sales".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27448" y="932688"/>
            <a:ext cx="420624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837176" y="1097280"/>
            <a:ext cx="548640" cy="5486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37176" y="1115568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04688" y="104241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Préférez l'anglais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04688" y="146304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Jusqu'à la disponibilité officielle du français, l'anglais garantit les meilleures réponses.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420624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29768" y="2450592"/>
            <a:ext cx="548640" cy="5486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29768" y="24688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39572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Vérifiez toujours les chiffres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816352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Validez les résultats critiques contre le rapport source — Copilot peut se tromper.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27448" y="2286000"/>
            <a:ext cx="420624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37176" y="2450592"/>
            <a:ext cx="548640" cy="5486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37176" y="24688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04688" y="239572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Commencez large, affinez ensuite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4688" y="2816352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Naviguez progressivement : question globale → détail par produit → comparaison temporelle.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420624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29768" y="3803904"/>
            <a:ext cx="548640" cy="5486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29768" y="382219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374904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Clear Chat entre sujets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169664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Évitez de surcharger Copilot avec un contexte non pertinent entre deux analyses.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27448" y="3639312"/>
            <a:ext cx="420624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837176" y="3803904"/>
            <a:ext cx="548640" cy="5486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37176" y="382219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04688" y="374904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Jamais de diffusion sans relecture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04688" y="4169664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Résumés, narratifs et réponses Copilot doivent être validés avant toute communication officielle.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Tableau récapitulatif des limites par fonctionnalité</a:t>
            </a:r>
            <a:endParaRPr lang="en-US" sz="2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32688"/>
          <a:ext cx="8412480" cy="17221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Fonctionnalité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Limite principale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Contournement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F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Génération rapport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Dépend du modèle de données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Élevé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Préparer le modèle (noms, mesures, descriptions)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Q&amp;A conversationnel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Anglais recommandé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Moyen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Utiliser l'anglais pour les prompts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Résumés automatiques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Sortie en anglais par défaut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Moyen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Relire, traduire, valider avant diffusion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Création de visuels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Accès Build requis pour sauvegarder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Faible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Usage temporaire ou export en image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Agent autonome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Préversion – région limitée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Élevé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Volet rapport pour les besoins urgents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Génération DAX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Formules à valider manuellement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Élevé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Toujours tester les mesures générées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Roadmap – Ce qui arrive dans Copilot pour Power BI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Selon les annonces Microsoft Build 2025 et la roadmap publique Microsoft Fabric 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20624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4632" y="1399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GA récent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" y="16550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Volet Copilot dans les rapports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039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4748B"/>
                </a:solidFill>
              </a:rPr>
              <a:t>Disponibilité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générale</a:t>
            </a:r>
            <a:r>
              <a:rPr lang="en-US" sz="1100" dirty="0">
                <a:solidFill>
                  <a:srgbClr val="64748B"/>
                </a:solidFill>
              </a:rPr>
              <a:t> — résumés et Q&amp;A dans le volet rapport.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7448" y="1325880"/>
            <a:ext cx="420624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27448" y="1325880"/>
            <a:ext cx="64008" cy="10972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92040" y="1399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4C7"/>
                </a:solidFill>
              </a:rPr>
              <a:t>Preview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16550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Copilot Agent </a:t>
            </a:r>
            <a:r>
              <a:rPr lang="en-US" sz="1300" b="1" dirty="0" err="1">
                <a:solidFill>
                  <a:srgbClr val="1E293B"/>
                </a:solidFill>
              </a:rPr>
              <a:t>autonome</a:t>
            </a:r>
            <a:r>
              <a:rPr lang="en-US" sz="1300" b="1" dirty="0">
                <a:solidFill>
                  <a:srgbClr val="1E293B"/>
                </a:solidFill>
              </a:rPr>
              <a:t> (standalone)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039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Expérience plein écran multi-artefacts depuis la navigation Fabric.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560320"/>
            <a:ext cx="420624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64008" cy="10972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4632" y="2633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4C7"/>
                </a:solidFill>
              </a:rPr>
              <a:t>Preview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" y="28895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Copilot dans les Apps Power BI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3273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Q&amp;A dans le périmètre d'une app avec réponses vérifiées.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27448" y="2560320"/>
            <a:ext cx="4206240" cy="109728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27448" y="256032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92040" y="2633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Preview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8895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Power BI Mobile – Copilot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273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Accès aux fonctionnalités Copilot depuis l'app mobile iOS/Android.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794760"/>
            <a:ext cx="4206240" cy="109728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3794760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4632" y="38679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À venir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" y="41239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Support multilingue officiel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" y="4507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Prise en charge étendue du français et autres langues dans les réponses.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27448" y="3794760"/>
            <a:ext cx="420624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727448" y="3794760"/>
            <a:ext cx="64008" cy="10972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92040" y="38679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</a:rPr>
              <a:t>En </a:t>
            </a:r>
            <a:r>
              <a:rPr lang="en-US" sz="900" b="1" dirty="0" err="1">
                <a:solidFill>
                  <a:srgbClr val="B45309"/>
                </a:solidFill>
              </a:rPr>
              <a:t>parallèle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41239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 Agents Fabric personnalisés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4507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Créez vos propres agents IA connectés à des sources de données métier.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E0859C-0EED-0428-B681-6EA5720C2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A5332C-8AF7-F6C4-1257-B5A917DF723A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8BCA51-3CA3-F172-3ECD-DE97CE55C2B1}"/>
              </a:ext>
            </a:extLst>
          </p:cNvPr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69814D-DE8E-A5A4-0EA8-10EC561DD137}"/>
              </a:ext>
            </a:extLst>
          </p:cNvPr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résumé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E05E38-223E-C297-36DC-5CDA5743A972}"/>
              </a:ext>
            </a:extLst>
          </p:cNvPr>
          <p:cNvSpPr/>
          <p:nvPr/>
        </p:nvSpPr>
        <p:spPr>
          <a:xfrm>
            <a:off x="457200" y="11430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Copilot pour </a:t>
            </a: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BI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1627122-77FF-FFE0-1C4B-6C2C21B7FE83}"/>
              </a:ext>
            </a:extLst>
          </p:cNvPr>
          <p:cNvSpPr/>
          <p:nvPr/>
        </p:nvSpPr>
        <p:spPr>
          <a:xfrm>
            <a:off x="457200" y="2331720"/>
            <a:ext cx="64008" cy="32918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678C5D-BFDA-2CE2-8A36-31020D09F67B}"/>
              </a:ext>
            </a:extLst>
          </p:cNvPr>
          <p:cNvSpPr/>
          <p:nvPr/>
        </p:nvSpPr>
        <p:spPr>
          <a:xfrm>
            <a:off x="658368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 assistant IA puissant pour tout consommateur de données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8802EF3-4D2D-DECB-191D-A2B3F38A83D3}"/>
              </a:ext>
            </a:extLst>
          </p:cNvPr>
          <p:cNvSpPr/>
          <p:nvPr/>
        </p:nvSpPr>
        <p:spPr>
          <a:xfrm>
            <a:off x="457200" y="2788920"/>
            <a:ext cx="64008" cy="32918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50678FE-CEC3-53B9-F7E7-1BEA0FE29E9F}"/>
              </a:ext>
            </a:extLst>
          </p:cNvPr>
          <p:cNvSpPr/>
          <p:nvPr/>
        </p:nvSpPr>
        <p:spPr>
          <a:xfrm>
            <a:off x="658368" y="2788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Q&amp;A, génération de rapports, résumés, visuels — tout en langage naturel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E1E26A8-8A41-FB59-D817-B6BE538228DD}"/>
              </a:ext>
            </a:extLst>
          </p:cNvPr>
          <p:cNvSpPr/>
          <p:nvPr/>
        </p:nvSpPr>
        <p:spPr>
          <a:xfrm>
            <a:off x="457200" y="3246120"/>
            <a:ext cx="64008" cy="32918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5E17568-FF94-4615-459C-65B1D4CAE192}"/>
              </a:ext>
            </a:extLst>
          </p:cNvPr>
          <p:cNvSpPr/>
          <p:nvPr/>
        </p:nvSpPr>
        <p:spPr>
          <a:xfrm>
            <a:off x="658368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Respect intégral de la sécurité RLS et des permissions Power BI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7669565-F17B-BDE7-60DB-CD373654A418}"/>
              </a:ext>
            </a:extLst>
          </p:cNvPr>
          <p:cNvSpPr/>
          <p:nvPr/>
        </p:nvSpPr>
        <p:spPr>
          <a:xfrm>
            <a:off x="457200" y="3703320"/>
            <a:ext cx="64008" cy="32918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2FF73D0-B3C2-027F-B531-F2670DD6AA69}"/>
              </a:ext>
            </a:extLst>
          </p:cNvPr>
          <p:cNvSpPr/>
          <p:nvPr/>
        </p:nvSpPr>
        <p:spPr>
          <a:xfrm>
            <a:off x="658368" y="3703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Qualité directement liée à la préparation du modèle sémantique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E713CA5-7845-D95A-24DA-FBCD91533A0D}"/>
              </a:ext>
            </a:extLst>
          </p:cNvPr>
          <p:cNvSpPr/>
          <p:nvPr/>
        </p:nvSpPr>
        <p:spPr>
          <a:xfrm>
            <a:off x="457200" y="4160520"/>
            <a:ext cx="64008" cy="32918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8B7708C-CF0A-85B7-362F-32C1FCADBDC3}"/>
              </a:ext>
            </a:extLst>
          </p:cNvPr>
          <p:cNvSpPr/>
          <p:nvPr/>
        </p:nvSpPr>
        <p:spPr>
          <a:xfrm>
            <a:off x="658368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Toujours valider les sorties Copilot avant toute diffusion officielle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98D8BC9-9D6F-8836-9695-7E23669FE01F}"/>
              </a:ext>
            </a:extLst>
          </p:cNvPr>
          <p:cNvSpPr/>
          <p:nvPr/>
        </p:nvSpPr>
        <p:spPr>
          <a:xfrm>
            <a:off x="457200" y="4773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8FA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Paul PETON  |  ppeton@expertime.com  |  Expertime DATA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50861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Le modèle Fabrikam – Contexte métier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Fabrikam est un distributeur de produits électroniques. Le modèle Power BI couvre ses ventes, revendeurs, produits, clients et territoires.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41148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892808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SalesAmount · SalesOrders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AvgPrice · InvoiceDate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OrderDate · SalesPersonID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74320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91840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892808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ProductKey · ProductName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Category · Brand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StandardCost · Color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172200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Reseller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1892808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ResellerKey · 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Phone · AddressLine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City · Country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17296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3172968"/>
            <a:ext cx="274320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1480" y="32369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3648456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CustomerKey · 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Email · Country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BirthDate · Occupation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17296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0" y="3172968"/>
            <a:ext cx="274320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291840" y="32369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Territory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3648456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TerritoryKey · Group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Region · Country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Continent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317296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080760" y="3172968"/>
            <a:ext cx="274320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172200" y="32369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72200" y="3648456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DateKey · Date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Year · Quarter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Month · WeekNumber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908584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9BC567A-701E-BB66-F846-213E4C3B10D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05850" y="4767263"/>
            <a:ext cx="438150" cy="274637"/>
          </a:xfrm>
          <a:prstGeom prst="rect">
            <a:avLst/>
          </a:prstGeom>
        </p:spPr>
        <p:txBody>
          <a:bodyPr/>
          <a:lstStyle/>
          <a:p>
            <a:pPr defTabSz="685800"/>
            <a:fld id="{323DE39C-8A81-4508-8EC3-8C55B05C4E7E}" type="slidenum">
              <a:rPr lang="fr-FR" sz="1350">
                <a:solidFill>
                  <a:srgbClr val="FFFFFF"/>
                </a:solidFill>
                <a:latin typeface="Segoe UI Semibold"/>
              </a:rPr>
              <a:pPr defTabSz="685800"/>
              <a:t>63</a:t>
            </a:fld>
            <a:endParaRPr lang="fr-FR" sz="1350">
              <a:solidFill>
                <a:srgbClr val="FFFFFF"/>
              </a:solidFill>
              <a:latin typeface="Segoe UI Semibold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6B4E3E8-2B2B-C783-548E-71C0181C5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922"/>
            <a:ext cx="9144000" cy="444765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37EABA-6362-109F-A2E1-D1C910974ED4}"/>
              </a:ext>
            </a:extLst>
          </p:cNvPr>
          <p:cNvSpPr txBox="1"/>
          <p:nvPr/>
        </p:nvSpPr>
        <p:spPr>
          <a:xfrm>
            <a:off x="1434538" y="4109490"/>
            <a:ext cx="682110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fr-FR" sz="1350" dirty="0">
                <a:solidFill>
                  <a:srgbClr val="02023F"/>
                </a:solidFill>
                <a:latin typeface="Segoe UI"/>
                <a:hlinkClick r:id="rId4"/>
              </a:rPr>
              <a:t>fabconeu-2025-dataagent-tutorial/</a:t>
            </a:r>
            <a:r>
              <a:rPr lang="fr-FR" sz="1350" dirty="0" err="1">
                <a:solidFill>
                  <a:srgbClr val="02023F"/>
                </a:solidFill>
                <a:latin typeface="Segoe UI"/>
                <a:hlinkClick r:id="rId4"/>
              </a:rPr>
              <a:t>Lab</a:t>
            </a:r>
            <a:r>
              <a:rPr lang="fr-FR" sz="1350" dirty="0">
                <a:solidFill>
                  <a:srgbClr val="02023F"/>
                </a:solidFill>
                <a:latin typeface="Segoe UI"/>
                <a:hlinkClick r:id="rId4"/>
              </a:rPr>
              <a:t> 4/</a:t>
            </a:r>
            <a:r>
              <a:rPr lang="fr-FR" sz="1350" dirty="0" err="1">
                <a:solidFill>
                  <a:srgbClr val="02023F"/>
                </a:solidFill>
                <a:latin typeface="Segoe UI"/>
                <a:hlinkClick r:id="rId4"/>
              </a:rPr>
              <a:t>Fabrikam</a:t>
            </a:r>
            <a:r>
              <a:rPr lang="fr-FR" sz="1350" dirty="0">
                <a:solidFill>
                  <a:srgbClr val="02023F"/>
                </a:solidFill>
                <a:latin typeface="Segoe UI"/>
                <a:hlinkClick r:id="rId4"/>
              </a:rPr>
              <a:t> </a:t>
            </a:r>
            <a:r>
              <a:rPr lang="fr-FR" sz="1350" dirty="0" err="1">
                <a:solidFill>
                  <a:srgbClr val="02023F"/>
                </a:solidFill>
                <a:latin typeface="Segoe UI"/>
                <a:hlinkClick r:id="rId4"/>
              </a:rPr>
              <a:t>Company</a:t>
            </a:r>
            <a:r>
              <a:rPr lang="fr-FR" sz="1350" dirty="0">
                <a:solidFill>
                  <a:srgbClr val="02023F"/>
                </a:solidFill>
                <a:latin typeface="Segoe UI"/>
                <a:hlinkClick r:id="rId4"/>
              </a:rPr>
              <a:t> Sales </a:t>
            </a:r>
            <a:r>
              <a:rPr lang="fr-FR" sz="1350" dirty="0" err="1">
                <a:solidFill>
                  <a:srgbClr val="02023F"/>
                </a:solidFill>
                <a:latin typeface="Segoe UI"/>
                <a:hlinkClick r:id="rId4"/>
              </a:rPr>
              <a:t>Report.pbix</a:t>
            </a:r>
            <a:r>
              <a:rPr lang="fr-FR" sz="1350" dirty="0">
                <a:solidFill>
                  <a:srgbClr val="02023F"/>
                </a:solidFill>
                <a:latin typeface="Segoe UI"/>
                <a:hlinkClick r:id="rId4"/>
              </a:rPr>
              <a:t> at main · </a:t>
            </a:r>
            <a:r>
              <a:rPr lang="fr-FR" sz="1350" dirty="0" err="1">
                <a:solidFill>
                  <a:srgbClr val="02023F"/>
                </a:solidFill>
                <a:latin typeface="Segoe UI"/>
                <a:hlinkClick r:id="rId4"/>
              </a:rPr>
              <a:t>msft-shreyas</a:t>
            </a:r>
            <a:r>
              <a:rPr lang="fr-FR" sz="1350" dirty="0">
                <a:solidFill>
                  <a:srgbClr val="02023F"/>
                </a:solidFill>
                <a:latin typeface="Segoe UI"/>
                <a:hlinkClick r:id="rId4"/>
              </a:rPr>
              <a:t>/fabconeu-2025-dataagent-tutorial</a:t>
            </a:r>
            <a:endParaRPr lang="fr-FR" sz="1350" dirty="0">
              <a:solidFill>
                <a:srgbClr val="02023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662853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924429E-4B32-2020-FD1B-E609EEAB8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580" y="0"/>
            <a:ext cx="529084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655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10CF08-ABA9-648E-68D4-9A3652FD6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E751F7-4A1D-00F3-4A24-3D3AF236B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370" y="0"/>
            <a:ext cx="341925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984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3ED1B-9834-5D29-A518-B15B95F5A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itle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>
                <a:solidFill>
                  <a:srgbClr val="FFFFFF"/>
                </a:solidFill>
              </a:rPr>
              <a:t>Copilote pour les créateurs de rapports :</a:t>
            </a:r>
            <a:br>
              <a:rPr lang="fr-FR" sz="1500" b="1">
                <a:solidFill>
                  <a:srgbClr val="FFFFFF"/>
                </a:solidFill>
              </a:rPr>
            </a:br>
            <a:r>
              <a:rPr lang="fr-FR" sz="1500" b="1">
                <a:solidFill>
                  <a:srgbClr val="FFFFFF"/>
                </a:solidFill>
              </a:rPr>
              <a:t>Créez des rapports et améliorez vos modèles</a:t>
            </a:r>
          </a:p>
        </p:txBody>
      </p:sp>
      <p:sp>
        <p:nvSpPr>
          <p:cNvPr id="4" name="Subtitle"/>
          <p:cNvSpPr/>
          <p:nvPr/>
        </p:nvSpPr>
        <p:spPr>
          <a:xfrm>
            <a:off x="365760" y="900000"/>
            <a:ext cx="841248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>
                <a:solidFill>
                  <a:srgbClr val="64748B"/>
                </a:solidFill>
              </a:rPr>
              <a:t>Exemples de prompts pour les pages de rapports :</a:t>
            </a:r>
            <a:endParaRPr lang="fr-FR" sz="1200" i="1"/>
          </a:p>
        </p:txBody>
      </p:sp>
      <p:sp>
        <p:nvSpPr>
          <p:cNvPr id="10" name="Card BG 1"/>
          <p:cNvSpPr/>
          <p:nvPr/>
        </p:nvSpPr>
        <p:spPr>
          <a:xfrm>
            <a:off x="320040" y="1270000"/>
            <a:ext cx="8503920" cy="7000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Accent 1"/>
          <p:cNvSpPr/>
          <p:nvPr/>
        </p:nvSpPr>
        <p:spPr>
          <a:xfrm>
            <a:off x="320040" y="1270000"/>
            <a:ext cx="64008" cy="700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Label 1"/>
          <p:cNvSpPr/>
          <p:nvPr/>
        </p:nvSpPr>
        <p:spPr>
          <a:xfrm>
            <a:off x="484632" y="1325000"/>
            <a:ext cx="8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6A34A"/>
                </a:solidFill>
              </a:rPr>
              <a:t>Analyse des ventes</a:t>
            </a:r>
            <a:endParaRPr lang="fr-FR" sz="900" b="1"/>
          </a:p>
        </p:txBody>
      </p:sp>
      <p:sp>
        <p:nvSpPr>
          <p:cNvPr id="13" name="Body 1"/>
          <p:cNvSpPr/>
          <p:nvPr/>
        </p:nvSpPr>
        <p:spPr>
          <a:xfrm>
            <a:off x="484632" y="1545000"/>
            <a:ext cx="8160000" cy="4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"Create a page to analyze the sales amount, revenue, and profit margin of different products, categories, and subcategories over time and across regions.“</a:t>
            </a:r>
            <a:endParaRPr lang="en-US" sz="900" i="1"/>
          </a:p>
        </p:txBody>
      </p:sp>
      <p:sp>
        <p:nvSpPr>
          <p:cNvPr id="20" name="Card BG 2"/>
          <p:cNvSpPr/>
          <p:nvPr/>
        </p:nvSpPr>
        <p:spPr>
          <a:xfrm>
            <a:off x="320040" y="2030000"/>
            <a:ext cx="8503920" cy="7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Accent 2"/>
          <p:cNvSpPr/>
          <p:nvPr/>
        </p:nvSpPr>
        <p:spPr>
          <a:xfrm>
            <a:off x="320040" y="2030000"/>
            <a:ext cx="64008" cy="7000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Label 2"/>
          <p:cNvSpPr/>
          <p:nvPr/>
        </p:nvSpPr>
        <p:spPr>
          <a:xfrm>
            <a:off x="484632" y="2085000"/>
            <a:ext cx="8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0284C7"/>
                </a:solidFill>
              </a:rPr>
              <a:t>Segmentation clients</a:t>
            </a:r>
            <a:endParaRPr lang="fr-FR" sz="900" b="1"/>
          </a:p>
        </p:txBody>
      </p:sp>
      <p:sp>
        <p:nvSpPr>
          <p:cNvPr id="23" name="Body 2"/>
          <p:cNvSpPr/>
          <p:nvPr/>
        </p:nvSpPr>
        <p:spPr>
          <a:xfrm>
            <a:off x="484632" y="2305000"/>
            <a:ext cx="8160000" cy="4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"Create a page to identify and compare the characteristics, behaviors, and preferences of different customer segments based on demographic, geographic, and transactional data."</a:t>
            </a:r>
            <a:endParaRPr lang="en-US" sz="900" i="1"/>
          </a:p>
        </p:txBody>
      </p:sp>
      <p:sp>
        <p:nvSpPr>
          <p:cNvPr id="30" name="Card BG 3"/>
          <p:cNvSpPr/>
          <p:nvPr/>
        </p:nvSpPr>
        <p:spPr>
          <a:xfrm>
            <a:off x="320040" y="2790000"/>
            <a:ext cx="8503920" cy="70000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Accent 3"/>
          <p:cNvSpPr/>
          <p:nvPr/>
        </p:nvSpPr>
        <p:spPr>
          <a:xfrm>
            <a:off x="320040" y="2790000"/>
            <a:ext cx="64008" cy="700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Label 3"/>
          <p:cNvSpPr/>
          <p:nvPr/>
        </p:nvSpPr>
        <p:spPr>
          <a:xfrm>
            <a:off x="484632" y="2845000"/>
            <a:ext cx="8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7C3AED"/>
                </a:solidFill>
              </a:rPr>
              <a:t>ROI des promotions</a:t>
            </a:r>
            <a:endParaRPr lang="fr-FR" sz="900" b="1"/>
          </a:p>
        </p:txBody>
      </p:sp>
      <p:sp>
        <p:nvSpPr>
          <p:cNvPr id="33" name="Body 3"/>
          <p:cNvSpPr/>
          <p:nvPr/>
        </p:nvSpPr>
        <p:spPr>
          <a:xfrm>
            <a:off x="484632" y="3065000"/>
            <a:ext cx="8160000" cy="4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"Create a page to evaluate the impact and return on investment of various promotions on sales, revenue, and customer acquisition and retention.“</a:t>
            </a:r>
            <a:endParaRPr lang="en-US" sz="900" i="1"/>
          </a:p>
        </p:txBody>
      </p:sp>
      <p:sp>
        <p:nvSpPr>
          <p:cNvPr id="40" name="Card BG 4"/>
          <p:cNvSpPr/>
          <p:nvPr/>
        </p:nvSpPr>
        <p:spPr>
          <a:xfrm>
            <a:off x="320040" y="3550000"/>
            <a:ext cx="8503920" cy="70000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Accent 4"/>
          <p:cNvSpPr/>
          <p:nvPr/>
        </p:nvSpPr>
        <p:spPr>
          <a:xfrm>
            <a:off x="320040" y="3550000"/>
            <a:ext cx="64008" cy="700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Label 4"/>
          <p:cNvSpPr/>
          <p:nvPr/>
        </p:nvSpPr>
        <p:spPr>
          <a:xfrm>
            <a:off x="484632" y="3605000"/>
            <a:ext cx="8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D97706"/>
                </a:solidFill>
              </a:rPr>
              <a:t>Gestion des stocks</a:t>
            </a:r>
            <a:endParaRPr lang="fr-FR" sz="900" b="1"/>
          </a:p>
        </p:txBody>
      </p:sp>
      <p:sp>
        <p:nvSpPr>
          <p:cNvPr id="43" name="Body 4"/>
          <p:cNvSpPr/>
          <p:nvPr/>
        </p:nvSpPr>
        <p:spPr>
          <a:xfrm>
            <a:off x="484632" y="3825000"/>
            <a:ext cx="8160000" cy="4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"Create a page to monitor and optimize the inventory levels, reorder points, safety stock, and product costs of different products and product lines based on demand, lead time, and manufacturing costs.“</a:t>
            </a:r>
            <a:endParaRPr lang="en-US" sz="900" i="1"/>
          </a:p>
        </p:txBody>
      </p:sp>
      <p:sp>
        <p:nvSpPr>
          <p:cNvPr id="50" name="Card BG 5"/>
          <p:cNvSpPr/>
          <p:nvPr/>
        </p:nvSpPr>
        <p:spPr>
          <a:xfrm>
            <a:off x="320040" y="4310000"/>
            <a:ext cx="8503920" cy="700000"/>
          </a:xfrm>
          <a:prstGeom prst="rect">
            <a:avLst/>
          </a:prstGeom>
          <a:solidFill>
            <a:srgbClr val="FD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Accent 5"/>
          <p:cNvSpPr/>
          <p:nvPr/>
        </p:nvSpPr>
        <p:spPr>
          <a:xfrm>
            <a:off x="320040" y="4310000"/>
            <a:ext cx="64008" cy="7000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Label 5"/>
          <p:cNvSpPr/>
          <p:nvPr/>
        </p:nvSpPr>
        <p:spPr>
          <a:xfrm>
            <a:off x="484632" y="4365000"/>
            <a:ext cx="8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DB2777"/>
                </a:solidFill>
              </a:rPr>
              <a:t>Table des matières</a:t>
            </a:r>
            <a:endParaRPr lang="fr-FR" sz="900" b="1"/>
          </a:p>
        </p:txBody>
      </p:sp>
      <p:sp>
        <p:nvSpPr>
          <p:cNvPr id="53" name="Body 5"/>
          <p:cNvSpPr/>
          <p:nvPr/>
        </p:nvSpPr>
        <p:spPr>
          <a:xfrm>
            <a:off x="484632" y="4585000"/>
            <a:ext cx="8160000" cy="4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"Make a table of contents for this report that contains a brief description of what each page is about."</a:t>
            </a:r>
            <a:endParaRPr lang="en-US" sz="900" i="1"/>
          </a:p>
        </p:txBody>
      </p:sp>
    </p:spTree>
    <p:extLst>
      <p:ext uri="{BB962C8B-B14F-4D97-AF65-F5344CB8AC3E}">
        <p14:creationId xmlns:p14="http://schemas.microsoft.com/office/powerpoint/2010/main" val="10012665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D5A385-74BA-9AB8-8E78-E022CE50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400" b="1" dirty="0" err="1"/>
              <a:t>Copilot</a:t>
            </a:r>
            <a:r>
              <a:rPr lang="fr-FR" sz="2400" b="1" dirty="0"/>
              <a:t> pour les créateurs de rapports :</a:t>
            </a:r>
            <a:br>
              <a:rPr lang="fr-FR" sz="2400" b="1" dirty="0"/>
            </a:br>
            <a:r>
              <a:rPr lang="fr-FR" sz="2400" b="1" dirty="0"/>
              <a:t>Créez des rapports et améliorez vos modèles</a:t>
            </a:r>
            <a:endParaRPr lang="fr-FR" sz="24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A49E9A-1BBA-AAE4-1964-EC284952A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Les auteurs de rapports peuvent utiliser </a:t>
            </a:r>
            <a:r>
              <a:rPr lang="fr-FR" dirty="0" err="1"/>
              <a:t>Copilot</a:t>
            </a:r>
            <a:r>
              <a:rPr lang="fr-FR" dirty="0"/>
              <a:t> de plusieurs manières, telles que les tâches suivantes :</a:t>
            </a:r>
          </a:p>
          <a:p>
            <a:pPr lvl="1"/>
            <a:r>
              <a:rPr lang="en-US" dirty="0">
                <a:hlinkClick r:id="rId3"/>
              </a:rPr>
              <a:t>Create and edit a report</a:t>
            </a:r>
            <a:endParaRPr lang="en-US" dirty="0"/>
          </a:p>
          <a:p>
            <a:pPr lvl="2"/>
            <a:r>
              <a:rPr lang="en-US" dirty="0"/>
              <a:t>Learn how to </a:t>
            </a:r>
            <a:r>
              <a:rPr lang="en-US" dirty="0">
                <a:hlinkClick r:id="rId4"/>
              </a:rPr>
              <a:t>Write Copilot prompts for creating report pages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Summarize the underlying semantic model</a:t>
            </a:r>
            <a:endParaRPr lang="en-US" dirty="0"/>
          </a:p>
          <a:p>
            <a:pPr lvl="1"/>
            <a:r>
              <a:rPr lang="en-US" u="sng" dirty="0">
                <a:hlinkClick r:id="rId6"/>
              </a:rPr>
              <a:t>Create a summary visual on the report itself</a:t>
            </a:r>
            <a:endParaRPr lang="en-US" dirty="0"/>
          </a:p>
          <a:p>
            <a:pPr lvl="1"/>
            <a:r>
              <a:rPr lang="en-US" dirty="0"/>
              <a:t>Write </a:t>
            </a:r>
            <a:r>
              <a:rPr lang="en-US" dirty="0">
                <a:hlinkClick r:id="rId7"/>
              </a:rPr>
              <a:t>DAX queries</a:t>
            </a:r>
            <a:endParaRPr lang="en-US" dirty="0"/>
          </a:p>
          <a:p>
            <a:pPr lvl="1"/>
            <a:r>
              <a:rPr lang="en-US" dirty="0">
                <a:hlinkClick r:id="rId8"/>
              </a:rPr>
              <a:t>Add descriptions for your semantic model measures</a:t>
            </a:r>
            <a:endParaRPr lang="en-US" dirty="0"/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018D9303-E692-4A5A-CBB3-FE5FCF2CE8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3956" y="2635767"/>
            <a:ext cx="2217041" cy="22607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55AD784-B70B-1D4F-E0E4-0059E06A14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7356" y="1097280"/>
            <a:ext cx="8109288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768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EBE50A-AF51-6DE4-5F9E-023EEF291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B451E76-D31B-87B9-BE0D-8B21E2C1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68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08B8095-E224-3CB1-74A6-D1E23F7A7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081" y="0"/>
            <a:ext cx="394783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4558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E3E5413-F230-92E7-B54E-C6469267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69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8584A41-017A-6192-44F2-2D4AC9D1F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151"/>
            <a:ext cx="9144000" cy="456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997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BB005BB-E22F-EFD4-DE54-B6BF70236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70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FF3469A-E517-FFF5-C6E6-30F9FA996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923"/>
            <a:ext cx="9144000" cy="455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6667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9DD707-8DE7-5F39-9F8E-F47CC864C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E3FD79-0FAA-3030-7DF4-198C34DA181B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298595-D6CC-34A0-18CF-831A9751D004}"/>
              </a:ext>
            </a:extLst>
          </p:cNvPr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00BCD4">
                    <a:alpha val="4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07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01A401-5A81-562F-E4A4-B6CBAEDC0281}"/>
              </a:ext>
            </a:extLst>
          </p:cNvPr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Synthèse</a:t>
            </a: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des </a:t>
            </a:r>
            <a:r>
              <a:rPr kumimoji="0" 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bonnes</a:t>
            </a: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pratiques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8EB3867-BBC0-578E-D029-D4B565419E21}"/>
              </a:ext>
            </a:extLst>
          </p:cNvPr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Donnez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toutes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les chances à Copilot pour Power BI de bien exploiter les données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20744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pPr defTabSz="914378"/>
            <a:endParaRPr lang="fr-FR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pPr defTabSz="914378"/>
            <a:endParaRPr lang="fr-FR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fr-FR" sz="1400" dirty="0" err="1">
                <a:solidFill>
                  <a:srgbClr val="00BCD4"/>
                </a:solidFill>
                <a:latin typeface="Calibri" panose="020F0502020204030204"/>
              </a:rPr>
              <a:t>Copilot</a:t>
            </a:r>
            <a:r>
              <a:rPr lang="fr-FR" sz="1400" dirty="0">
                <a:solidFill>
                  <a:srgbClr val="00BCD4"/>
                </a:solidFill>
                <a:latin typeface="Calibri" panose="020F0502020204030204"/>
              </a:rPr>
              <a:t> pour Power BI</a:t>
            </a:r>
            <a:endParaRPr lang="fr-FR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fr-FR" sz="2800" b="1">
                <a:solidFill>
                  <a:srgbClr val="FFFFFF"/>
                </a:solidFill>
                <a:latin typeface="Calibri" panose="020F0502020204030204"/>
              </a:rPr>
              <a:t>Synthèse des bonnes pratiques</a:t>
            </a:r>
            <a:endParaRPr lang="fr-FR" sz="28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ick1"/>
          <p:cNvSpPr/>
          <p:nvPr/>
        </p:nvSpPr>
        <p:spPr>
          <a:xfrm>
            <a:off x="457200" y="218322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pPr defTabSz="914378"/>
            <a:endParaRPr lang="fr-FR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Item1"/>
          <p:cNvSpPr/>
          <p:nvPr/>
        </p:nvSpPr>
        <p:spPr>
          <a:xfrm>
            <a:off x="658368" y="2137500"/>
            <a:ext cx="3525000" cy="13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fr-FR" sz="1200" b="1">
                <a:solidFill>
                  <a:srgbClr val="00BCD4"/>
                </a:solidFill>
                <a:latin typeface="Calibri" panose="020F0502020204030204"/>
              </a:rPr>
              <a:t>Modèle sémantique et nommage</a:t>
            </a:r>
          </a:p>
          <a:p>
            <a:pPr defTabSz="914378">
              <a:spcBef>
                <a:spcPts val="300"/>
              </a:spcBef>
            </a:pPr>
            <a:r>
              <a:rPr lang="fr-FR" sz="975">
                <a:solidFill>
                  <a:srgbClr val="CBD5E1"/>
                </a:solidFill>
                <a:latin typeface="Calibri" panose="020F0502020204030204"/>
              </a:rPr>
              <a:t>• Noms clairs, descriptifs et orientés métier (tables, colonnes, mesures)</a:t>
            </a:r>
          </a:p>
          <a:p>
            <a:pPr defTabSz="914378">
              <a:spcBef>
                <a:spcPts val="300"/>
              </a:spcBef>
            </a:pPr>
            <a:r>
              <a:rPr lang="fr-FR" sz="975">
                <a:solidFill>
                  <a:srgbClr val="CBD5E1"/>
                </a:solidFill>
                <a:latin typeface="Calibri" panose="020F0502020204030204"/>
              </a:rPr>
              <a:t>• Conventions cohérentes et gouvernance du modèle</a:t>
            </a:r>
          </a:p>
          <a:p>
            <a:pPr defTabSz="914378">
              <a:spcBef>
                <a:spcPts val="300"/>
              </a:spcBef>
            </a:pPr>
            <a:r>
              <a:rPr lang="fr-FR" sz="975">
                <a:solidFill>
                  <a:srgbClr val="CBD5E1"/>
                </a:solidFill>
                <a:latin typeface="Calibri" panose="020F0502020204030204"/>
              </a:rPr>
              <a:t>• Différencier les champs similaires selon leur contexte</a:t>
            </a:r>
          </a:p>
          <a:p>
            <a:pPr defTabSz="914378">
              <a:spcBef>
                <a:spcPts val="300"/>
              </a:spcBef>
            </a:pPr>
            <a:r>
              <a:rPr lang="fr-FR" sz="975">
                <a:solidFill>
                  <a:srgbClr val="CBD5E1"/>
                </a:solidFill>
                <a:latin typeface="Calibri" panose="020F0502020204030204"/>
              </a:rPr>
              <a:t>• Enrichir métadonnées, descriptions et synonymes ; masquer les champs techniques</a:t>
            </a:r>
            <a:endParaRPr lang="fr-FR" sz="97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ick2"/>
          <p:cNvSpPr/>
          <p:nvPr/>
        </p:nvSpPr>
        <p:spPr>
          <a:xfrm>
            <a:off x="4686300" y="218322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pPr defTabSz="914378"/>
            <a:endParaRPr lang="fr-FR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Item2"/>
          <p:cNvSpPr/>
          <p:nvPr/>
        </p:nvSpPr>
        <p:spPr>
          <a:xfrm>
            <a:off x="4887468" y="2137500"/>
            <a:ext cx="3675000" cy="13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fr-FR" sz="1200" b="1" dirty="0">
                <a:solidFill>
                  <a:srgbClr val="00BCD4"/>
                </a:solidFill>
                <a:latin typeface="Calibri" panose="020F0502020204030204"/>
              </a:rPr>
              <a:t>Formulation des prompts</a:t>
            </a:r>
          </a:p>
          <a:p>
            <a:pPr defTabSz="914378">
              <a:spcBef>
                <a:spcPts val="300"/>
              </a:spcBef>
            </a:pPr>
            <a:r>
              <a:rPr lang="fr-FR" sz="975" dirty="0">
                <a:solidFill>
                  <a:srgbClr val="CBD5E1"/>
                </a:solidFill>
                <a:latin typeface="Calibri" panose="020F0502020204030204"/>
              </a:rPr>
              <a:t>• Préciser question métier, métriques, dimensions, filtres et période</a:t>
            </a:r>
          </a:p>
          <a:p>
            <a:pPr defTabSz="914378">
              <a:spcBef>
                <a:spcPts val="300"/>
              </a:spcBef>
            </a:pPr>
            <a:r>
              <a:rPr lang="fr-FR" sz="975" dirty="0">
                <a:solidFill>
                  <a:srgbClr val="CBD5E1"/>
                </a:solidFill>
                <a:latin typeface="Calibri" panose="020F0502020204030204"/>
              </a:rPr>
              <a:t>• Réutiliser les noms exacts du modèle et lever les ambiguïtés</a:t>
            </a:r>
          </a:p>
          <a:p>
            <a:pPr defTabSz="914378">
              <a:spcBef>
                <a:spcPts val="300"/>
              </a:spcBef>
            </a:pPr>
            <a:r>
              <a:rPr lang="fr-FR" sz="975" dirty="0">
                <a:solidFill>
                  <a:srgbClr val="CBD5E1"/>
                </a:solidFill>
                <a:latin typeface="Calibri" panose="020F0502020204030204"/>
              </a:rPr>
              <a:t>• Structurer le prompt (objectif, métriques, contraintes) ; </a:t>
            </a:r>
            <a:r>
              <a:rPr lang="fr-FR" sz="975" dirty="0" err="1">
                <a:solidFill>
                  <a:srgbClr val="CBD5E1"/>
                </a:solidFill>
                <a:latin typeface="Calibri" panose="020F0502020204030204"/>
              </a:rPr>
              <a:t>Markdown</a:t>
            </a:r>
            <a:r>
              <a:rPr lang="fr-FR" sz="975" dirty="0">
                <a:solidFill>
                  <a:srgbClr val="CBD5E1"/>
                </a:solidFill>
                <a:latin typeface="Calibri" panose="020F0502020204030204"/>
              </a:rPr>
              <a:t> pour standardiser</a:t>
            </a:r>
          </a:p>
          <a:p>
            <a:pPr defTabSz="914378">
              <a:spcBef>
                <a:spcPts val="300"/>
              </a:spcBef>
            </a:pPr>
            <a:r>
              <a:rPr lang="fr-FR" sz="975" dirty="0">
                <a:solidFill>
                  <a:srgbClr val="CBD5E1"/>
                </a:solidFill>
                <a:latin typeface="Calibri" panose="020F0502020204030204"/>
              </a:rPr>
              <a:t>• Réinitialiser la session lors d'un changement de sujet</a:t>
            </a:r>
            <a:endParaRPr lang="fr-FR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ick3"/>
          <p:cNvSpPr/>
          <p:nvPr/>
        </p:nvSpPr>
        <p:spPr>
          <a:xfrm>
            <a:off x="457200" y="366822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pPr defTabSz="914378"/>
            <a:endParaRPr lang="fr-FR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Item3"/>
          <p:cNvSpPr/>
          <p:nvPr/>
        </p:nvSpPr>
        <p:spPr>
          <a:xfrm>
            <a:off x="658368" y="3622500"/>
            <a:ext cx="3525000" cy="13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fr-FR" sz="1200" b="1" dirty="0">
                <a:solidFill>
                  <a:srgbClr val="00BCD4"/>
                </a:solidFill>
                <a:latin typeface="Calibri" panose="020F0502020204030204"/>
              </a:rPr>
              <a:t>Création et affinage des visuels</a:t>
            </a:r>
          </a:p>
          <a:p>
            <a:pPr defTabSz="914378">
              <a:spcBef>
                <a:spcPts val="300"/>
              </a:spcBef>
            </a:pPr>
            <a:r>
              <a:rPr lang="fr-FR" sz="975" dirty="0">
                <a:solidFill>
                  <a:srgbClr val="CBD5E1"/>
                </a:solidFill>
                <a:latin typeface="Calibri" panose="020F0502020204030204"/>
              </a:rPr>
              <a:t>• Exprimer l'intention analytique plutôt que le type de graphique</a:t>
            </a:r>
          </a:p>
          <a:p>
            <a:pPr defTabSz="914378">
              <a:spcBef>
                <a:spcPts val="300"/>
              </a:spcBef>
            </a:pPr>
            <a:r>
              <a:rPr lang="fr-FR" sz="975" dirty="0">
                <a:solidFill>
                  <a:srgbClr val="CBD5E1"/>
                </a:solidFill>
                <a:latin typeface="Calibri" panose="020F0502020204030204"/>
              </a:rPr>
              <a:t>• Traiter les visuels générés comme des brouillons à vérifier</a:t>
            </a:r>
          </a:p>
          <a:p>
            <a:pPr defTabSz="914378">
              <a:spcBef>
                <a:spcPts val="300"/>
              </a:spcBef>
            </a:pPr>
            <a:r>
              <a:rPr lang="fr-FR" sz="975" dirty="0">
                <a:solidFill>
                  <a:srgbClr val="CBD5E1"/>
                </a:solidFill>
                <a:latin typeface="Calibri" panose="020F0502020204030204"/>
              </a:rPr>
              <a:t>• Affiner </a:t>
            </a:r>
            <a:r>
              <a:rPr lang="fr-FR" sz="975">
                <a:solidFill>
                  <a:srgbClr val="CBD5E1"/>
                </a:solidFill>
                <a:latin typeface="Calibri" panose="020F0502020204030204"/>
              </a:rPr>
              <a:t>par prompt </a:t>
            </a:r>
            <a:r>
              <a:rPr lang="fr-FR" sz="975" dirty="0">
                <a:solidFill>
                  <a:srgbClr val="CBD5E1"/>
                </a:solidFill>
                <a:latin typeface="Calibri" panose="020F0502020204030204"/>
              </a:rPr>
              <a:t>de suivi ou ajustements manuels</a:t>
            </a:r>
          </a:p>
          <a:p>
            <a:pPr defTabSz="914378">
              <a:spcBef>
                <a:spcPts val="300"/>
              </a:spcBef>
            </a:pPr>
            <a:r>
              <a:rPr lang="fr-FR" sz="975" dirty="0">
                <a:solidFill>
                  <a:srgbClr val="CBD5E1"/>
                </a:solidFill>
                <a:latin typeface="Calibri" panose="020F0502020204030204"/>
              </a:rPr>
              <a:t>• Standardiser via des réponses prédéfinies et vérifiées</a:t>
            </a:r>
            <a:endParaRPr lang="fr-FR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ick4"/>
          <p:cNvSpPr/>
          <p:nvPr/>
        </p:nvSpPr>
        <p:spPr>
          <a:xfrm>
            <a:off x="4686300" y="366822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pPr defTabSz="914378"/>
            <a:endParaRPr lang="fr-FR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Item4"/>
          <p:cNvSpPr/>
          <p:nvPr/>
        </p:nvSpPr>
        <p:spPr>
          <a:xfrm>
            <a:off x="4887468" y="3622500"/>
            <a:ext cx="3675000" cy="13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fr-FR" sz="1200" b="1">
                <a:solidFill>
                  <a:srgbClr val="00BCD4"/>
                </a:solidFill>
                <a:latin typeface="Calibri" panose="020F0502020204030204"/>
              </a:rPr>
              <a:t>Limites et validation</a:t>
            </a:r>
          </a:p>
          <a:p>
            <a:pPr defTabSz="914378">
              <a:spcBef>
                <a:spcPts val="300"/>
              </a:spcBef>
            </a:pPr>
            <a:r>
              <a:rPr lang="fr-FR" sz="975">
                <a:solidFill>
                  <a:srgbClr val="CBD5E1"/>
                </a:solidFill>
                <a:latin typeface="Calibri" panose="020F0502020204030204"/>
              </a:rPr>
              <a:t>• Non-déterminisme : valider systématiquement les résultats</a:t>
            </a:r>
          </a:p>
          <a:p>
            <a:pPr defTabSz="914378">
              <a:spcBef>
                <a:spcPts val="300"/>
              </a:spcBef>
            </a:pPr>
            <a:r>
              <a:rPr lang="fr-FR" sz="975">
                <a:solidFill>
                  <a:srgbClr val="CBD5E1"/>
                </a:solidFill>
                <a:latin typeface="Calibri" panose="020F0502020204030204"/>
              </a:rPr>
              <a:t>• Contrôle visuel limité : affinage manuel dans Power BI</a:t>
            </a:r>
          </a:p>
          <a:p>
            <a:pPr defTabSz="914378">
              <a:spcBef>
                <a:spcPts val="300"/>
              </a:spcBef>
            </a:pPr>
            <a:r>
              <a:rPr lang="fr-FR" sz="975">
                <a:solidFill>
                  <a:srgbClr val="CBD5E1"/>
                </a:solidFill>
                <a:latin typeface="Calibri" panose="020F0502020204030204"/>
              </a:rPr>
              <a:t>• Modèles complexes : surveiller performances et erreurs</a:t>
            </a:r>
          </a:p>
          <a:p>
            <a:pPr defTabSz="914378">
              <a:spcBef>
                <a:spcPts val="300"/>
              </a:spcBef>
            </a:pPr>
            <a:r>
              <a:rPr lang="fr-FR" sz="975">
                <a:solidFill>
                  <a:srgbClr val="CBD5E1"/>
                </a:solidFill>
                <a:latin typeface="Calibri" panose="020F0502020204030204"/>
              </a:rPr>
              <a:t>• Conserver une supervision humaine sur les sorties</a:t>
            </a:r>
            <a:endParaRPr lang="fr-FR" sz="975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DD2B50-CD0F-FA46-70BE-AA4023E2A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B7A8BB-03D1-7FFA-6E44-0AB7650EC65D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9710BB-D04C-6F20-EDD6-4247F9DDD0D9}"/>
              </a:ext>
            </a:extLst>
          </p:cNvPr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00BCD4">
                    <a:alpha val="4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08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1B9DA9-E95D-5AD3-3F84-55EE76B8A508}"/>
              </a:ext>
            </a:extLst>
          </p:cNvPr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Types de </a:t>
            </a:r>
            <a:r>
              <a:rPr kumimoji="0" 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visuels</a:t>
            </a: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connus</a:t>
            </a: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par Copilot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153CF3-1D65-9BB3-AF7F-7FBEC14A0122}"/>
              </a:ext>
            </a:extLst>
          </p:cNvPr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Copilot pour Power BI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peut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générer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dans un rapport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93939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rgbClr val="00BCD4"/>
                </a:solidFill>
              </a:rPr>
              <a:t>Types de visuels · </a:t>
            </a:r>
            <a:r>
              <a:rPr lang="fr-FR" sz="1400" dirty="0" err="1">
                <a:solidFill>
                  <a:srgbClr val="00BCD4"/>
                </a:solidFill>
              </a:rPr>
              <a:t>Copilot</a:t>
            </a:r>
            <a:r>
              <a:rPr lang="fr-FR" sz="1400" dirty="0">
                <a:solidFill>
                  <a:srgbClr val="00BCD4"/>
                </a:solidFill>
              </a:rPr>
              <a:t> Power BI · 1/8</a:t>
            </a:r>
            <a:endParaRPr lang="fr-FR" sz="1400" dirty="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Quels visuels puis-je créer ?</a:t>
            </a:r>
            <a:endParaRPr lang="fr-FR" sz="2800" b="1"/>
          </a:p>
        </p:txBody>
      </p:sp>
      <p:sp>
        <p:nvSpPr>
          <p:cNvPr id="6" name="Tick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"/>
          <p:cNvSpPr/>
          <p:nvPr/>
        </p:nvSpPr>
        <p:spPr>
          <a:xfrm>
            <a:off x="658368" y="222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Je crée et modifie la plupart des visuels usuels de Power BI, regroupés en trois grandes catégories.</a:t>
            </a:r>
            <a:endParaRPr lang="fr-FR" sz="1300"/>
          </a:p>
        </p:txBody>
      </p:sp>
      <p:sp>
        <p:nvSpPr>
          <p:cNvPr id="8" name="Tick"/>
          <p:cNvSpPr/>
          <p:nvPr/>
        </p:nvSpPr>
        <p:spPr>
          <a:xfrm>
            <a:off x="457200" y="291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"/>
          <p:cNvSpPr/>
          <p:nvPr/>
        </p:nvSpPr>
        <p:spPr>
          <a:xfrm>
            <a:off x="658368" y="286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Cards</a:t>
            </a:r>
            <a:r>
              <a:rPr lang="fr-FR" sz="1300">
                <a:solidFill>
                  <a:srgbClr val="CBD5E1"/>
                </a:solidFill>
              </a:rPr>
              <a:t> (Cartes de KPI) — une seule valeur clé.</a:t>
            </a:r>
            <a:endParaRPr lang="fr-FR" sz="1300"/>
          </a:p>
        </p:txBody>
      </p:sp>
      <p:sp>
        <p:nvSpPr>
          <p:cNvPr id="10" name="Tick"/>
          <p:cNvSpPr/>
          <p:nvPr/>
        </p:nvSpPr>
        <p:spPr>
          <a:xfrm>
            <a:off x="457200" y="355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"/>
          <p:cNvSpPr/>
          <p:nvPr/>
        </p:nvSpPr>
        <p:spPr>
          <a:xfrm>
            <a:off x="658368" y="350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Slicers</a:t>
            </a:r>
            <a:r>
              <a:rPr lang="fr-FR" sz="1300">
                <a:solidFill>
                  <a:srgbClr val="CBD5E1"/>
                </a:solidFill>
              </a:rPr>
              <a:t> (Segments) — filtres du rapport.</a:t>
            </a:r>
            <a:endParaRPr lang="fr-FR" sz="1300"/>
          </a:p>
        </p:txBody>
      </p:sp>
      <p:sp>
        <p:nvSpPr>
          <p:cNvPr id="12" name="Tick"/>
          <p:cNvSpPr/>
          <p:nvPr/>
        </p:nvSpPr>
        <p:spPr>
          <a:xfrm>
            <a:off x="457200" y="419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Bullet"/>
          <p:cNvSpPr/>
          <p:nvPr/>
        </p:nvSpPr>
        <p:spPr>
          <a:xfrm>
            <a:off x="658368" y="414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Autres visuels</a:t>
            </a:r>
            <a:r>
              <a:rPr lang="fr-FR" sz="1300">
                <a:solidFill>
                  <a:srgbClr val="CBD5E1"/>
                </a:solidFill>
              </a:rPr>
              <a:t> — type générique « visual » (graphiques et tableaux).</a:t>
            </a:r>
            <a:endParaRPr lang="fr-FR" sz="13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Types de visuels · Copilot Power BI · 2/8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Cards (Cartes de KPI)</a:t>
            </a:r>
            <a:endParaRPr lang="fr-FR" sz="2800" b="1"/>
          </a:p>
        </p:txBody>
      </p:sp>
      <p:sp>
        <p:nvSpPr>
          <p:cNvPr id="6" name="Tick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"/>
          <p:cNvSpPr/>
          <p:nvPr/>
        </p:nvSpPr>
        <p:spPr>
          <a:xfrm>
            <a:off x="658368" y="222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À quoi ça sert : </a:t>
            </a:r>
            <a:r>
              <a:rPr lang="fr-FR" sz="1300">
                <a:solidFill>
                  <a:srgbClr val="CBD5E1"/>
                </a:solidFill>
              </a:rPr>
              <a:t>afficher une seule valeur clé (KPI) — total, moyenne, maximum, etc.</a:t>
            </a:r>
            <a:endParaRPr lang="fr-FR" sz="1300"/>
          </a:p>
        </p:txBody>
      </p:sp>
      <p:sp>
        <p:nvSpPr>
          <p:cNvPr id="8" name="Tick"/>
          <p:cNvSpPr/>
          <p:nvPr/>
        </p:nvSpPr>
        <p:spPr>
          <a:xfrm>
            <a:off x="457200" y="291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"/>
          <p:cNvSpPr/>
          <p:nvPr/>
        </p:nvSpPr>
        <p:spPr>
          <a:xfrm>
            <a:off x="658368" y="286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Exemples : </a:t>
            </a:r>
            <a:r>
              <a:rPr lang="fr-FR" sz="1300">
                <a:solidFill>
                  <a:srgbClr val="CBD5E1"/>
                </a:solidFill>
              </a:rPr>
              <a:t>carte avec somme des ventes ; carte avec nombre distinct de clients.</a:t>
            </a:r>
            <a:endParaRPr lang="fr-FR" sz="1300"/>
          </a:p>
        </p:txBody>
      </p:sp>
      <p:sp>
        <p:nvSpPr>
          <p:cNvPr id="10" name="Tick"/>
          <p:cNvSpPr/>
          <p:nvPr/>
        </p:nvSpPr>
        <p:spPr>
          <a:xfrm>
            <a:off x="457200" y="355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"/>
          <p:cNvSpPr/>
          <p:nvPr/>
        </p:nvSpPr>
        <p:spPr>
          <a:xfrm>
            <a:off x="658368" y="350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Type technique : </a:t>
            </a:r>
            <a:r>
              <a:rPr lang="fr-FR" sz="1300">
                <a:solidFill>
                  <a:srgbClr val="CBD5E1"/>
                </a:solidFill>
              </a:rPr>
              <a:t>visualType : « card ».</a:t>
            </a:r>
            <a:endParaRPr lang="fr-FR" sz="13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Types de visuels · Copilot Power BI · 3/8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Slicers (Segments)</a:t>
            </a:r>
            <a:endParaRPr lang="fr-FR" sz="2800" b="1"/>
          </a:p>
        </p:txBody>
      </p:sp>
      <p:sp>
        <p:nvSpPr>
          <p:cNvPr id="6" name="Tick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"/>
          <p:cNvSpPr/>
          <p:nvPr/>
        </p:nvSpPr>
        <p:spPr>
          <a:xfrm>
            <a:off x="658368" y="222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À quoi ça sert : </a:t>
            </a:r>
            <a:r>
              <a:rPr lang="fr-FR" sz="1300">
                <a:solidFill>
                  <a:srgbClr val="CBD5E1"/>
                </a:solidFill>
              </a:rPr>
              <a:t>permettre à l’utilisateur de filtrer le rapport (par date, région, produit, etc.).</a:t>
            </a:r>
            <a:endParaRPr lang="fr-FR" sz="1300"/>
          </a:p>
        </p:txBody>
      </p:sp>
      <p:sp>
        <p:nvSpPr>
          <p:cNvPr id="8" name="Tick"/>
          <p:cNvSpPr/>
          <p:nvPr/>
        </p:nvSpPr>
        <p:spPr>
          <a:xfrm>
            <a:off x="457200" y="291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"/>
          <p:cNvSpPr/>
          <p:nvPr/>
        </p:nvSpPr>
        <p:spPr>
          <a:xfrm>
            <a:off x="658368" y="286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 dirty="0">
                <a:solidFill>
                  <a:srgbClr val="CBD5E1"/>
                </a:solidFill>
              </a:rPr>
              <a:t>Exemples : </a:t>
            </a:r>
            <a:r>
              <a:rPr lang="fr-FR" sz="1300" dirty="0">
                <a:solidFill>
                  <a:srgbClr val="CBD5E1"/>
                </a:solidFill>
              </a:rPr>
              <a:t>slicer par année ; slicer par région ou catégorie de produit.</a:t>
            </a:r>
            <a:endParaRPr lang="fr-FR" sz="1300" dirty="0"/>
          </a:p>
        </p:txBody>
      </p:sp>
      <p:sp>
        <p:nvSpPr>
          <p:cNvPr id="10" name="Tick"/>
          <p:cNvSpPr/>
          <p:nvPr/>
        </p:nvSpPr>
        <p:spPr>
          <a:xfrm>
            <a:off x="457200" y="355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"/>
          <p:cNvSpPr/>
          <p:nvPr/>
        </p:nvSpPr>
        <p:spPr>
          <a:xfrm>
            <a:off x="658368" y="350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Type technique : </a:t>
            </a:r>
            <a:r>
              <a:rPr lang="fr-FR" sz="1300">
                <a:solidFill>
                  <a:srgbClr val="CBD5E1"/>
                </a:solidFill>
              </a:rPr>
              <a:t>visualType : « slicer ».</a:t>
            </a:r>
            <a:endParaRPr lang="fr-FR" sz="13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Types de visuels · Copilot Power BI · 4/8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Autres visuels (« visual ») — 1/2</a:t>
            </a:r>
            <a:endParaRPr lang="fr-FR" sz="2800" b="1"/>
          </a:p>
        </p:txBody>
      </p:sp>
      <p:sp>
        <p:nvSpPr>
          <p:cNvPr id="6" name="Tick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"/>
          <p:cNvSpPr/>
          <p:nvPr/>
        </p:nvSpPr>
        <p:spPr>
          <a:xfrm>
            <a:off x="658368" y="222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Barres / colonnes : </a:t>
            </a:r>
            <a:r>
              <a:rPr lang="fr-FR" sz="1300">
                <a:solidFill>
                  <a:srgbClr val="CBD5E1"/>
                </a:solidFill>
              </a:rPr>
              <a:t>comparer des valeurs par catégorie (ex. somme des ventes par produit).</a:t>
            </a:r>
            <a:endParaRPr lang="fr-FR" sz="1300"/>
          </a:p>
        </p:txBody>
      </p:sp>
      <p:sp>
        <p:nvSpPr>
          <p:cNvPr id="8" name="Tick"/>
          <p:cNvSpPr/>
          <p:nvPr/>
        </p:nvSpPr>
        <p:spPr>
          <a:xfrm>
            <a:off x="457200" y="291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"/>
          <p:cNvSpPr/>
          <p:nvPr/>
        </p:nvSpPr>
        <p:spPr>
          <a:xfrm>
            <a:off x="658368" y="286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Linéaires (line chart) : </a:t>
            </a:r>
            <a:r>
              <a:rPr lang="fr-FR" sz="1300">
                <a:solidFill>
                  <a:srgbClr val="CBD5E1"/>
                </a:solidFill>
              </a:rPr>
              <a:t>suivre une évolution dans le temps (ex. ventes par mois).</a:t>
            </a:r>
            <a:endParaRPr lang="fr-FR" sz="1300"/>
          </a:p>
        </p:txBody>
      </p:sp>
      <p:sp>
        <p:nvSpPr>
          <p:cNvPr id="10" name="Tick"/>
          <p:cNvSpPr/>
          <p:nvPr/>
        </p:nvSpPr>
        <p:spPr>
          <a:xfrm>
            <a:off x="457200" y="355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"/>
          <p:cNvSpPr/>
          <p:nvPr/>
        </p:nvSpPr>
        <p:spPr>
          <a:xfrm>
            <a:off x="658368" y="350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Combinés (combo chart) : </a:t>
            </a:r>
            <a:r>
              <a:rPr lang="fr-FR" sz="1300">
                <a:solidFill>
                  <a:srgbClr val="CBD5E1"/>
                </a:solidFill>
              </a:rPr>
              <a:t>mélanger barres et courbe (ventes en barres, marge en ligne).</a:t>
            </a:r>
            <a:endParaRPr lang="fr-FR" sz="1300"/>
          </a:p>
        </p:txBody>
      </p:sp>
      <p:sp>
        <p:nvSpPr>
          <p:cNvPr id="12" name="Tick"/>
          <p:cNvSpPr/>
          <p:nvPr/>
        </p:nvSpPr>
        <p:spPr>
          <a:xfrm>
            <a:off x="457200" y="419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Bullet"/>
          <p:cNvSpPr/>
          <p:nvPr/>
        </p:nvSpPr>
        <p:spPr>
          <a:xfrm>
            <a:off x="658368" y="414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Secteurs / donut : </a:t>
            </a:r>
            <a:r>
              <a:rPr lang="fr-FR" sz="1300">
                <a:solidFill>
                  <a:srgbClr val="CBD5E1"/>
                </a:solidFill>
              </a:rPr>
              <a:t>montrer la répartition d’un total (ex. part des ventes par catégorie).</a:t>
            </a:r>
            <a:endParaRPr lang="fr-FR" sz="13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Types de visuels · Copilot Power BI · 5/8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Autres visuels (« visual ») — 2/2</a:t>
            </a:r>
            <a:endParaRPr lang="fr-FR" sz="2800" b="1"/>
          </a:p>
        </p:txBody>
      </p:sp>
      <p:sp>
        <p:nvSpPr>
          <p:cNvPr id="6" name="Tick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"/>
          <p:cNvSpPr/>
          <p:nvPr/>
        </p:nvSpPr>
        <p:spPr>
          <a:xfrm>
            <a:off x="658368" y="222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Tableaux / matrices : </a:t>
            </a:r>
            <a:r>
              <a:rPr lang="fr-FR" sz="1300">
                <a:solidFill>
                  <a:srgbClr val="CBD5E1"/>
                </a:solidFill>
              </a:rPr>
              <a:t>détailler les données (ex. matrice Région × Produit avec somme des ventes).</a:t>
            </a:r>
            <a:endParaRPr lang="fr-FR" sz="1300"/>
          </a:p>
        </p:txBody>
      </p:sp>
      <p:sp>
        <p:nvSpPr>
          <p:cNvPr id="8" name="Tick"/>
          <p:cNvSpPr/>
          <p:nvPr/>
        </p:nvSpPr>
        <p:spPr>
          <a:xfrm>
            <a:off x="457200" y="291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"/>
          <p:cNvSpPr/>
          <p:nvPr/>
        </p:nvSpPr>
        <p:spPr>
          <a:xfrm>
            <a:off x="658368" y="286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Cartes géographiques : </a:t>
            </a:r>
            <a:r>
              <a:rPr lang="fr-FR" sz="1300">
                <a:solidFill>
                  <a:srgbClr val="CBD5E1"/>
                </a:solidFill>
              </a:rPr>
              <a:t>ventes par pays ou ville (si le modèle contient des données géographiques).</a:t>
            </a:r>
            <a:endParaRPr lang="fr-FR" sz="1300"/>
          </a:p>
        </p:txBody>
      </p:sp>
      <p:sp>
        <p:nvSpPr>
          <p:cNvPr id="10" name="Tick"/>
          <p:cNvSpPr/>
          <p:nvPr/>
        </p:nvSpPr>
        <p:spPr>
          <a:xfrm>
            <a:off x="457200" y="355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"/>
          <p:cNvSpPr/>
          <p:nvPr/>
        </p:nvSpPr>
        <p:spPr>
          <a:xfrm>
            <a:off x="658368" y="350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Histogrammes : </a:t>
            </a:r>
            <a:r>
              <a:rPr lang="fr-FR" sz="1300">
                <a:solidFill>
                  <a:srgbClr val="CBD5E1"/>
                </a:solidFill>
              </a:rPr>
              <a:t>distribution d’une mesure.</a:t>
            </a:r>
            <a:endParaRPr lang="fr-FR" sz="1300"/>
          </a:p>
        </p:txBody>
      </p:sp>
      <p:sp>
        <p:nvSpPr>
          <p:cNvPr id="12" name="Tick"/>
          <p:cNvSpPr/>
          <p:nvPr/>
        </p:nvSpPr>
        <p:spPr>
          <a:xfrm>
            <a:off x="457200" y="419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Bullet"/>
          <p:cNvSpPr/>
          <p:nvPr/>
        </p:nvSpPr>
        <p:spPr>
          <a:xfrm>
            <a:off x="658368" y="414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b="1">
                <a:solidFill>
                  <a:srgbClr val="CBD5E1"/>
                </a:solidFill>
              </a:rPr>
              <a:t>Nuage de points (scatter) : </a:t>
            </a:r>
            <a:r>
              <a:rPr lang="fr-FR" sz="1300">
                <a:solidFill>
                  <a:srgbClr val="CBD5E1"/>
                </a:solidFill>
              </a:rPr>
              <a:t>relation entre deux mesures (ex. montant vs marge).</a:t>
            </a:r>
            <a:endParaRPr lang="fr-FR" sz="13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Types de visuels · Copilot Power BI · 6/8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Créer une page complète</a:t>
            </a:r>
            <a:endParaRPr lang="fr-FR" sz="2800" b="1"/>
          </a:p>
        </p:txBody>
      </p:sp>
      <p:sp>
        <p:nvSpPr>
          <p:cNvPr id="6" name="Tick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"/>
          <p:cNvSpPr/>
          <p:nvPr/>
        </p:nvSpPr>
        <p:spPr>
          <a:xfrm>
            <a:off x="658368" y="222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J’utilise les trois types de visuels : </a:t>
            </a:r>
            <a:r>
              <a:rPr lang="fr-FR" sz="1300" b="1">
                <a:solidFill>
                  <a:srgbClr val="CBD5E1"/>
                </a:solidFill>
              </a:rPr>
              <a:t>card</a:t>
            </a:r>
            <a:r>
              <a:rPr lang="fr-FR" sz="1300">
                <a:solidFill>
                  <a:srgbClr val="CBD5E1"/>
                </a:solidFill>
              </a:rPr>
              <a:t>, </a:t>
            </a:r>
            <a:r>
              <a:rPr lang="fr-FR" sz="1300" b="1">
                <a:solidFill>
                  <a:srgbClr val="CBD5E1"/>
                </a:solidFill>
              </a:rPr>
              <a:t>slicer</a:t>
            </a:r>
            <a:r>
              <a:rPr lang="fr-FR" sz="1300">
                <a:solidFill>
                  <a:srgbClr val="CBD5E1"/>
                </a:solidFill>
              </a:rPr>
              <a:t> et </a:t>
            </a:r>
            <a:r>
              <a:rPr lang="fr-FR" sz="1300" b="1">
                <a:solidFill>
                  <a:srgbClr val="CBD5E1"/>
                </a:solidFill>
              </a:rPr>
              <a:t>visual</a:t>
            </a:r>
            <a:r>
              <a:rPr lang="fr-FR" sz="1300">
                <a:solidFill>
                  <a:srgbClr val="CBD5E1"/>
                </a:solidFill>
              </a:rPr>
              <a:t>.</a:t>
            </a:r>
            <a:endParaRPr lang="fr-FR" sz="1300"/>
          </a:p>
        </p:txBody>
      </p:sp>
      <p:sp>
        <p:nvSpPr>
          <p:cNvPr id="8" name="Tick"/>
          <p:cNvSpPr/>
          <p:nvPr/>
        </p:nvSpPr>
        <p:spPr>
          <a:xfrm>
            <a:off x="457200" y="291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"/>
          <p:cNvSpPr/>
          <p:nvPr/>
        </p:nvSpPr>
        <p:spPr>
          <a:xfrm>
            <a:off x="658368" y="286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Je précise pour chaque visuel les </a:t>
            </a:r>
            <a:r>
              <a:rPr lang="fr-FR" sz="1300" b="1">
                <a:solidFill>
                  <a:srgbClr val="CBD5E1"/>
                </a:solidFill>
              </a:rPr>
              <a:t>champs</a:t>
            </a:r>
            <a:r>
              <a:rPr lang="fr-FR" sz="1300">
                <a:solidFill>
                  <a:srgbClr val="CBD5E1"/>
                </a:solidFill>
              </a:rPr>
              <a:t>, les </a:t>
            </a:r>
            <a:r>
              <a:rPr lang="fr-FR" sz="1300" b="1">
                <a:solidFill>
                  <a:srgbClr val="CBD5E1"/>
                </a:solidFill>
              </a:rPr>
              <a:t>agrégations</a:t>
            </a:r>
            <a:r>
              <a:rPr lang="fr-FR" sz="1300">
                <a:solidFill>
                  <a:srgbClr val="CBD5E1"/>
                </a:solidFill>
              </a:rPr>
              <a:t> (somme, moyenne, max, min, distinct count)…</a:t>
            </a:r>
            <a:endParaRPr lang="fr-FR" sz="1300"/>
          </a:p>
        </p:txBody>
      </p:sp>
      <p:sp>
        <p:nvSpPr>
          <p:cNvPr id="10" name="Tick"/>
          <p:cNvSpPr/>
          <p:nvPr/>
        </p:nvSpPr>
        <p:spPr>
          <a:xfrm>
            <a:off x="457200" y="355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"/>
          <p:cNvSpPr/>
          <p:nvPr/>
        </p:nvSpPr>
        <p:spPr>
          <a:xfrm>
            <a:off x="658368" y="350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…et les </a:t>
            </a:r>
            <a:r>
              <a:rPr lang="fr-FR" sz="1300" b="1">
                <a:solidFill>
                  <a:srgbClr val="CBD5E1"/>
                </a:solidFill>
              </a:rPr>
              <a:t>découpages</a:t>
            </a:r>
            <a:r>
              <a:rPr lang="fr-FR" sz="1300">
                <a:solidFill>
                  <a:srgbClr val="CBD5E1"/>
                </a:solidFill>
              </a:rPr>
              <a:t> (par date, produit, région, etc.).</a:t>
            </a:r>
            <a:endParaRPr lang="fr-FR" sz="13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Types de visuels · Copilot Power BI · 7/8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Créer un visuel précis</a:t>
            </a:r>
            <a:endParaRPr lang="fr-FR" sz="2800" b="1"/>
          </a:p>
        </p:txBody>
      </p:sp>
      <p:sp>
        <p:nvSpPr>
          <p:cNvPr id="6" name="Tick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"/>
          <p:cNvSpPr/>
          <p:nvPr/>
        </p:nvSpPr>
        <p:spPr>
          <a:xfrm>
            <a:off x="658368" y="222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« Graphique en barres montrant la </a:t>
            </a:r>
            <a:r>
              <a:rPr lang="fr-FR" sz="1300" b="1">
                <a:solidFill>
                  <a:srgbClr val="CBD5E1"/>
                </a:solidFill>
              </a:rPr>
              <a:t>somme des ventes par région</a:t>
            </a:r>
            <a:r>
              <a:rPr lang="fr-FR" sz="1300">
                <a:solidFill>
                  <a:srgbClr val="CBD5E1"/>
                </a:solidFill>
              </a:rPr>
              <a:t> ».</a:t>
            </a:r>
            <a:endParaRPr lang="fr-FR" sz="1300"/>
          </a:p>
        </p:txBody>
      </p:sp>
      <p:sp>
        <p:nvSpPr>
          <p:cNvPr id="8" name="Tick"/>
          <p:cNvSpPr/>
          <p:nvPr/>
        </p:nvSpPr>
        <p:spPr>
          <a:xfrm>
            <a:off x="457200" y="291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"/>
          <p:cNvSpPr/>
          <p:nvPr/>
        </p:nvSpPr>
        <p:spPr>
          <a:xfrm>
            <a:off x="658368" y="286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« Graphique linéaire montrant la </a:t>
            </a:r>
            <a:r>
              <a:rPr lang="fr-FR" sz="1300" b="1">
                <a:solidFill>
                  <a:srgbClr val="CBD5E1"/>
                </a:solidFill>
              </a:rPr>
              <a:t>somme des ventes par mois</a:t>
            </a:r>
            <a:r>
              <a:rPr lang="fr-FR" sz="1300">
                <a:solidFill>
                  <a:srgbClr val="CBD5E1"/>
                </a:solidFill>
              </a:rPr>
              <a:t> ».</a:t>
            </a:r>
            <a:endParaRPr lang="fr-FR" sz="1300"/>
          </a:p>
        </p:txBody>
      </p:sp>
      <p:sp>
        <p:nvSpPr>
          <p:cNvPr id="10" name="Tick"/>
          <p:cNvSpPr/>
          <p:nvPr/>
        </p:nvSpPr>
        <p:spPr>
          <a:xfrm>
            <a:off x="457200" y="355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"/>
          <p:cNvSpPr/>
          <p:nvPr/>
        </p:nvSpPr>
        <p:spPr>
          <a:xfrm>
            <a:off x="658368" y="350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« Tableau listant </a:t>
            </a:r>
            <a:r>
              <a:rPr lang="fr-FR" sz="1300" b="1">
                <a:solidFill>
                  <a:srgbClr val="CBD5E1"/>
                </a:solidFill>
              </a:rPr>
              <a:t>Client, Date de commande, Montant</a:t>
            </a:r>
            <a:r>
              <a:rPr lang="fr-FR" sz="1300">
                <a:solidFill>
                  <a:srgbClr val="CBD5E1"/>
                </a:solidFill>
              </a:rPr>
              <a:t> ».</a:t>
            </a:r>
            <a:endParaRPr lang="fr-FR" sz="13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Types de visuels · Copilot Power BI · 8/8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Dis-moi simplement…</a:t>
            </a:r>
            <a:endParaRPr lang="fr-FR" sz="2800" b="1"/>
          </a:p>
        </p:txBody>
      </p:sp>
      <p:sp>
        <p:nvSpPr>
          <p:cNvPr id="6" name="Tick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"/>
          <p:cNvSpPr/>
          <p:nvPr/>
        </p:nvSpPr>
        <p:spPr>
          <a:xfrm>
            <a:off x="658368" y="222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Le </a:t>
            </a:r>
            <a:r>
              <a:rPr lang="fr-FR" sz="1300" b="1">
                <a:solidFill>
                  <a:srgbClr val="CBD5E1"/>
                </a:solidFill>
              </a:rPr>
              <a:t>type de visuel</a:t>
            </a:r>
            <a:r>
              <a:rPr lang="fr-FR" sz="1300">
                <a:solidFill>
                  <a:srgbClr val="CBD5E1"/>
                </a:solidFill>
              </a:rPr>
              <a:t> (carte, barres, ligne, pie, tableau, carte géographique…).</a:t>
            </a:r>
            <a:endParaRPr lang="fr-FR" sz="1300"/>
          </a:p>
        </p:txBody>
      </p:sp>
      <p:sp>
        <p:nvSpPr>
          <p:cNvPr id="8" name="Tick"/>
          <p:cNvSpPr/>
          <p:nvPr/>
        </p:nvSpPr>
        <p:spPr>
          <a:xfrm>
            <a:off x="457200" y="291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"/>
          <p:cNvSpPr/>
          <p:nvPr/>
        </p:nvSpPr>
        <p:spPr>
          <a:xfrm>
            <a:off x="658368" y="286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La </a:t>
            </a:r>
            <a:r>
              <a:rPr lang="fr-FR" sz="1300" b="1">
                <a:solidFill>
                  <a:srgbClr val="CBD5E1"/>
                </a:solidFill>
              </a:rPr>
              <a:t>mesure</a:t>
            </a:r>
            <a:r>
              <a:rPr lang="fr-FR" sz="1300">
                <a:solidFill>
                  <a:srgbClr val="CBD5E1"/>
                </a:solidFill>
              </a:rPr>
              <a:t> (somme des ventes, nombre de commandes, etc.).</a:t>
            </a:r>
            <a:endParaRPr lang="fr-FR" sz="1300"/>
          </a:p>
        </p:txBody>
      </p:sp>
      <p:sp>
        <p:nvSpPr>
          <p:cNvPr id="10" name="Tick"/>
          <p:cNvSpPr/>
          <p:nvPr/>
        </p:nvSpPr>
        <p:spPr>
          <a:xfrm>
            <a:off x="457200" y="355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"/>
          <p:cNvSpPr/>
          <p:nvPr/>
        </p:nvSpPr>
        <p:spPr>
          <a:xfrm>
            <a:off x="658368" y="350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La </a:t>
            </a:r>
            <a:r>
              <a:rPr lang="fr-FR" sz="1300" b="1">
                <a:solidFill>
                  <a:srgbClr val="CBD5E1"/>
                </a:solidFill>
              </a:rPr>
              <a:t>dimension</a:t>
            </a:r>
            <a:r>
              <a:rPr lang="fr-FR" sz="1300">
                <a:solidFill>
                  <a:srgbClr val="CBD5E1"/>
                </a:solidFill>
              </a:rPr>
              <a:t> (par produit, par mois, par pays…).</a:t>
            </a:r>
            <a:endParaRPr lang="fr-FR" sz="1300"/>
          </a:p>
        </p:txBody>
      </p:sp>
      <p:sp>
        <p:nvSpPr>
          <p:cNvPr id="12" name="Tick"/>
          <p:cNvSpPr/>
          <p:nvPr/>
        </p:nvSpPr>
        <p:spPr>
          <a:xfrm>
            <a:off x="457200" y="419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Bullet"/>
          <p:cNvSpPr/>
          <p:nvPr/>
        </p:nvSpPr>
        <p:spPr>
          <a:xfrm>
            <a:off x="658368" y="4145040"/>
            <a:ext cx="79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…et je te proposerai le visuel adapté, puis je pourrai le créer pour toi dans le rapport.</a:t>
            </a:r>
            <a:endParaRPr lang="fr-FR" sz="13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AC108A-A097-CDF1-A5B2-D544A1C3C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FA5197-8E25-191E-AC55-28B6862DF4DB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7DF297-98E5-3314-AF56-98C725AB3A18}"/>
              </a:ext>
            </a:extLst>
          </p:cNvPr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00BCD4">
                    <a:alpha val="45000"/>
                  </a:srgbClr>
                </a:solidFill>
              </a:rPr>
              <a:t>XX</a:t>
            </a:r>
            <a:endParaRPr lang="en-US" sz="8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E51D5D-A2F1-F7A6-DE9C-E28034B885C9}"/>
              </a:ext>
            </a:extLst>
          </p:cNvPr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Génération DAX &amp; Agent autonome</a:t>
            </a:r>
            <a:endParaRPr lang="en-US" sz="3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318CB7-4EB5-EE0B-A164-124D3EA45F40}"/>
              </a:ext>
            </a:extLst>
          </p:cNvPr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BCD4"/>
                </a:solidFill>
              </a:rPr>
              <a:t>IA pour les créateurs et expérience multi-artefacts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5251677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Génération DAX – Copilot pour les créateurs de rapports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Copilot peut écrire, expliquer et corriger des formules DAX — une capacité clé pour les créateurs, accessible aussi aux consommateurs avancés.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0233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64008" cy="713232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Écrire une mesure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"Write a DAX measure for gross margin ratio per territory"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40233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64008" cy="713232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Expliquer du code DAX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066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"Explain what this CALCULATE() formula does step by step"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40233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64008" cy="713232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Corriger une erreur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"This measure gives an error — can you fix it ?"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40233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3931920"/>
            <a:ext cx="64008" cy="713232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Optimiser une formule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3525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"This measure is slow on large datasets, propose a faster version"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932688"/>
            <a:ext cx="4297680" cy="4069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681728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</a:rPr>
              <a:t>Prompt + DAX généré – Fabrikam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81728" y="135331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"Write a DAX measure for gross margin % per territory using Sales and ProductDetails"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81728" y="1965960"/>
            <a:ext cx="4114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Gross Margin %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SUMX(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Sales[SalesAmount] 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RELATED(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ProductDetails[StandardCost]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SUM(Sales[SalesAmount]),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Copilot Agent autonome (Préversion)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Expérience plein écran depuis la navigation Fabric. Copilot peut interroger N'IMPORTE quel rapport ou modèle sémantique auquel vous avez accès.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206240" cy="1298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206240" cy="64008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Recherche d'artefacts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"Find a report about Fabrikam reseller performance" → Copilot cherche dans tous vos workspaces accessibles.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27448" y="1508760"/>
            <a:ext cx="4206240" cy="129844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27448" y="1508760"/>
            <a:ext cx="420624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64608" y="16733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Réponses vérifiées (Verified Answers)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4608" y="21031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Les auteurs d'apps peuvent pré-écrire des réponses pour les questions fréquentes afin de garantir la fiabilité.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4206240" cy="1298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206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3136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Multi-modèles sémantiques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Croisez des données de plusieurs rapports et modèles dans une seule conversation.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27448" y="2971800"/>
            <a:ext cx="4206240" cy="129844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727448" y="2971800"/>
            <a:ext cx="420624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64608" y="3136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Fabric Data Agents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64608" y="356616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Interrogez des agents Fabric connectés à des sources de données personnalisées hors Power BI.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</a:rPr>
              <a:t>En préversion — Disponibilité limitée selon la région. Requiert l'activation du paramètre tenant spécifique à l'expérience autonome.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Abonnements rapport avec résumés Copilot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Copilot enrichit les abonnements rapport en ajoutant automatiquement un résumé textuel dans les emails envoyés aux abonnés.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5720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47472" y="1572768"/>
            <a:ext cx="530352" cy="530352"/>
          </a:xfrm>
          <a:prstGeom prst="ellipse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47472" y="16002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361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Créer un abonnement rapport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83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Rapport → Abonnez-vous → Configurer la fréquence et les destinataires.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45720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" y="2441448"/>
            <a:ext cx="530352" cy="530352"/>
          </a:xfrm>
          <a:prstGeom prst="ellipse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246888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404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Activer Copilot Summary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52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Cochez "Include Copilot summary" dans les paramètres avancés de l'abonnement.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200400"/>
            <a:ext cx="45720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47472" y="3310128"/>
            <a:ext cx="530352" cy="530352"/>
          </a:xfrm>
          <a:prstGeom prst="ellipse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47472" y="333756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273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Choisir la fréquence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621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Quotidien, hebdomadaire ou mensuel selon vos besoins de reporting.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69080"/>
            <a:ext cx="45720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47472" y="4178808"/>
            <a:ext cx="530352" cy="530352"/>
          </a:xfrm>
          <a:prstGeom prst="ellipse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47472" y="420624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142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Les abonnés reçoivent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489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Email avec aperçu du rapport + résumé Copilot textuel automatique.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1417320"/>
            <a:ext cx="374904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5074920" y="1417320"/>
            <a:ext cx="3749040" cy="475488"/>
          </a:xfrm>
          <a:prstGeom prst="rect">
            <a:avLst/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16636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Abonnement – Fabrikam Sales Report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66360" y="1984248"/>
            <a:ext cx="3566160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166360" y="2029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[Aperçu du rapport]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66360" y="2578608"/>
            <a:ext cx="3566160" cy="21031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25780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F6E"/>
                </a:solidFill>
              </a:rPr>
              <a:t>Résumé Copilot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2999232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40AF"/>
                </a:solidFill>
              </a:rPr>
              <a:t>Ce mois-ci le CA est en hausse de 8%. L'Europe Western est la région la plus performante. Les catégories Computers et Cameras tirent la croissance.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F06C8-6F0D-8D12-1FF8-BEEB46C3F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2B9A0-263D-396B-5A3A-89379DB6F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>
                <a:solidFill>
                  <a:schemeClr val="tx1"/>
                </a:solidFill>
                <a:latin typeface="Aptos"/>
              </a:rPr>
              <a:t>Rédiger des requêtes DAX</a:t>
            </a:r>
            <a:endParaRPr lang="fr-FR" b="1" i="1">
              <a:solidFill>
                <a:schemeClr val="tx1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BF8454-D604-D349-0998-E5D44E1BB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323DE39C-8A81-4508-8EC3-8C55B05C4E7E}" type="slidenum">
              <a:rPr lang="fr-FR" sz="1350">
                <a:solidFill>
                  <a:srgbClr val="FFFFFF"/>
                </a:solidFill>
                <a:latin typeface="Segoe UI Semibold"/>
              </a:rPr>
              <a:pPr defTabSz="685800">
                <a:defRPr/>
              </a:pPr>
              <a:t>86</a:t>
            </a:fld>
            <a:endParaRPr lang="fr-FR" sz="135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4F8F1A43-5C52-34C7-408C-DC47D5DC39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r>
              <a:rPr lang="fr-FR">
                <a:solidFill>
                  <a:srgbClr val="0070C0"/>
                </a:solidFill>
                <a:cs typeface="Segoe UI"/>
              </a:rPr>
              <a:t>Copilot comme assistant pour l’analyse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374A5B-52A3-A0F4-8D84-908BE7DC6383}"/>
              </a:ext>
            </a:extLst>
          </p:cNvPr>
          <p:cNvSpPr txBox="1"/>
          <p:nvPr/>
        </p:nvSpPr>
        <p:spPr>
          <a:xfrm>
            <a:off x="6024388" y="3249368"/>
            <a:ext cx="877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fr-FR" sz="900">
                <a:solidFill>
                  <a:srgbClr val="02023F"/>
                </a:solidFill>
                <a:latin typeface="Segoe UI"/>
              </a:rPr>
              <a:t>*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D165DE-E464-EB5D-049A-93FF7C118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21850"/>
            <a:ext cx="3154871" cy="4119257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261B59-1EB8-2218-8CFF-8F437727E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981" y="921850"/>
            <a:ext cx="3191432" cy="4119257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4423961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CD8E2-1B52-38C5-DADA-E0CC698C4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94D4D-04B9-4498-1442-4512A31D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>
                <a:solidFill>
                  <a:schemeClr val="tx1"/>
                </a:solidFill>
                <a:latin typeface="Aptos"/>
              </a:rPr>
              <a:t>Ajouter des </a:t>
            </a:r>
            <a:r>
              <a:rPr lang="fr-FR" sz="3200" dirty="0">
                <a:solidFill>
                  <a:schemeClr val="tx1"/>
                </a:solidFill>
                <a:latin typeface="Aptos"/>
              </a:rPr>
              <a:t>descriptions aux mesures</a:t>
            </a:r>
            <a:endParaRPr lang="fr-FR" sz="3200" b="1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A63B4B-8554-86D5-6C0E-B4FB2ADB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323DE39C-8A81-4508-8EC3-8C55B05C4E7E}" type="slidenum">
              <a:rPr lang="fr-FR" sz="1350">
                <a:solidFill>
                  <a:srgbClr val="FFFFFF"/>
                </a:solidFill>
                <a:latin typeface="Segoe UI Semibold"/>
              </a:rPr>
              <a:pPr defTabSz="685800">
                <a:defRPr/>
              </a:pPr>
              <a:t>87</a:t>
            </a:fld>
            <a:endParaRPr lang="fr-FR" sz="135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F44B0DF7-D08C-CEF3-977E-E76CC564D0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r>
              <a:rPr lang="fr-FR">
                <a:solidFill>
                  <a:srgbClr val="0070C0"/>
                </a:solidFill>
                <a:cs typeface="Segoe UI"/>
              </a:rPr>
              <a:t>Copilot comme assistant pour l’analyse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53106-1796-CAB6-BD93-DF3910817463}"/>
              </a:ext>
            </a:extLst>
          </p:cNvPr>
          <p:cNvSpPr txBox="1"/>
          <p:nvPr/>
        </p:nvSpPr>
        <p:spPr>
          <a:xfrm>
            <a:off x="6024388" y="3249368"/>
            <a:ext cx="877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fr-FR" sz="900">
                <a:solidFill>
                  <a:srgbClr val="02023F"/>
                </a:solidFill>
                <a:latin typeface="Segoe UI"/>
              </a:rPr>
              <a:t>*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9501F1-7BFA-9EE5-4E2A-51C030984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68" y="906859"/>
            <a:ext cx="7994505" cy="4119257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294C04-7639-4890-636C-9B923DA288D2}"/>
              </a:ext>
            </a:extLst>
          </p:cNvPr>
          <p:cNvSpPr/>
          <p:nvPr/>
        </p:nvSpPr>
        <p:spPr>
          <a:xfrm>
            <a:off x="6369232" y="2872564"/>
            <a:ext cx="602001" cy="131457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fr-FR" sz="1350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0909768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48311093-88DD-E591-0973-140BB8140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582"/>
            <a:ext cx="9144000" cy="491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14604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00BCD4">
                    <a:alpha val="45000"/>
                  </a:srgbClr>
                </a:solidFill>
              </a:rPr>
              <a:t>XX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Ce </a:t>
            </a:r>
            <a:r>
              <a:rPr lang="en-US" sz="3400" b="1" dirty="0" err="1">
                <a:solidFill>
                  <a:srgbClr val="FFFFFF"/>
                </a:solidFill>
              </a:rPr>
              <a:t>que</a:t>
            </a:r>
            <a:r>
              <a:rPr lang="en-US" sz="3400" b="1" dirty="0">
                <a:solidFill>
                  <a:srgbClr val="FFFFFF"/>
                </a:solidFill>
              </a:rPr>
              <a:t> Copilot </a:t>
            </a:r>
            <a:r>
              <a:rPr lang="en-US" sz="3400" b="1" dirty="0" err="1">
                <a:solidFill>
                  <a:srgbClr val="FFFFFF"/>
                </a:solidFill>
              </a:rPr>
              <a:t>peut</a:t>
            </a:r>
            <a:r>
              <a:rPr lang="en-US" sz="3400" b="1" dirty="0">
                <a:solidFill>
                  <a:srgbClr val="FFFFFF"/>
                </a:solidFill>
              </a:rPr>
              <a:t> faire pour vous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BCD4"/>
                </a:solidFill>
              </a:rPr>
              <a:t>Toute la palette des </a:t>
            </a:r>
            <a:r>
              <a:rPr lang="en-US" sz="1500" dirty="0" err="1">
                <a:solidFill>
                  <a:srgbClr val="00BCD4"/>
                </a:solidFill>
              </a:rPr>
              <a:t>fonctionnalités</a:t>
            </a:r>
            <a:r>
              <a:rPr lang="en-US" sz="1500" dirty="0">
                <a:solidFill>
                  <a:srgbClr val="00BCD4"/>
                </a:solidFill>
              </a:rPr>
              <a:t> de Copilot pour Power BI</a:t>
            </a:r>
            <a:endParaRPr lang="en-US" sz="15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Copilot pour Power BI  ·  Sommaire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FFFFFF"/>
                </a:solidFill>
              </a:rPr>
              <a:t>Ce que </a:t>
            </a:r>
            <a:r>
              <a:rPr lang="fr-FR" sz="2800" b="1" dirty="0" err="1">
                <a:solidFill>
                  <a:srgbClr val="FFFFFF"/>
                </a:solidFill>
              </a:rPr>
              <a:t>Copilot</a:t>
            </a:r>
            <a:r>
              <a:rPr lang="fr-FR" sz="2800" b="1" dirty="0">
                <a:solidFill>
                  <a:srgbClr val="FFFFFF"/>
                </a:solidFill>
              </a:rPr>
              <a:t> peut faire pour vous</a:t>
            </a:r>
            <a:endParaRPr lang="fr-FR" sz="2800" b="1" dirty="0"/>
          </a:p>
        </p:txBody>
      </p:sp>
      <p:sp>
        <p:nvSpPr>
          <p:cNvPr id="6" name="Tick1"/>
          <p:cNvSpPr/>
          <p:nvPr/>
        </p:nvSpPr>
        <p:spPr>
          <a:xfrm>
            <a:off x="457200" y="224572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Item1"/>
          <p:cNvSpPr/>
          <p:nvPr/>
        </p:nvSpPr>
        <p:spPr>
          <a:xfrm>
            <a:off x="658368" y="2200000"/>
            <a:ext cx="79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500" b="1" dirty="0">
                <a:solidFill>
                  <a:srgbClr val="00BCD4"/>
                </a:solidFill>
              </a:rPr>
              <a:t>1    </a:t>
            </a:r>
            <a:r>
              <a:rPr lang="fr-FR" sz="1500" dirty="0">
                <a:solidFill>
                  <a:srgbClr val="FFFFFF"/>
                </a:solidFill>
              </a:rPr>
              <a:t>Répondre à vos questions sur vos données</a:t>
            </a:r>
            <a:endParaRPr lang="fr-FR" sz="1500" dirty="0"/>
          </a:p>
        </p:txBody>
      </p:sp>
      <p:sp>
        <p:nvSpPr>
          <p:cNvPr id="8" name="Tick2"/>
          <p:cNvSpPr/>
          <p:nvPr/>
        </p:nvSpPr>
        <p:spPr>
          <a:xfrm>
            <a:off x="457200" y="264572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Item2"/>
          <p:cNvSpPr/>
          <p:nvPr/>
        </p:nvSpPr>
        <p:spPr>
          <a:xfrm>
            <a:off x="658368" y="2600000"/>
            <a:ext cx="79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500" b="1" dirty="0">
                <a:solidFill>
                  <a:srgbClr val="00BCD4"/>
                </a:solidFill>
              </a:rPr>
              <a:t>2    </a:t>
            </a:r>
            <a:r>
              <a:rPr lang="fr-FR" sz="1500" dirty="0">
                <a:solidFill>
                  <a:srgbClr val="FFFFFF"/>
                </a:solidFill>
              </a:rPr>
              <a:t>Résumer et expliquer votre rapport Power BI</a:t>
            </a:r>
            <a:endParaRPr lang="fr-FR" sz="1500" dirty="0"/>
          </a:p>
        </p:txBody>
      </p:sp>
      <p:sp>
        <p:nvSpPr>
          <p:cNvPr id="10" name="Tick3"/>
          <p:cNvSpPr/>
          <p:nvPr/>
        </p:nvSpPr>
        <p:spPr>
          <a:xfrm>
            <a:off x="457200" y="304572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Item3"/>
          <p:cNvSpPr/>
          <p:nvPr/>
        </p:nvSpPr>
        <p:spPr>
          <a:xfrm>
            <a:off x="658368" y="3000000"/>
            <a:ext cx="79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500" b="1" dirty="0">
                <a:solidFill>
                  <a:srgbClr val="00BCD4"/>
                </a:solidFill>
              </a:rPr>
              <a:t>3    </a:t>
            </a:r>
            <a:r>
              <a:rPr lang="fr-FR" sz="1500" dirty="0">
                <a:solidFill>
                  <a:srgbClr val="FFFFFF"/>
                </a:solidFill>
              </a:rPr>
              <a:t>Explorer et affiner vos questions de données</a:t>
            </a:r>
            <a:endParaRPr lang="fr-FR" sz="1500" dirty="0"/>
          </a:p>
        </p:txBody>
      </p:sp>
      <p:sp>
        <p:nvSpPr>
          <p:cNvPr id="12" name="Tick4"/>
          <p:cNvSpPr/>
          <p:nvPr/>
        </p:nvSpPr>
        <p:spPr>
          <a:xfrm>
            <a:off x="457200" y="344572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Item4"/>
          <p:cNvSpPr/>
          <p:nvPr/>
        </p:nvSpPr>
        <p:spPr>
          <a:xfrm>
            <a:off x="658368" y="3400000"/>
            <a:ext cx="79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500" b="1" dirty="0">
                <a:solidFill>
                  <a:srgbClr val="00BCD4"/>
                </a:solidFill>
              </a:rPr>
              <a:t>4    </a:t>
            </a:r>
            <a:r>
              <a:rPr lang="fr-FR" sz="1500" dirty="0">
                <a:solidFill>
                  <a:srgbClr val="FFFFFF"/>
                </a:solidFill>
              </a:rPr>
              <a:t>Vous guider dans l’usage et l’interprétation de Power BI</a:t>
            </a:r>
            <a:endParaRPr lang="fr-FR" sz="1500" dirty="0"/>
          </a:p>
        </p:txBody>
      </p:sp>
      <p:sp>
        <p:nvSpPr>
          <p:cNvPr id="14" name="Tick5"/>
          <p:cNvSpPr/>
          <p:nvPr/>
        </p:nvSpPr>
        <p:spPr>
          <a:xfrm>
            <a:off x="457200" y="384572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Item5"/>
          <p:cNvSpPr/>
          <p:nvPr/>
        </p:nvSpPr>
        <p:spPr>
          <a:xfrm>
            <a:off x="658368" y="3800000"/>
            <a:ext cx="79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500" b="1" dirty="0">
                <a:solidFill>
                  <a:srgbClr val="00BCD4"/>
                </a:solidFill>
              </a:rPr>
              <a:t>5    </a:t>
            </a:r>
            <a:r>
              <a:rPr lang="fr-FR" sz="1500" dirty="0">
                <a:solidFill>
                  <a:srgbClr val="FFFFFF"/>
                </a:solidFill>
              </a:rPr>
              <a:t>Expliquer les analyses en termes métier</a:t>
            </a:r>
            <a:endParaRPr lang="fr-FR" sz="1500" dirty="0"/>
          </a:p>
        </p:txBody>
      </p:sp>
      <p:sp>
        <p:nvSpPr>
          <p:cNvPr id="16" name="Tick6"/>
          <p:cNvSpPr/>
          <p:nvPr/>
        </p:nvSpPr>
        <p:spPr>
          <a:xfrm>
            <a:off x="457200" y="424572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Item6"/>
          <p:cNvSpPr/>
          <p:nvPr/>
        </p:nvSpPr>
        <p:spPr>
          <a:xfrm>
            <a:off x="658368" y="4200000"/>
            <a:ext cx="79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500" b="1" dirty="0">
                <a:solidFill>
                  <a:srgbClr val="00BCD4"/>
                </a:solidFill>
              </a:rPr>
              <a:t>6    </a:t>
            </a:r>
            <a:r>
              <a:rPr lang="fr-FR" sz="1500" dirty="0">
                <a:solidFill>
                  <a:srgbClr val="FFFFFF"/>
                </a:solidFill>
              </a:rPr>
              <a:t>Reformuler et adapter les résultats selon l’audience</a:t>
            </a:r>
            <a:endParaRPr lang="fr-FR" sz="1500" dirty="0"/>
          </a:p>
        </p:txBody>
      </p:sp>
      <p:sp>
        <p:nvSpPr>
          <p:cNvPr id="18" name="Tick7"/>
          <p:cNvSpPr/>
          <p:nvPr/>
        </p:nvSpPr>
        <p:spPr>
          <a:xfrm>
            <a:off x="457200" y="464572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Item7"/>
          <p:cNvSpPr/>
          <p:nvPr/>
        </p:nvSpPr>
        <p:spPr>
          <a:xfrm>
            <a:off x="658368" y="4600000"/>
            <a:ext cx="79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500" b="1" dirty="0">
                <a:solidFill>
                  <a:srgbClr val="00BCD4"/>
                </a:solidFill>
              </a:rPr>
              <a:t>7    </a:t>
            </a:r>
            <a:r>
              <a:rPr lang="fr-FR" sz="1500" dirty="0">
                <a:solidFill>
                  <a:srgbClr val="FFFFFF"/>
                </a:solidFill>
              </a:rPr>
              <a:t>Support analytique général (conceptuel)</a:t>
            </a:r>
            <a:endParaRPr lang="fr-FR" sz="15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A178007-769C-EEC5-BDF0-71D80D586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5C07-91DB-447C-9707-569DBBBD61E6}" type="slidenum">
              <a:rPr lang="fr-FR" smtClean="0"/>
              <a:t>91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3CF3C48-179D-0A01-FCF4-F47EA8188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03" y="0"/>
            <a:ext cx="1924274" cy="51435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BC96AE2-8572-2706-129A-356BE34DF6C5}"/>
              </a:ext>
            </a:extLst>
          </p:cNvPr>
          <p:cNvSpPr txBox="1"/>
          <p:nvPr/>
        </p:nvSpPr>
        <p:spPr>
          <a:xfrm>
            <a:off x="3385820" y="-2171062"/>
            <a:ext cx="4597400" cy="8009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Font typeface="+mj-lt"/>
              <a:buAutoNum type="arabicPeriod"/>
            </a:pP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Answer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questions about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your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data (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using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your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Power BI model)</a:t>
            </a:r>
            <a:endParaRPr lang="fr-FR" sz="105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Examples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</a:t>
            </a:r>
          </a:p>
          <a:p>
            <a:pPr marL="1143000" marR="0" lvl="2" indent="-22860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“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What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were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total sales last quarter by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region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?”</a:t>
            </a:r>
          </a:p>
          <a:p>
            <a:pPr marL="1143000" marR="0" lvl="2" indent="-22860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“Show me a breakdown of revenue by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product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category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.”</a:t>
            </a:r>
          </a:p>
          <a:p>
            <a:pPr marL="1143000" marR="0" lvl="2" indent="-22860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“List the top 10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customers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by profit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this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year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.”</a:t>
            </a: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 route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these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to Power BI Q&amp;A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behind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the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scenes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and return a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visual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/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answer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based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on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your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dataset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or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semantic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model.</a:t>
            </a:r>
          </a:p>
          <a:p>
            <a:pPr marL="0" marR="0" indent="0" algn="l">
              <a:buFont typeface="+mj-lt"/>
              <a:buAutoNum type="arabicPeriod"/>
            </a:pP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Summarize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and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explain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your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active Power BI report</a:t>
            </a:r>
            <a:endParaRPr lang="fr-FR" sz="105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Provide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executive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summaries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of a report page or the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whole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report.</a:t>
            </a: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Highlight 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key trends, anomalies, and drivers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(“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What’s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driving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the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increase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in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churn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?”).</a:t>
            </a: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Explain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what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specific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visuals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are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showing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in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clear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business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language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Reformat the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summary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in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different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styles (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bullet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points, narrative, more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technical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, more high-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level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), by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regenerating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the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summary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via the report-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analysis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tool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0" marR="0" indent="0" algn="l">
              <a:buFont typeface="+mj-lt"/>
              <a:buAutoNum type="arabicPeriod"/>
            </a:pP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Help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you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explore and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refine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data questions</a:t>
            </a:r>
            <a:endParaRPr lang="fr-FR" sz="105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Turn vague questions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into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precise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answerable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queries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Help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you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break down multi-part questions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into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single,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focused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questions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that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can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be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answered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reliably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Suggest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follow-up questions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or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deeper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cuts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(by time, segment,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region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product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, etc.).</a:t>
            </a:r>
          </a:p>
          <a:p>
            <a:pPr marL="0" marR="0" indent="0" algn="l">
              <a:buFont typeface="+mj-lt"/>
              <a:buAutoNum type="arabicPeriod"/>
            </a:pP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Guide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you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on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using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and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interpreting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Power BI</a:t>
            </a:r>
            <a:endParaRPr lang="fr-FR" sz="105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Help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you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understand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</a:t>
            </a:r>
          </a:p>
          <a:p>
            <a:pPr marL="1143000" marR="0" lvl="2" indent="-22860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Measures, dimensions,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filters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, drill-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downs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1143000" marR="0" lvl="2" indent="-22860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Common patterns like time intelligence (YoY,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MoM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trends) at a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conceptual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level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Clarify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what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a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field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or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metric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likely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represents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based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on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its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naming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and how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it’s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used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in the report (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when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visible via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tools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).</a:t>
            </a:r>
          </a:p>
          <a:p>
            <a:pPr marL="0" marR="0" indent="0" algn="l">
              <a:buFont typeface="+mj-lt"/>
              <a:buAutoNum type="arabicPeriod"/>
            </a:pP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Explain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insights in business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terms</a:t>
            </a:r>
            <a:endParaRPr lang="fr-FR" sz="105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Translate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metrics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into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implications:</a:t>
            </a:r>
          </a:p>
          <a:p>
            <a:pPr marL="1143000" marR="0" lvl="2" indent="-22860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“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What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does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this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drop in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margin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mean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for the business?”</a:t>
            </a:r>
          </a:p>
          <a:p>
            <a:pPr marL="1143000" marR="0" lvl="2" indent="-22860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“How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should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I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interpret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a spike in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returns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in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this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region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?”</a:t>
            </a: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Provide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structured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commentary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you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can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reuse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in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presentations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or emails (e.g., management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summaries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).</a:t>
            </a:r>
          </a:p>
          <a:p>
            <a:pPr marL="0" marR="0" indent="0" algn="l">
              <a:buFont typeface="+mj-lt"/>
              <a:buAutoNum type="arabicPeriod"/>
            </a:pP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Rephrase or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adapt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outputs for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different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audiences</a:t>
            </a:r>
            <a:endParaRPr lang="fr-FR" sz="105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Turn insights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into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</a:t>
            </a:r>
          </a:p>
          <a:p>
            <a:pPr marL="1143000" marR="0" lvl="2" indent="-228600" algn="l">
              <a:buFont typeface="+mj-lt"/>
              <a:buAutoNum type="arabicPeriod"/>
            </a:pP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Executive-level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summaries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1143000" marR="0" lvl="2" indent="-228600" algn="l">
              <a:buFont typeface="+mj-lt"/>
              <a:buAutoNum type="arabicPeriod"/>
            </a:pP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Analyst-level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breakdowns.</a:t>
            </a:r>
          </a:p>
          <a:p>
            <a:pPr marL="1143000" marR="0" lvl="2" indent="-22860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Bullet points for slides or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talking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points for meetings.</a:t>
            </a:r>
          </a:p>
          <a:p>
            <a:pPr marL="0" marR="0" indent="0" algn="l">
              <a:buFont typeface="+mj-lt"/>
              <a:buAutoNum type="arabicPeriod"/>
            </a:pP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General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analytical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support (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conceptual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, not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tool-based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)</a:t>
            </a:r>
            <a:endParaRPr lang="fr-FR" sz="105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Discuss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best practices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for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reading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dashboards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and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metrics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742950" marR="0" lvl="1" indent="-285750" algn="l">
              <a:buFont typeface="+mj-lt"/>
              <a:buAutoNum type="arabicPeriod"/>
            </a:pP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Help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you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think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through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KPIs, segmentation, and basic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analytical</a:t>
            </a:r>
            <a:r>
              <a:rPr lang="fr-FR" sz="105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logic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(e.g., how to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interpret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a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funnel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cohort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, or time-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series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view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sz="105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conceptually</a:t>
            </a:r>
            <a:r>
              <a:rPr lang="fr-FR" sz="105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3683545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Copilot pour Power BI  ·  1/7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Répondre à vos questions sur vos données</a:t>
            </a:r>
            <a:endParaRPr lang="fr-FR" sz="2800" b="1"/>
          </a:p>
        </p:txBody>
      </p:sp>
      <p:sp>
        <p:nvSpPr>
          <p:cNvPr id="6" name="Tick1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1"/>
          <p:cNvSpPr/>
          <p:nvPr/>
        </p:nvSpPr>
        <p:spPr>
          <a:xfrm>
            <a:off x="658368" y="222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Interrogez votre modèle Power BI en langage naturel, sans écrire de requête.</a:t>
            </a:r>
            <a:endParaRPr lang="fr-FR" sz="1300"/>
          </a:p>
        </p:txBody>
      </p:sp>
      <p:sp>
        <p:nvSpPr>
          <p:cNvPr id="8" name="Tick2"/>
          <p:cNvSpPr/>
          <p:nvPr/>
        </p:nvSpPr>
        <p:spPr>
          <a:xfrm>
            <a:off x="457200" y="283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2"/>
          <p:cNvSpPr/>
          <p:nvPr/>
        </p:nvSpPr>
        <p:spPr>
          <a:xfrm>
            <a:off x="658368" y="278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« Quel a été le total des ventes du dernier trimestre par région ? »</a:t>
            </a:r>
            <a:endParaRPr lang="fr-FR" sz="1300"/>
          </a:p>
        </p:txBody>
      </p:sp>
      <p:sp>
        <p:nvSpPr>
          <p:cNvPr id="10" name="Tick3"/>
          <p:cNvSpPr/>
          <p:nvPr/>
        </p:nvSpPr>
        <p:spPr>
          <a:xfrm>
            <a:off x="457200" y="339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3"/>
          <p:cNvSpPr/>
          <p:nvPr/>
        </p:nvSpPr>
        <p:spPr>
          <a:xfrm>
            <a:off x="658368" y="334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« Montre-moi la répartition du chiffre d’affaires par catégorie de produit. »</a:t>
            </a:r>
            <a:endParaRPr lang="fr-FR" sz="1300"/>
          </a:p>
        </p:txBody>
      </p:sp>
      <p:sp>
        <p:nvSpPr>
          <p:cNvPr id="12" name="Tick4"/>
          <p:cNvSpPr/>
          <p:nvPr/>
        </p:nvSpPr>
        <p:spPr>
          <a:xfrm>
            <a:off x="457200" y="395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Bullet4"/>
          <p:cNvSpPr/>
          <p:nvPr/>
        </p:nvSpPr>
        <p:spPr>
          <a:xfrm>
            <a:off x="658368" y="390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« Liste les 10 meilleurs clients par profit cette année. »</a:t>
            </a:r>
            <a:endParaRPr lang="fr-FR" sz="1300"/>
          </a:p>
        </p:txBody>
      </p:sp>
      <p:sp>
        <p:nvSpPr>
          <p:cNvPr id="14" name="Tick5"/>
          <p:cNvSpPr/>
          <p:nvPr/>
        </p:nvSpPr>
        <p:spPr>
          <a:xfrm>
            <a:off x="457200" y="451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Bullet5"/>
          <p:cNvSpPr/>
          <p:nvPr/>
        </p:nvSpPr>
        <p:spPr>
          <a:xfrm>
            <a:off x="658368" y="446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Les questions sont routées vers Power BI Q&amp;A et renvoient un visuel ou une réponse issus de votre modèle sémantique.</a:t>
            </a:r>
            <a:endParaRPr lang="fr-FR" sz="13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Copilot pour Power BI  ·  2/7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Résumer et expliquer votre rapport Power BI</a:t>
            </a:r>
            <a:endParaRPr lang="fr-FR" sz="2800" b="1"/>
          </a:p>
        </p:txBody>
      </p:sp>
      <p:sp>
        <p:nvSpPr>
          <p:cNvPr id="6" name="Tick1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1"/>
          <p:cNvSpPr/>
          <p:nvPr/>
        </p:nvSpPr>
        <p:spPr>
          <a:xfrm>
            <a:off x="658368" y="222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Produire des synthèses exécutives d’une page ou du rapport entier.</a:t>
            </a:r>
            <a:endParaRPr lang="fr-FR" sz="1300"/>
          </a:p>
        </p:txBody>
      </p:sp>
      <p:sp>
        <p:nvSpPr>
          <p:cNvPr id="8" name="Tick2"/>
          <p:cNvSpPr/>
          <p:nvPr/>
        </p:nvSpPr>
        <p:spPr>
          <a:xfrm>
            <a:off x="457200" y="283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2"/>
          <p:cNvSpPr/>
          <p:nvPr/>
        </p:nvSpPr>
        <p:spPr>
          <a:xfrm>
            <a:off x="658368" y="278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Mettre en évidence tendances clés, anomalies et facteurs (« Qu’est-ce qui explique la hausse du churn ? »).</a:t>
            </a:r>
            <a:endParaRPr lang="fr-FR" sz="1300"/>
          </a:p>
        </p:txBody>
      </p:sp>
      <p:sp>
        <p:nvSpPr>
          <p:cNvPr id="10" name="Tick3"/>
          <p:cNvSpPr/>
          <p:nvPr/>
        </p:nvSpPr>
        <p:spPr>
          <a:xfrm>
            <a:off x="457200" y="339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3"/>
          <p:cNvSpPr/>
          <p:nvPr/>
        </p:nvSpPr>
        <p:spPr>
          <a:xfrm>
            <a:off x="658368" y="334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Expliquer ce que montrent des visuels précis en langage métier clair.</a:t>
            </a:r>
            <a:endParaRPr lang="fr-FR" sz="1300"/>
          </a:p>
        </p:txBody>
      </p:sp>
      <p:sp>
        <p:nvSpPr>
          <p:cNvPr id="12" name="Tick4"/>
          <p:cNvSpPr/>
          <p:nvPr/>
        </p:nvSpPr>
        <p:spPr>
          <a:xfrm>
            <a:off x="457200" y="395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Bullet4"/>
          <p:cNvSpPr/>
          <p:nvPr/>
        </p:nvSpPr>
        <p:spPr>
          <a:xfrm>
            <a:off x="658368" y="390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Reformuler le résumé selon différents styles : puces, récit, plus technique ou plus synthétique.</a:t>
            </a:r>
            <a:endParaRPr lang="fr-FR" sz="13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Copilot pour Power BI  ·  3/7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Explorer et affiner vos questions de données</a:t>
            </a:r>
            <a:endParaRPr lang="fr-FR" sz="2800" b="1"/>
          </a:p>
        </p:txBody>
      </p:sp>
      <p:sp>
        <p:nvSpPr>
          <p:cNvPr id="6" name="Tick1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1"/>
          <p:cNvSpPr/>
          <p:nvPr/>
        </p:nvSpPr>
        <p:spPr>
          <a:xfrm>
            <a:off x="658368" y="222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Transformer des questions vagues en requêtes précises et exploitables.</a:t>
            </a:r>
            <a:endParaRPr lang="fr-FR" sz="1300"/>
          </a:p>
        </p:txBody>
      </p:sp>
      <p:sp>
        <p:nvSpPr>
          <p:cNvPr id="8" name="Tick2"/>
          <p:cNvSpPr/>
          <p:nvPr/>
        </p:nvSpPr>
        <p:spPr>
          <a:xfrm>
            <a:off x="457200" y="283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2"/>
          <p:cNvSpPr/>
          <p:nvPr/>
        </p:nvSpPr>
        <p:spPr>
          <a:xfrm>
            <a:off x="658368" y="278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Décomposer les questions à volets multiples en questions uniques et ciblées, répondables de façon fiable.</a:t>
            </a:r>
            <a:endParaRPr lang="fr-FR" sz="1300"/>
          </a:p>
        </p:txBody>
      </p:sp>
      <p:sp>
        <p:nvSpPr>
          <p:cNvPr id="10" name="Tick3"/>
          <p:cNvSpPr/>
          <p:nvPr/>
        </p:nvSpPr>
        <p:spPr>
          <a:xfrm>
            <a:off x="457200" y="339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3"/>
          <p:cNvSpPr/>
          <p:nvPr/>
        </p:nvSpPr>
        <p:spPr>
          <a:xfrm>
            <a:off x="658368" y="334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Suggérer des questions de suivi ou des analyses plus fines (par période, segment, région, produit…).</a:t>
            </a:r>
            <a:endParaRPr lang="fr-FR" sz="13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86F12C9-BEF8-5C7D-2B9C-8F58AF3BC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068" y="0"/>
            <a:ext cx="34718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702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EE7447A-D0C3-DF27-3382-FE49D47BB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471"/>
            <a:ext cx="9144000" cy="453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4888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0AB2282-20F9-8DE8-481C-1BE71704F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67" y="328299"/>
            <a:ext cx="3115110" cy="44869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EB83B00-9282-B74D-D588-D02DE0521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428" y="328299"/>
            <a:ext cx="3029373" cy="29722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871655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Copilot pour Power BI  ·  4/7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Vous guider dans l’usage et l’interprétation de Power BI</a:t>
            </a:r>
            <a:endParaRPr lang="fr-FR" sz="2800" b="1"/>
          </a:p>
        </p:txBody>
      </p:sp>
      <p:sp>
        <p:nvSpPr>
          <p:cNvPr id="6" name="Tick1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1"/>
          <p:cNvSpPr/>
          <p:nvPr/>
        </p:nvSpPr>
        <p:spPr>
          <a:xfrm>
            <a:off x="658368" y="222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Comprendre les mesures, dimensions, filtres et niveaux de détail (drill-down).</a:t>
            </a:r>
            <a:endParaRPr lang="fr-FR" sz="1300"/>
          </a:p>
        </p:txBody>
      </p:sp>
      <p:sp>
        <p:nvSpPr>
          <p:cNvPr id="8" name="Tick2"/>
          <p:cNvSpPr/>
          <p:nvPr/>
        </p:nvSpPr>
        <p:spPr>
          <a:xfrm>
            <a:off x="457200" y="283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2"/>
          <p:cNvSpPr/>
          <p:nvPr/>
        </p:nvSpPr>
        <p:spPr>
          <a:xfrm>
            <a:off x="658368" y="278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Maîtriser les schémas courants comme la time intelligence (tendances YoY, MoM) au niveau conceptuel.</a:t>
            </a:r>
            <a:endParaRPr lang="fr-FR" sz="1300"/>
          </a:p>
        </p:txBody>
      </p:sp>
      <p:sp>
        <p:nvSpPr>
          <p:cNvPr id="10" name="Tick3"/>
          <p:cNvSpPr/>
          <p:nvPr/>
        </p:nvSpPr>
        <p:spPr>
          <a:xfrm>
            <a:off x="457200" y="339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3"/>
          <p:cNvSpPr/>
          <p:nvPr/>
        </p:nvSpPr>
        <p:spPr>
          <a:xfrm>
            <a:off x="658368" y="334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Clarifier ce qu’un champ ou une métrique représente probablement, selon son nom et son usage dans le rapport.</a:t>
            </a:r>
            <a:endParaRPr lang="fr-FR" sz="13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Copilot pour Power BI  ·  5/7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Expliquer les analyses en termes métier</a:t>
            </a:r>
            <a:endParaRPr lang="fr-FR" sz="2800" b="1"/>
          </a:p>
        </p:txBody>
      </p:sp>
      <p:sp>
        <p:nvSpPr>
          <p:cNvPr id="6" name="Tick1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1"/>
          <p:cNvSpPr/>
          <p:nvPr/>
        </p:nvSpPr>
        <p:spPr>
          <a:xfrm>
            <a:off x="658368" y="222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Traduire les métriques en implications concrètes pour l’entreprise.</a:t>
            </a:r>
            <a:endParaRPr lang="fr-FR" sz="1300"/>
          </a:p>
        </p:txBody>
      </p:sp>
      <p:sp>
        <p:nvSpPr>
          <p:cNvPr id="8" name="Tick2"/>
          <p:cNvSpPr/>
          <p:nvPr/>
        </p:nvSpPr>
        <p:spPr>
          <a:xfrm>
            <a:off x="457200" y="283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2"/>
          <p:cNvSpPr/>
          <p:nvPr/>
        </p:nvSpPr>
        <p:spPr>
          <a:xfrm>
            <a:off x="658368" y="278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« Que signifie cette baisse de marge pour l’activité ? »</a:t>
            </a:r>
            <a:endParaRPr lang="fr-FR" sz="1300"/>
          </a:p>
        </p:txBody>
      </p:sp>
      <p:sp>
        <p:nvSpPr>
          <p:cNvPr id="10" name="Tick3"/>
          <p:cNvSpPr/>
          <p:nvPr/>
        </p:nvSpPr>
        <p:spPr>
          <a:xfrm>
            <a:off x="457200" y="339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3"/>
          <p:cNvSpPr/>
          <p:nvPr/>
        </p:nvSpPr>
        <p:spPr>
          <a:xfrm>
            <a:off x="658368" y="334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« Comment interpréter un pic de retours dans cette région ? »</a:t>
            </a:r>
            <a:endParaRPr lang="fr-FR" sz="1300"/>
          </a:p>
        </p:txBody>
      </p:sp>
      <p:sp>
        <p:nvSpPr>
          <p:cNvPr id="12" name="Tick4"/>
          <p:cNvSpPr/>
          <p:nvPr/>
        </p:nvSpPr>
        <p:spPr>
          <a:xfrm>
            <a:off x="457200" y="395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Bullet4"/>
          <p:cNvSpPr/>
          <p:nvPr/>
        </p:nvSpPr>
        <p:spPr>
          <a:xfrm>
            <a:off x="658368" y="390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Fournir un commentaire structuré, réutilisable en présentations ou e-mails (ex. synthèses de direction).</a:t>
            </a:r>
            <a:endParaRPr lang="fr-FR" sz="13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F3B2623-CAB3-EABB-F458-FD1DC5596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823"/>
            <a:ext cx="9144000" cy="170184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0DFC26B-18BC-6CE3-2CE0-DA3262E28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32628"/>
            <a:ext cx="9144000" cy="236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45569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187DEDE-9A6F-865D-1211-32FB2E53B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961"/>
            <a:ext cx="9144000" cy="455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9507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Copilot pour Power BI  ·  6/7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Reformuler et adapter les résultats selon l’audience</a:t>
            </a:r>
            <a:endParaRPr lang="fr-FR" sz="2800" b="1"/>
          </a:p>
        </p:txBody>
      </p:sp>
      <p:sp>
        <p:nvSpPr>
          <p:cNvPr id="6" name="Tick1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1"/>
          <p:cNvSpPr/>
          <p:nvPr/>
        </p:nvSpPr>
        <p:spPr>
          <a:xfrm>
            <a:off x="658368" y="222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Synthèses de niveau exécutif.</a:t>
            </a:r>
            <a:endParaRPr lang="fr-FR" sz="1300"/>
          </a:p>
        </p:txBody>
      </p:sp>
      <p:sp>
        <p:nvSpPr>
          <p:cNvPr id="8" name="Tick2"/>
          <p:cNvSpPr/>
          <p:nvPr/>
        </p:nvSpPr>
        <p:spPr>
          <a:xfrm>
            <a:off x="457200" y="283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2"/>
          <p:cNvSpPr/>
          <p:nvPr/>
        </p:nvSpPr>
        <p:spPr>
          <a:xfrm>
            <a:off x="658368" y="278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Analyses détaillées de niveau analyste.</a:t>
            </a:r>
            <a:endParaRPr lang="fr-FR" sz="1300"/>
          </a:p>
        </p:txBody>
      </p:sp>
      <p:sp>
        <p:nvSpPr>
          <p:cNvPr id="10" name="Tick3"/>
          <p:cNvSpPr/>
          <p:nvPr/>
        </p:nvSpPr>
        <p:spPr>
          <a:xfrm>
            <a:off x="457200" y="339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3"/>
          <p:cNvSpPr/>
          <p:nvPr/>
        </p:nvSpPr>
        <p:spPr>
          <a:xfrm>
            <a:off x="658368" y="334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Puces pour diapositives ou points de discussion pour réunions.</a:t>
            </a:r>
            <a:endParaRPr lang="fr-FR" sz="130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Copilot pour Power BI  ·  7/7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Support analytique général (conceptuel)</a:t>
            </a:r>
            <a:endParaRPr lang="fr-FR" sz="2800" b="1"/>
          </a:p>
        </p:txBody>
      </p:sp>
      <p:sp>
        <p:nvSpPr>
          <p:cNvPr id="6" name="Tick1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1"/>
          <p:cNvSpPr/>
          <p:nvPr/>
        </p:nvSpPr>
        <p:spPr>
          <a:xfrm>
            <a:off x="658368" y="222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Échanger sur les bonnes pratiques de lecture des tableaux de bord et des métriques.</a:t>
            </a:r>
            <a:endParaRPr lang="fr-FR" sz="1300"/>
          </a:p>
        </p:txBody>
      </p:sp>
      <p:sp>
        <p:nvSpPr>
          <p:cNvPr id="8" name="Tick2"/>
          <p:cNvSpPr/>
          <p:nvPr/>
        </p:nvSpPr>
        <p:spPr>
          <a:xfrm>
            <a:off x="457200" y="283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2"/>
          <p:cNvSpPr/>
          <p:nvPr/>
        </p:nvSpPr>
        <p:spPr>
          <a:xfrm>
            <a:off x="658368" y="278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Aider à réfléchir aux KPI, à la segmentation et à la logique analytique de base.</a:t>
            </a:r>
            <a:endParaRPr lang="fr-FR" sz="1300"/>
          </a:p>
        </p:txBody>
      </p:sp>
      <p:sp>
        <p:nvSpPr>
          <p:cNvPr id="10" name="Tick3"/>
          <p:cNvSpPr/>
          <p:nvPr/>
        </p:nvSpPr>
        <p:spPr>
          <a:xfrm>
            <a:off x="457200" y="339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3"/>
          <p:cNvSpPr/>
          <p:nvPr/>
        </p:nvSpPr>
        <p:spPr>
          <a:xfrm>
            <a:off x="658368" y="334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>
                <a:solidFill>
                  <a:srgbClr val="CBD5E1"/>
                </a:solidFill>
              </a:rPr>
              <a:t>Interpréter conceptuellement un entonnoir (funnel), une cohorte ou une série temporelle.</a:t>
            </a:r>
            <a:endParaRPr lang="fr-FR" sz="130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247C4170-6F37-1C4D-A1EB-C8A166CAC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Copilot</a:t>
            </a:r>
            <a:r>
              <a:rPr lang="fr-FR" dirty="0"/>
              <a:t> sur le modèle sémantique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830598E-8C0B-8712-2E58-0B1FA7A58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28" y="1184421"/>
            <a:ext cx="2460023" cy="382974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CAB9CD1-D2A9-2D68-32AE-C94C20886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646" y="1180256"/>
            <a:ext cx="2438108" cy="389549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368B21F-6EC1-646A-B84F-8DE06EB08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349" y="1207042"/>
            <a:ext cx="2470982" cy="386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4313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B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ottomBar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Label"/>
          <p:cNvSpPr/>
          <p:nvPr/>
        </p:nvSpPr>
        <p:spPr>
          <a:xfrm>
            <a:off x="457200" y="54864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00BCD4"/>
                </a:solidFill>
              </a:rPr>
              <a:t>Copilot pour Power BI  ·  Prise en main</a:t>
            </a:r>
            <a:endParaRPr lang="fr-FR" sz="1400"/>
          </a:p>
        </p:txBody>
      </p:sp>
      <p:sp>
        <p:nvSpPr>
          <p:cNvPr id="5" name="Title"/>
          <p:cNvSpPr/>
          <p:nvPr/>
        </p:nvSpPr>
        <p:spPr>
          <a:xfrm>
            <a:off x="457200" y="9423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>
                <a:solidFill>
                  <a:srgbClr val="FFFFFF"/>
                </a:solidFill>
              </a:rPr>
              <a:t>Démarrer une conversation avec Copilot</a:t>
            </a:r>
            <a:endParaRPr lang="fr-FR" sz="2800" b="1"/>
          </a:p>
        </p:txBody>
      </p:sp>
      <p:sp>
        <p:nvSpPr>
          <p:cNvPr id="6" name="Tick1"/>
          <p:cNvSpPr/>
          <p:nvPr/>
        </p:nvSpPr>
        <p:spPr>
          <a:xfrm>
            <a:off x="457200" y="227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Bullet1"/>
          <p:cNvSpPr/>
          <p:nvPr/>
        </p:nvSpPr>
        <p:spPr>
          <a:xfrm>
            <a:off x="658368" y="222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dirty="0">
                <a:solidFill>
                  <a:srgbClr val="CBD5E1"/>
                </a:solidFill>
              </a:rPr>
              <a:t>Ouvrir le rapport Power BI dans un espace de travail </a:t>
            </a:r>
            <a:r>
              <a:rPr lang="fr-FR" sz="1300" dirty="0" err="1">
                <a:solidFill>
                  <a:srgbClr val="CBD5E1"/>
                </a:solidFill>
              </a:rPr>
              <a:t>Fabric</a:t>
            </a:r>
            <a:r>
              <a:rPr lang="fr-FR" sz="1300" dirty="0">
                <a:solidFill>
                  <a:srgbClr val="CBD5E1"/>
                </a:solidFill>
              </a:rPr>
              <a:t> associé à une capacité compatible </a:t>
            </a:r>
            <a:r>
              <a:rPr lang="fr-FR" sz="1300" dirty="0" err="1">
                <a:solidFill>
                  <a:srgbClr val="CBD5E1"/>
                </a:solidFill>
              </a:rPr>
              <a:t>Copilot</a:t>
            </a:r>
            <a:r>
              <a:rPr lang="fr-FR" sz="1300" dirty="0">
                <a:solidFill>
                  <a:srgbClr val="CBD5E1"/>
                </a:solidFill>
              </a:rPr>
              <a:t>.</a:t>
            </a:r>
            <a:endParaRPr lang="fr-FR" sz="1300" dirty="0"/>
          </a:p>
        </p:txBody>
      </p:sp>
      <p:sp>
        <p:nvSpPr>
          <p:cNvPr id="8" name="Tick2"/>
          <p:cNvSpPr/>
          <p:nvPr/>
        </p:nvSpPr>
        <p:spPr>
          <a:xfrm>
            <a:off x="457200" y="283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2"/>
          <p:cNvSpPr/>
          <p:nvPr/>
        </p:nvSpPr>
        <p:spPr>
          <a:xfrm>
            <a:off x="658368" y="278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dirty="0">
                <a:solidFill>
                  <a:srgbClr val="CBD5E1"/>
                </a:solidFill>
              </a:rPr>
              <a:t>Cliquer sur le bouton </a:t>
            </a:r>
            <a:r>
              <a:rPr lang="fr-FR" sz="1300" dirty="0" err="1">
                <a:solidFill>
                  <a:srgbClr val="CBD5E1"/>
                </a:solidFill>
              </a:rPr>
              <a:t>Copilot</a:t>
            </a:r>
            <a:r>
              <a:rPr lang="fr-FR" sz="1300" dirty="0">
                <a:solidFill>
                  <a:srgbClr val="CBD5E1"/>
                </a:solidFill>
              </a:rPr>
              <a:t> dans le ruban du rapport pour ouvrir le volet </a:t>
            </a:r>
            <a:r>
              <a:rPr lang="fr-FR" sz="1300" dirty="0" err="1">
                <a:solidFill>
                  <a:srgbClr val="CBD5E1"/>
                </a:solidFill>
              </a:rPr>
              <a:t>Copilot</a:t>
            </a:r>
            <a:r>
              <a:rPr lang="fr-FR" sz="1300" dirty="0">
                <a:solidFill>
                  <a:srgbClr val="CBD5E1"/>
                </a:solidFill>
              </a:rPr>
              <a:t> à droite.</a:t>
            </a:r>
            <a:endParaRPr lang="fr-FR" sz="1300" dirty="0"/>
          </a:p>
        </p:txBody>
      </p:sp>
      <p:sp>
        <p:nvSpPr>
          <p:cNvPr id="10" name="Tick3"/>
          <p:cNvSpPr/>
          <p:nvPr/>
        </p:nvSpPr>
        <p:spPr>
          <a:xfrm>
            <a:off x="457200" y="3390760"/>
            <a:ext cx="64008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3"/>
          <p:cNvSpPr/>
          <p:nvPr/>
        </p:nvSpPr>
        <p:spPr>
          <a:xfrm>
            <a:off x="658368" y="3345040"/>
            <a:ext cx="79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dirty="0">
                <a:solidFill>
                  <a:srgbClr val="CBD5E1"/>
                </a:solidFill>
              </a:rPr>
              <a:t>Saisir une question en langage naturel ou choisir une suggestion pour lancer l'échange.</a:t>
            </a:r>
            <a:endParaRPr lang="fr-F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itres et transitions">
  <a:themeElements>
    <a:clrScheme name="Expertime">
      <a:dk1>
        <a:srgbClr val="02023F"/>
      </a:dk1>
      <a:lt1>
        <a:srgbClr val="FFFFFF"/>
      </a:lt1>
      <a:dk2>
        <a:srgbClr val="474961"/>
      </a:dk2>
      <a:lt2>
        <a:srgbClr val="E8E8EB"/>
      </a:lt2>
      <a:accent1>
        <a:srgbClr val="2987F7"/>
      </a:accent1>
      <a:accent2>
        <a:srgbClr val="F78036"/>
      </a:accent2>
      <a:accent3>
        <a:srgbClr val="757688"/>
      </a:accent3>
      <a:accent4>
        <a:srgbClr val="7FB7FA"/>
      </a:accent4>
      <a:accent5>
        <a:srgbClr val="FAB386"/>
      </a:accent5>
      <a:accent6>
        <a:srgbClr val="A3A4B0"/>
      </a:accent6>
      <a:hlink>
        <a:srgbClr val="2987F7"/>
      </a:hlink>
      <a:folHlink>
        <a:srgbClr val="2987F7"/>
      </a:folHlink>
    </a:clrScheme>
    <a:fontScheme name="Expertime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Expertime V7  -  Lecture seule" id="{F1A2200F-AEAA-41B0-A326-5D8CA4FE47A3}" vid="{A66E11C5-4804-4C51-8B77-DA9AF756681B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7581</TotalTime>
  <Words>8206</Words>
  <Application>Microsoft Office PowerPoint</Application>
  <PresentationFormat>Affichage à l'écran (16:9)</PresentationFormat>
  <Paragraphs>1006</Paragraphs>
  <Slides>105</Slides>
  <Notes>61</Notes>
  <HiddenSlides>37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105</vt:i4>
      </vt:variant>
    </vt:vector>
  </HeadingPairs>
  <TitlesOfParts>
    <vt:vector size="117" baseType="lpstr">
      <vt:lpstr>Aptos</vt:lpstr>
      <vt:lpstr>Aptos Display</vt:lpstr>
      <vt:lpstr>Arial</vt:lpstr>
      <vt:lpstr>Calibri</vt:lpstr>
      <vt:lpstr>Consolas</vt:lpstr>
      <vt:lpstr>Quattrocento Sans</vt:lpstr>
      <vt:lpstr>Segoe UI</vt:lpstr>
      <vt:lpstr>Segoe UI Semibold</vt:lpstr>
      <vt:lpstr>Wingdings</vt:lpstr>
      <vt:lpstr>Office Theme</vt:lpstr>
      <vt:lpstr>1_Titres et transitions</vt:lpstr>
      <vt:lpstr>Thème Office</vt:lpstr>
      <vt:lpstr>Présentation PowerPoint</vt:lpstr>
      <vt:lpstr>A l’image d’un humain, Copilot…</vt:lpstr>
      <vt:lpstr>A l’inverse d’un humain, Copilot…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Onglet « Copilot » dans les rapports</vt:lpstr>
      <vt:lpstr>Présentation PowerPoint</vt:lpstr>
      <vt:lpstr>Présentation PowerPoint</vt:lpstr>
      <vt:lpstr>Présentation PowerPoint</vt:lpstr>
      <vt:lpstr>Présentation PowerPoint</vt:lpstr>
      <vt:lpstr>Questionner le contenu des rapports</vt:lpstr>
      <vt:lpstr>Présentation PowerPoint</vt:lpstr>
      <vt:lpstr>Présentation PowerPoint</vt:lpstr>
      <vt:lpstr>Présentation PowerPoint</vt:lpstr>
      <vt:lpstr>Présentation PowerPoint</vt:lpstr>
      <vt:lpstr>Résumer les insights </vt:lpstr>
      <vt:lpstr>Narrative Visual with Copilot for Power BI</vt:lpstr>
      <vt:lpstr>Narrative Visual with Copilot for Power BI</vt:lpstr>
      <vt:lpstr>Narrative Visual with Copilot for Power BI</vt:lpstr>
      <vt:lpstr>Narrative Visual with Copilot for Power BI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Résumez les principaux enseignements tirés de ce rapport commercial de Fabrikam</vt:lpstr>
      <vt:lpstr>Présentation PowerPoint</vt:lpstr>
      <vt:lpstr>Présentation PowerPoint</vt:lpstr>
      <vt:lpstr>Assister la création des pages de rapport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Limites des prompts utilisateurs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Copilot pour les créateurs de rapports : Créez des rapports et améliorez vos modèles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Rédiger des requêtes DAX</vt:lpstr>
      <vt:lpstr>Ajouter des descriptions aux mesures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Copilot sur le modèle sémantique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pour Power BI – Formation Data Consumers</dc:title>
  <dc:subject>PptxGenJS Presentation</dc:subject>
  <dc:creator>PptxGenJS</dc:creator>
  <cp:lastModifiedBy>Laurent GAGLIARDI</cp:lastModifiedBy>
  <cp:revision>1</cp:revision>
  <dcterms:created xsi:type="dcterms:W3CDTF">2026-06-30T18:08:44Z</dcterms:created>
  <dcterms:modified xsi:type="dcterms:W3CDTF">2026-09-04T08:31:49Z</dcterms:modified>
</cp:coreProperties>
</file>