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147481870" r:id="rId2"/>
    <p:sldId id="426" r:id="rId3"/>
    <p:sldId id="258" r:id="rId4"/>
    <p:sldId id="40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147481866" r:id="rId14"/>
    <p:sldId id="2147481867" r:id="rId15"/>
    <p:sldId id="2147481843" r:id="rId16"/>
    <p:sldId id="2147481844" r:id="rId17"/>
    <p:sldId id="2147481916" r:id="rId18"/>
    <p:sldId id="2147481917" r:id="rId19"/>
    <p:sldId id="2147481918" r:id="rId20"/>
    <p:sldId id="2147481913" r:id="rId21"/>
    <p:sldId id="2147481914" r:id="rId22"/>
    <p:sldId id="2147481920" r:id="rId23"/>
    <p:sldId id="214748192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7EF68-FB29-4D17-A0AB-424089B400C9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2DF14-35F7-4042-94FF-A800EF69B9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40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9E8E-C06B-1C8B-80DD-627D2A67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CC5B67-2EB0-882E-47C8-AD7C782C8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EA9E617-3DB3-7751-965E-1F9047486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choix doit partir du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travail à accomplir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pas du nom de l’outil : création, analyse, modélisation ou interrogation ad hoc.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C0D5CC-F631-2E1A-75BC-67CFB29C2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650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un client, on peut présenter ces solutions comme une chaîne complète :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préparer le modèle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accélérer la production BI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ouvrir l’analyse métier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puis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industrialiser le Q&amp;A avec Data Agents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89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F0C0-EEDA-4CBB-2CD4-21B861AB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B99FEF-65D6-22AB-A623-2F57A6F6B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11C120-924E-513E-AF42-D8617EDF7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utiliser comme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accélérateur de création BI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pas comme substitut à la conception analytique.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B348EA-7A0F-8353-59A4-5E7719B22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27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utiliser comme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assistant de modélisation BI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avec backup, Git, revue et least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privilege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043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utiliser comme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assistant d’interprétation du rapport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idéal pour accélérer la lecture et l’analyse métier.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49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utiliser comme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front-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conversationnelle gouvernée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les données d’entreprise.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846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Retrait de la fonctionnalité : </a:t>
            </a:r>
            <a:r>
              <a:rPr lang="fr-FR" sz="1200" dirty="0">
                <a:latin typeface="Segoe UI" panose="020B0502040204020203" pitchFamily="34" charset="0"/>
              </a:rPr>
              <a:t>Le Data Agent peut aussi être consommé depuis </a:t>
            </a:r>
            <a:r>
              <a:rPr lang="fr-FR" sz="1200" dirty="0" err="1">
                <a:latin typeface="Segoe UI" panose="020B0502040204020203" pitchFamily="34" charset="0"/>
              </a:rPr>
              <a:t>Copilot</a:t>
            </a:r>
            <a:r>
              <a:rPr lang="fr-FR" sz="1200" dirty="0">
                <a:latin typeface="Segoe UI" panose="020B0502040204020203" pitchFamily="34" charset="0"/>
              </a:rPr>
              <a:t> in Power BI : Microsoft indique qu’il peut être ajouté à une session </a:t>
            </a:r>
            <a:r>
              <a:rPr lang="fr-FR" sz="1200" dirty="0" err="1">
                <a:latin typeface="Segoe UI" panose="020B0502040204020203" pitchFamily="34" charset="0"/>
              </a:rPr>
              <a:t>Copilot</a:t>
            </a:r>
            <a:r>
              <a:rPr lang="fr-FR" sz="1200" dirty="0">
                <a:latin typeface="Segoe UI" panose="020B0502040204020203" pitchFamily="34" charset="0"/>
              </a:rPr>
              <a:t>, puis utilisé pour répondre aux questions pertinentes. </a:t>
            </a:r>
          </a:p>
          <a:p>
            <a:r>
              <a:rPr lang="fr-FR" dirty="0"/>
              <a:t>https://community.fabric.microsoft.com/blog/fbc_fabricupdatesblogs/retirement-of-fabric-data-agent-integration-in-copilot-in-power-bi/5328344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694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reste le profil pivot : il prépare les modèles pour que les Business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obtiennent de bonnes réponses via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Data Agent.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910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création rapports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pour générer rapidement des pages et visuels Power BI à partir d’un modèle sémantique fiable.</a:t>
            </a:r>
          </a:p>
          <a:p>
            <a:pPr lvl="0" fontAlgn="t"/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Power BI local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pour industrialiser les modifications du modèle sémantique avec un profil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avancé / BI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fontAlgn="t"/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analyse rapport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pour aider les métiers à comprendre les insights d’un rapport existant.</a:t>
            </a:r>
          </a:p>
          <a:p>
            <a:pPr lvl="0" fontAlgn="t"/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Agent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pour exposer un assistant Q&amp;A gouverné capable de traduire le langage naturel en requêtes SQL / DAX / KQL selon les sources.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413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flowchart</a:t>
            </a:r>
            <a:r>
              <a:rPr lang="fr-FR" dirty="0"/>
              <a:t> LR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Data layer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subgraph</a:t>
            </a:r>
            <a:r>
              <a:rPr lang="fr-FR" dirty="0"/>
              <a:t> LH["</a:t>
            </a:r>
            <a:r>
              <a:rPr lang="fr-FR" dirty="0" err="1"/>
              <a:t>Lakehouse</a:t>
            </a:r>
            <a:r>
              <a:rPr lang="fr-FR" dirty="0"/>
              <a:t> Microsoft </a:t>
            </a:r>
            <a:r>
              <a:rPr lang="fr-FR" dirty="0" err="1"/>
              <a:t>Fabric</a:t>
            </a:r>
            <a:r>
              <a:rPr lang="fr-FR" dirty="0"/>
              <a:t>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SILVER["Couche Silver&lt;</a:t>
            </a:r>
            <a:r>
              <a:rPr lang="fr-FR" dirty="0" err="1"/>
              <a:t>br</a:t>
            </a:r>
            <a:r>
              <a:rPr lang="fr-FR" dirty="0"/>
              <a:t>/&gt;Tables nettoyées, structurées&lt;</a:t>
            </a:r>
            <a:r>
              <a:rPr lang="fr-FR" dirty="0" err="1"/>
              <a:t>br</a:t>
            </a:r>
            <a:r>
              <a:rPr lang="fr-FR" dirty="0"/>
              <a:t>/&gt;et prêtes pour l'analyse"]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end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</a:t>
            </a:r>
            <a:r>
              <a:rPr lang="fr-FR" dirty="0" err="1"/>
              <a:t>Semantic</a:t>
            </a:r>
            <a:r>
              <a:rPr lang="fr-FR" dirty="0"/>
              <a:t> layer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subgraph</a:t>
            </a:r>
            <a:r>
              <a:rPr lang="fr-FR" dirty="0"/>
              <a:t> SEM["Couche sémantique Power BI"]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MODEL["Modèle sémantique&lt;</a:t>
            </a:r>
            <a:r>
              <a:rPr lang="fr-FR" dirty="0" err="1"/>
              <a:t>br</a:t>
            </a:r>
            <a:r>
              <a:rPr lang="fr-FR" dirty="0"/>
              <a:t>/&gt;Tables, relations, mesures DAX&lt;</a:t>
            </a:r>
            <a:r>
              <a:rPr lang="fr-FR" dirty="0" err="1"/>
              <a:t>br</a:t>
            </a:r>
            <a:r>
              <a:rPr lang="fr-FR" dirty="0"/>
              <a:t>/&gt;RLS / CLS éventuelles&lt;</a:t>
            </a:r>
            <a:r>
              <a:rPr lang="fr-FR" dirty="0" err="1"/>
              <a:t>br</a:t>
            </a:r>
            <a:r>
              <a:rPr lang="fr-FR" dirty="0"/>
              <a:t>/&gt;</a:t>
            </a:r>
            <a:r>
              <a:rPr lang="fr-FR" dirty="0" err="1"/>
              <a:t>Prep</a:t>
            </a:r>
            <a:r>
              <a:rPr lang="fr-FR" dirty="0"/>
              <a:t> for AI"]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end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</a:t>
            </a:r>
            <a:r>
              <a:rPr lang="fr-FR" dirty="0" err="1"/>
              <a:t>Consumption</a:t>
            </a:r>
            <a:r>
              <a:rPr lang="fr-FR" dirty="0"/>
              <a:t> layer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subgraph</a:t>
            </a:r>
            <a:r>
              <a:rPr lang="fr-FR" dirty="0"/>
              <a:t> PBI["Power BI"]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REPORT["Rapport Power BI&lt;</a:t>
            </a:r>
            <a:r>
              <a:rPr lang="fr-FR" dirty="0" err="1"/>
              <a:t>br</a:t>
            </a:r>
            <a:r>
              <a:rPr lang="fr-FR" dirty="0"/>
              <a:t>/&gt;Pages, visuels, filtres&lt;</a:t>
            </a:r>
            <a:r>
              <a:rPr lang="fr-FR" dirty="0" err="1"/>
              <a:t>br</a:t>
            </a:r>
            <a:r>
              <a:rPr lang="fr-FR" dirty="0"/>
              <a:t>/&gt;Narratives / insights"]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COPILOT["</a:t>
            </a:r>
            <a:r>
              <a:rPr lang="fr-FR" dirty="0" err="1"/>
              <a:t>Copilot</a:t>
            </a:r>
            <a:r>
              <a:rPr lang="fr-FR" dirty="0"/>
              <a:t> Power BI&lt;</a:t>
            </a:r>
            <a:r>
              <a:rPr lang="fr-FR" dirty="0" err="1"/>
              <a:t>br</a:t>
            </a:r>
            <a:r>
              <a:rPr lang="fr-FR" dirty="0"/>
              <a:t>/&gt;Création de pages et visuels&lt;</a:t>
            </a:r>
            <a:r>
              <a:rPr lang="fr-FR" dirty="0" err="1"/>
              <a:t>br</a:t>
            </a:r>
            <a:r>
              <a:rPr lang="fr-FR" dirty="0"/>
              <a:t>/&gt;Résumé et exploration du rapport"]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end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</a:t>
            </a:r>
            <a:r>
              <a:rPr lang="fr-FR" dirty="0" err="1"/>
              <a:t>Conversational</a:t>
            </a:r>
            <a:r>
              <a:rPr lang="fr-FR" dirty="0"/>
              <a:t> layer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subgraph</a:t>
            </a:r>
            <a:r>
              <a:rPr lang="fr-FR" dirty="0"/>
              <a:t> AGENT["</a:t>
            </a:r>
            <a:r>
              <a:rPr lang="fr-FR" dirty="0" err="1"/>
              <a:t>Fabric</a:t>
            </a:r>
            <a:r>
              <a:rPr lang="fr-FR" dirty="0"/>
              <a:t> Data Agent"]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DATAAGENT["Data Agent&lt;</a:t>
            </a:r>
            <a:r>
              <a:rPr lang="fr-FR" dirty="0" err="1"/>
              <a:t>br</a:t>
            </a:r>
            <a:r>
              <a:rPr lang="fr-FR" dirty="0"/>
              <a:t>/&gt;Questions ad hoc en langage naturel&lt;</a:t>
            </a:r>
            <a:r>
              <a:rPr lang="fr-FR" dirty="0" err="1"/>
              <a:t>br</a:t>
            </a:r>
            <a:r>
              <a:rPr lang="fr-FR" dirty="0"/>
              <a:t>/&gt;NL → DAX sur le modèle sémantique"]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end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</a:t>
            </a:r>
            <a:r>
              <a:rPr lang="fr-FR" dirty="0" err="1"/>
              <a:t>Users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BA["Business </a:t>
            </a:r>
            <a:r>
              <a:rPr lang="fr-FR" dirty="0" err="1"/>
              <a:t>Analyst</a:t>
            </a:r>
            <a:r>
              <a:rPr lang="fr-FR" dirty="0"/>
              <a:t>&lt;</a:t>
            </a:r>
            <a:r>
              <a:rPr lang="fr-FR" dirty="0" err="1"/>
              <a:t>br</a:t>
            </a:r>
            <a:r>
              <a:rPr lang="fr-FR" dirty="0"/>
              <a:t>/&gt;Consulte, explore, questionne"]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DA["Data </a:t>
            </a:r>
            <a:r>
              <a:rPr lang="fr-FR" dirty="0" err="1"/>
              <a:t>Analyst</a:t>
            </a:r>
            <a:r>
              <a:rPr lang="fr-FR" dirty="0"/>
              <a:t>&lt;</a:t>
            </a:r>
            <a:r>
              <a:rPr lang="fr-FR" dirty="0" err="1"/>
              <a:t>br</a:t>
            </a:r>
            <a:r>
              <a:rPr lang="fr-FR" dirty="0"/>
              <a:t>/&gt;Modélise, crée le rapport,&lt;</a:t>
            </a:r>
            <a:r>
              <a:rPr lang="fr-FR" dirty="0" err="1"/>
              <a:t>br</a:t>
            </a:r>
            <a:r>
              <a:rPr lang="fr-FR" dirty="0"/>
              <a:t>/&gt;prépare le modèle pour l'IA"]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Flows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SILVER --&gt;|"Alimente / Direct Lake ou import selon architecture"| MODEL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MODEL --&gt;|"Source certifiée / gouvernée"| REPORT</a:t>
            </a:r>
            <a:br>
              <a:rPr lang="fr-FR" dirty="0"/>
            </a:br>
            <a:endParaRPr lang="fr-FR" dirty="0"/>
          </a:p>
          <a:p>
            <a:r>
              <a:rPr lang="fr-FR" dirty="0"/>
              <a:t>MODEL --&gt;|"Source de données"| DATAAGENT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COPILOT -.-&gt;|"Assiste la création,&lt;</a:t>
            </a:r>
            <a:r>
              <a:rPr lang="fr-FR" dirty="0" err="1"/>
              <a:t>br</a:t>
            </a:r>
            <a:r>
              <a:rPr lang="fr-FR" dirty="0"/>
              <a:t>/&gt;l'édition et l'analyse"| REPORT</a:t>
            </a:r>
            <a:br>
              <a:rPr lang="fr-FR" dirty="0"/>
            </a:br>
            <a:endParaRPr lang="fr-FR" dirty="0"/>
          </a:p>
          <a:p>
            <a:r>
              <a:rPr lang="fr-FR" dirty="0"/>
              <a:t>COPILOT -.-&gt;|"S'appuie sur le contexte&lt;</a:t>
            </a:r>
            <a:r>
              <a:rPr lang="fr-FR" dirty="0" err="1"/>
              <a:t>br</a:t>
            </a:r>
            <a:r>
              <a:rPr lang="fr-FR" dirty="0"/>
              <a:t>/&gt;du rapport et du modèle"| MODEL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BA --&gt;|"Lecture, exploration,&lt;</a:t>
            </a:r>
            <a:r>
              <a:rPr lang="fr-FR" dirty="0" err="1"/>
              <a:t>br</a:t>
            </a:r>
            <a:r>
              <a:rPr lang="fr-FR" dirty="0"/>
              <a:t>/&gt;questions sur le rapport"| REPORT</a:t>
            </a:r>
            <a:br>
              <a:rPr lang="fr-FR" dirty="0"/>
            </a:br>
            <a:endParaRPr lang="fr-FR" dirty="0"/>
          </a:p>
          <a:p>
            <a:r>
              <a:rPr lang="fr-FR" dirty="0"/>
              <a:t>BA --&gt;|"Questions ad hoc&lt;</a:t>
            </a:r>
            <a:r>
              <a:rPr lang="fr-FR" dirty="0" err="1"/>
              <a:t>br</a:t>
            </a:r>
            <a:r>
              <a:rPr lang="fr-FR" dirty="0"/>
              <a:t>/&gt;hors pages de rapport"| DATAAGENT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DA --&gt;|"Conçoit et maintient"| MODEL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 --&gt;|"Crée et améliore"| REPORT</a:t>
            </a:r>
            <a:br>
              <a:rPr lang="fr-FR" dirty="0"/>
            </a:br>
            <a:endParaRPr lang="fr-FR" dirty="0"/>
          </a:p>
          <a:p>
            <a:r>
              <a:rPr lang="fr-FR" dirty="0"/>
              <a:t>DA --&gt;|"Configure le périmètre,&lt;</a:t>
            </a:r>
            <a:r>
              <a:rPr lang="fr-FR" dirty="0" err="1"/>
              <a:t>br</a:t>
            </a:r>
            <a:r>
              <a:rPr lang="fr-FR" dirty="0"/>
              <a:t>/&gt;les instructions et tests"| DATAAGENT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</a:t>
            </a:r>
            <a:r>
              <a:rPr lang="fr-FR" dirty="0" err="1"/>
              <a:t>Styling</a:t>
            </a:r>
            <a:br>
              <a:rPr lang="fr-FR" dirty="0"/>
            </a:br>
            <a:endParaRPr lang="fr-FR" dirty="0"/>
          </a:p>
          <a:p>
            <a:r>
              <a:rPr lang="fr-FR" dirty="0"/>
              <a:t>%% =========================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classDef</a:t>
            </a:r>
            <a:r>
              <a:rPr lang="fr-FR" dirty="0"/>
              <a:t> data </a:t>
            </a:r>
            <a:r>
              <a:rPr lang="fr-FR" dirty="0" err="1"/>
              <a:t>fill</a:t>
            </a:r>
            <a:r>
              <a:rPr lang="fr-FR" dirty="0"/>
              <a:t>:#E8F3FF,stroke:#2B6CB0,color:#1A365D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classDef</a:t>
            </a:r>
            <a:r>
              <a:rPr lang="fr-FR" dirty="0"/>
              <a:t> </a:t>
            </a:r>
            <a:r>
              <a:rPr lang="fr-FR" dirty="0" err="1"/>
              <a:t>semantic</a:t>
            </a:r>
            <a:r>
              <a:rPr lang="fr-FR" dirty="0"/>
              <a:t> </a:t>
            </a:r>
            <a:r>
              <a:rPr lang="fr-FR" dirty="0" err="1"/>
              <a:t>fill</a:t>
            </a:r>
            <a:r>
              <a:rPr lang="fr-FR" dirty="0"/>
              <a:t>:#E9FBEA,stroke:#2F855A,color:#22543D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classDef</a:t>
            </a:r>
            <a:r>
              <a:rPr lang="fr-FR" dirty="0"/>
              <a:t> </a:t>
            </a:r>
            <a:r>
              <a:rPr lang="fr-FR" dirty="0" err="1"/>
              <a:t>powerbi</a:t>
            </a:r>
            <a:r>
              <a:rPr lang="fr-FR" dirty="0"/>
              <a:t> </a:t>
            </a:r>
            <a:r>
              <a:rPr lang="fr-FR" dirty="0" err="1"/>
              <a:t>fill</a:t>
            </a:r>
            <a:r>
              <a:rPr lang="fr-FR" dirty="0"/>
              <a:t>:#FFF4D6,stroke:#B7791F,color:#744210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classDef</a:t>
            </a:r>
            <a:r>
              <a:rPr lang="fr-FR" dirty="0"/>
              <a:t> agent </a:t>
            </a:r>
            <a:r>
              <a:rPr lang="fr-FR" dirty="0" err="1"/>
              <a:t>fill</a:t>
            </a:r>
            <a:r>
              <a:rPr lang="fr-FR" dirty="0"/>
              <a:t>:#F3E8FF,stroke:#805AD5,color:#44337A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classDef</a:t>
            </a:r>
            <a:r>
              <a:rPr lang="fr-FR" dirty="0"/>
              <a:t> user </a:t>
            </a:r>
            <a:r>
              <a:rPr lang="fr-FR" dirty="0" err="1"/>
              <a:t>fill</a:t>
            </a:r>
            <a:r>
              <a:rPr lang="fr-FR" dirty="0"/>
              <a:t>:#F7FAFC,stroke:#718096,color:#2D3748</a:t>
            </a:r>
            <a:br>
              <a:rPr lang="fr-FR" dirty="0"/>
            </a:b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class SILVER data</a:t>
            </a:r>
            <a:br>
              <a:rPr lang="fr-FR" dirty="0"/>
            </a:br>
            <a:endParaRPr lang="fr-FR" dirty="0"/>
          </a:p>
          <a:p>
            <a:r>
              <a:rPr lang="fr-FR" dirty="0"/>
              <a:t>class MODEL </a:t>
            </a:r>
            <a:r>
              <a:rPr lang="fr-FR" dirty="0" err="1"/>
              <a:t>semantic</a:t>
            </a:r>
            <a:br>
              <a:rPr lang="fr-FR" dirty="0"/>
            </a:br>
            <a:endParaRPr lang="fr-FR" dirty="0"/>
          </a:p>
          <a:p>
            <a:r>
              <a:rPr lang="fr-FR" dirty="0"/>
              <a:t>class REPORT,COPILOT </a:t>
            </a:r>
            <a:r>
              <a:rPr lang="fr-FR" dirty="0" err="1"/>
              <a:t>powerbi</a:t>
            </a:r>
            <a:br>
              <a:rPr lang="fr-FR" dirty="0"/>
            </a:br>
            <a:endParaRPr lang="fr-FR" dirty="0"/>
          </a:p>
          <a:p>
            <a:r>
              <a:rPr lang="fr-FR" dirty="0"/>
              <a:t>class DATAAGENT agent</a:t>
            </a:r>
            <a:br>
              <a:rPr lang="fr-FR" dirty="0"/>
            </a:br>
            <a:endParaRPr lang="fr-FR" dirty="0"/>
          </a:p>
          <a:p>
            <a:r>
              <a:rPr lang="fr-FR" dirty="0"/>
              <a:t>class BA,DA user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AD895-5E21-41A5-BD72-80D72AF36E5D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015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9D45-1C89-AE39-39A9-27691690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2E6FA-49FE-F2A4-4147-C959E4662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90D23-2ED5-54D6-6B26-9A5CD2471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https://learn.microsoft.com/en-us/fabric/fundamentals/copilot-privacy-security
https://learn.microsoft.com/en-us/fabric/fundamentals/copilot-power-bi-privacy-security
Recommendation content synthesized for this presentation.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1C8B6-DA99-7F69-EC9C-796AE3D56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92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C02D-E9D9-2507-4EF5-758312F6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D51AB-2987-499F-E5B4-84E0AF7C0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6CEDF-5C70-EF9A-2B0D-0395DEB2B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https://learn.microsoft.com/en-us/fabric/data-science/data-agent-sharing
https://learn.microsoft.com/en-us/fabric/fundamentals/copilot-privacy-security
Recommendation content synthesized for this presentation.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F1945-E1D2-A9EC-88C2-BED92D188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912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4B1F-30B7-CFC6-6E08-0EE29ED6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75E9D-1561-4090-A970-5C6970650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A4A2A-E81D-4EBF-6E05-29478DA5D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https://learn.microsoft.com/en-us/fabric/fundamentals/copilot-power-bi-privacy-security
https://learn.microsoft.com/en-us/fabric/fundamentals/copilot-data-science-privacy-security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A855A-CFD7-AC91-4425-7681B16EF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182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5515-F387-844C-6AEF-548C82AB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1736B-1005-AC6D-F225-65DCB6279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C4A36-936A-D50D-6140-FD288B6AB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https://learn.microsoft.com/en-us/fabric/data-science/data-agent-sharing
https://learn.microsoft.com/en-us/fabric/fundamentals/copilot-power-bi-privacy-security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722F-77B0-1CB2-5118-A18B723F3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893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3F1E-34A2-F404-6FE5-98403C41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64629-5975-9D88-28A2-8D5C6E346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0CD45-1A91-6512-D687-61B403155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https://learn.microsoft.com/en-us/fabric/data-science/data-agent-sharing
https://learn.microsoft.com/en-us/fabric/data-science/data-agent-microsoft-365-copilot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4B1DE-434C-98D9-0AB9-CD3BD542B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093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46E7-2FE4-AC8E-F7EB-B82B545C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E3DDC-0919-2599-5CDF-D4F62587A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4A441-AC1A-1DE1-71E7-79D99C2B4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https://learn.microsoft.com/en-us/fabric/fundamentals/copilot-privacy-security
https://learn.microsoft.com/en-us/fabric/fundamentals/copilot-power-bi-privacy-security
Recommendation content synthesized for this presentation.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F8C38-D8CE-7124-6418-C0B4BDB6F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572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C0718-84C8-9DAE-C02B-7EF3938C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46FA5-57F9-C580-B6C6-82B5FAC3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2502E-C30B-358B-10F0-DB58B18D5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https://learn.microsoft.com/en-us/fabric/data-science/data-agent-sharing
https://learn.microsoft.com/en-us/fabric/fundamentals/copilot-privacy-security
Recommendation content synthesized for this presentation.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7EBC1-C872-5655-C7AE-689E8F0D6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141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AE9-DBC0-50D1-137F-B26B2DBE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41A99-8945-05BC-A965-40CAF5049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3C935-4F3C-DB11-89D6-769A238D5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https://learn.microsoft.com/en-us/fabric/fundamentals/copilot-fabric-overview
https://learn.microsoft.com/en-us/fabric/data-science/evaluate-data-agent
Value links are proposed measurement hypotheses, not published Microsoft benchmarks.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BD625-A3D1-1449-4F21-E48C8E45A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841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2CFF-87F3-0131-47EF-92B1F683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F7ECC-A7CB-8F14-80FB-6B485DE3D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B8384-A4A6-1539-07C3-9BDE2EDF1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https://learn.microsoft.com/en-us/fabric/data-science/evaluate-data-agent
Metrics on this slide are recommendations for a customer-specific measurement plan.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8A262-F321-8870-ABE0-3228B0AC6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4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3C341E67-3E33-73E5-8FD4-CA6576014A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" y="0"/>
            <a:ext cx="121901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4319193"/>
            <a:ext cx="10515600" cy="114921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présentation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199" y="5467340"/>
            <a:ext cx="10515599" cy="88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présentation</a:t>
            </a:r>
            <a:endParaRPr lang="en-US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32" y="140617"/>
            <a:ext cx="5334001" cy="676763"/>
          </a:xfrm>
          <a:prstGeom prst="rect">
            <a:avLst/>
          </a:prstGeom>
        </p:spPr>
      </p:pic>
      <p:pic>
        <p:nvPicPr>
          <p:cNvPr id="7" name="Google Shape;226;p58">
            <a:extLst>
              <a:ext uri="{FF2B5EF4-FFF2-40B4-BE49-F238E27FC236}">
                <a16:creationId xmlns:a16="http://schemas.microsoft.com/office/drawing/2014/main" id="{815A1CAF-1256-AAC8-4E02-826E6046DF21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5878" y="2154672"/>
            <a:ext cx="3620244" cy="946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06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with_client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3C341E67-3E33-73E5-8FD4-CA6576014A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" y="0"/>
            <a:ext cx="121901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4319193"/>
            <a:ext cx="10515600" cy="114921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présentation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199" y="5467340"/>
            <a:ext cx="10515599" cy="88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présentation</a:t>
            </a:r>
            <a:endParaRPr lang="en-US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32" y="140617"/>
            <a:ext cx="5334001" cy="676763"/>
          </a:xfrm>
          <a:prstGeom prst="rect">
            <a:avLst/>
          </a:prstGeom>
        </p:spPr>
      </p:pic>
      <p:pic>
        <p:nvPicPr>
          <p:cNvPr id="7" name="Google Shape;226;p58">
            <a:extLst>
              <a:ext uri="{FF2B5EF4-FFF2-40B4-BE49-F238E27FC236}">
                <a16:creationId xmlns:a16="http://schemas.microsoft.com/office/drawing/2014/main" id="{815A1CAF-1256-AAC8-4E02-826E6046DF21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3855" y="2154672"/>
            <a:ext cx="3620244" cy="9468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21FBD60E-67B4-238A-F66C-C85BCC9A377D}"/>
              </a:ext>
            </a:extLst>
          </p:cNvPr>
          <p:cNvCxnSpPr>
            <a:cxnSpLocks/>
          </p:cNvCxnSpPr>
          <p:nvPr userDrawn="1"/>
        </p:nvCxnSpPr>
        <p:spPr>
          <a:xfrm>
            <a:off x="6102294" y="1963282"/>
            <a:ext cx="0" cy="11763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8A2A474-7ABD-2F3F-0B93-C95BED035E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02425" y="1692613"/>
            <a:ext cx="4651375" cy="1751348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50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0742"/>
            <a:ext cx="10515600" cy="1104674"/>
          </a:xfrm>
          <a:prstGeom prst="rect">
            <a:avLst/>
          </a:prstGeom>
        </p:spPr>
        <p:txBody>
          <a:bodyPr anchor="ctr"/>
          <a:lstStyle>
            <a:lvl1pPr>
              <a:defRPr sz="3600" b="1">
                <a:solidFill>
                  <a:srgbClr val="002060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A475B0-DEBC-D2B0-1283-4E4F0EF6D2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839788"/>
            <a:ext cx="10643016" cy="4445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indent="0">
              <a:buNone/>
              <a:defRPr lang="fr-FR" sz="180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r>
              <a:rPr lang="fr-FR"/>
              <a:t>Sous-titre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8151C3-9817-E0A7-24BB-AFACA85D9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4"/>
          </a:xfrm>
          <a:prstGeom prst="rect">
            <a:avLst/>
          </a:prstGeom>
        </p:spPr>
        <p:txBody>
          <a:bodyPr/>
          <a:lstStyle>
            <a:lvl1pPr marL="2286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1pPr>
            <a:lvl2pPr marL="6858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2pPr>
            <a:lvl3pPr marL="11430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3pPr>
            <a:lvl4pPr marL="16002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4pPr>
            <a:lvl5pPr marL="20574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Image 12">
            <a:extLst>
              <a:ext uri="{FF2B5EF4-FFF2-40B4-BE49-F238E27FC236}">
                <a16:creationId xmlns:a16="http://schemas.microsoft.com/office/drawing/2014/main" id="{97AC85B4-3A3F-C178-6D85-2A70F95E1B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08" y="6273800"/>
            <a:ext cx="481792" cy="495903"/>
          </a:xfrm>
          <a:prstGeom prst="rect">
            <a:avLst/>
          </a:prstGeom>
        </p:spPr>
      </p:pic>
      <p:sp>
        <p:nvSpPr>
          <p:cNvPr id="7" name="Rectangle : avec coins arrondis en diagonale 6">
            <a:extLst>
              <a:ext uri="{FF2B5EF4-FFF2-40B4-BE49-F238E27FC236}">
                <a16:creationId xmlns:a16="http://schemas.microsoft.com/office/drawing/2014/main" id="{FC9F0A79-1BFC-3353-0CEF-77FC9DB506FB}"/>
              </a:ext>
            </a:extLst>
          </p:cNvPr>
          <p:cNvSpPr/>
          <p:nvPr userDrawn="1"/>
        </p:nvSpPr>
        <p:spPr>
          <a:xfrm rot="5400000">
            <a:off x="11607800" y="6273800"/>
            <a:ext cx="584200" cy="58420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860003B-4BBE-A450-7440-BBA7D889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56350"/>
            <a:ext cx="5842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58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0742"/>
            <a:ext cx="10515600" cy="1104674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002060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Titre de la page</a:t>
            </a:r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D5413C9-153C-4B3A-BB67-855BDDA57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08" y="6273800"/>
            <a:ext cx="481792" cy="495903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A475B0-DEBC-D2B0-1283-4E4F0EF6D2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839788"/>
            <a:ext cx="10643016" cy="4445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indent="0">
              <a:buNone/>
              <a:defRPr lang="fr-FR" sz="180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r>
              <a:rPr lang="fr-FR"/>
              <a:t>Sous-titre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8151C3-9817-E0A7-24BB-AFACA85D9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4901119" cy="4713924"/>
          </a:xfrm>
          <a:prstGeom prst="rect">
            <a:avLst/>
          </a:prstGeom>
        </p:spPr>
        <p:txBody>
          <a:bodyPr rIns="90000"/>
          <a:lstStyle>
            <a:lvl1pPr marL="2286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1pPr>
            <a:lvl2pPr marL="6858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2pPr>
            <a:lvl3pPr marL="11430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3pPr>
            <a:lvl4pPr marL="16002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4pPr>
            <a:lvl5pPr marL="20574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E470E-875C-C9A1-2098-6CD4C4EF4CF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52683" y="1463040"/>
            <a:ext cx="4899600" cy="4713924"/>
          </a:xfrm>
          <a:prstGeom prst="rect">
            <a:avLst/>
          </a:prstGeom>
        </p:spPr>
        <p:txBody>
          <a:bodyPr/>
          <a:lstStyle>
            <a:lvl1pPr marL="2286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1pPr>
            <a:lvl2pPr marL="6858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2pPr>
            <a:lvl3pPr marL="11430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3pPr>
            <a:lvl4pPr marL="16002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4pPr>
            <a:lvl5pPr marL="2057400" indent="-228600" algn="just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 : avec coins arrondis en diagonale 6">
            <a:extLst>
              <a:ext uri="{FF2B5EF4-FFF2-40B4-BE49-F238E27FC236}">
                <a16:creationId xmlns:a16="http://schemas.microsoft.com/office/drawing/2014/main" id="{5407518B-D73C-8942-1645-17F08AFA9E36}"/>
              </a:ext>
            </a:extLst>
          </p:cNvPr>
          <p:cNvSpPr/>
          <p:nvPr userDrawn="1"/>
        </p:nvSpPr>
        <p:spPr>
          <a:xfrm rot="5400000">
            <a:off x="11607800" y="6273800"/>
            <a:ext cx="584200" cy="58420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E4C7BA3-948F-5AAC-35A9-B1DDC218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56350"/>
            <a:ext cx="5842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0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8BB39-B02C-47A0-B9F6-7E27D7FB182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Rectangle : avec coins arrondis en diagonale 2">
            <a:extLst>
              <a:ext uri="{FF2B5EF4-FFF2-40B4-BE49-F238E27FC236}">
                <a16:creationId xmlns:a16="http://schemas.microsoft.com/office/drawing/2014/main" id="{DBF2BE83-D906-4FAC-9FDE-06ECAD7B513E}"/>
              </a:ext>
            </a:extLst>
          </p:cNvPr>
          <p:cNvSpPr/>
          <p:nvPr userDrawn="1"/>
        </p:nvSpPr>
        <p:spPr>
          <a:xfrm rot="5400000">
            <a:off x="11607800" y="6273800"/>
            <a:ext cx="584200" cy="584200"/>
          </a:xfrm>
          <a:prstGeom prst="round2DiagRect">
            <a:avLst>
              <a:gd name="adj1" fmla="val 2101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DC1F87-4CA1-4BBA-A56C-5F8D7DA5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8B315D-1A6B-4A62-AE3F-D0C0DFC1C7BF}" type="datetime1">
              <a:rPr lang="fr-FR" smtClean="0"/>
              <a:pPr/>
              <a:t>07/09/2026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F17787-38FF-4AFF-87A8-8B05C2F5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7CD565-2B81-4F10-A9AC-92D6AB21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7800" y="6356350"/>
            <a:ext cx="5842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0D7210-FAB3-46D0-B1DE-47ED72F34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8" y="6273714"/>
            <a:ext cx="481792" cy="496073"/>
          </a:xfrm>
          <a:prstGeom prst="rect">
            <a:avLst/>
          </a:prstGeom>
        </p:spPr>
      </p:pic>
      <p:pic>
        <p:nvPicPr>
          <p:cNvPr id="4" name="Picture 3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91020965-8789-429B-DED5-BD7FAA159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42707"/>
          <a:stretch/>
        </p:blipFill>
        <p:spPr>
          <a:xfrm rot="10800000">
            <a:off x="1828" y="0"/>
            <a:ext cx="12190172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8668872-0235-D454-C758-9B851B14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3629"/>
            <a:ext cx="10515600" cy="347074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DE775B2-DA0D-722B-DE0B-5D6387BE7A9E}"/>
              </a:ext>
            </a:extLst>
          </p:cNvPr>
          <p:cNvSpPr txBox="1">
            <a:spLocks/>
          </p:cNvSpPr>
          <p:nvPr userDrawn="1"/>
        </p:nvSpPr>
        <p:spPr>
          <a:xfrm>
            <a:off x="11607800" y="6356264"/>
            <a:ext cx="584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43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B82FC89-3267-45E7-A1B3-71316CB625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0" t="2932" b="12898"/>
          <a:stretch/>
        </p:blipFill>
        <p:spPr>
          <a:xfrm>
            <a:off x="-55145" y="-1"/>
            <a:ext cx="12247145" cy="6858001"/>
          </a:xfrm>
          <a:prstGeom prst="rect">
            <a:avLst/>
          </a:prstGeom>
        </p:spPr>
      </p:pic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59C3BB5A-96C7-41E7-BF98-231B0123B32C}"/>
              </a:ext>
            </a:extLst>
          </p:cNvPr>
          <p:cNvSpPr/>
          <p:nvPr userDrawn="1"/>
        </p:nvSpPr>
        <p:spPr>
          <a:xfrm>
            <a:off x="831850" y="2001078"/>
            <a:ext cx="4028661" cy="4028661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:a16="http://schemas.microsoft.com/office/drawing/2014/main" id="{FAD28F9A-C07E-46F0-B659-F0E44B34E95E}"/>
              </a:ext>
            </a:extLst>
          </p:cNvPr>
          <p:cNvSpPr/>
          <p:nvPr userDrawn="1"/>
        </p:nvSpPr>
        <p:spPr>
          <a:xfrm>
            <a:off x="1242667" y="3000204"/>
            <a:ext cx="758411" cy="758411"/>
          </a:xfrm>
          <a:prstGeom prst="round2DiagRect">
            <a:avLst>
              <a:gd name="adj1" fmla="val 30483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42667" y="4015407"/>
            <a:ext cx="3183559" cy="106383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1">
                <a:latin typeface="Aptos" panose="020B0004020202020204" pitchFamily="34" charset="0"/>
              </a:defRPr>
            </a:lvl1pPr>
          </a:lstStyle>
          <a:p>
            <a:r>
              <a:rPr lang="fr-FR"/>
              <a:t>Titre de 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42667" y="3170615"/>
            <a:ext cx="758411" cy="516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E1DA0-83BD-8042-3082-7C2285D15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7800" y="6424446"/>
            <a:ext cx="5842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23DE39C-8A81-4508-8EC3-8C55B05C4E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02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blur, highway&#10;&#10;Description automatically generated">
            <a:extLst>
              <a:ext uri="{FF2B5EF4-FFF2-40B4-BE49-F238E27FC236}">
                <a16:creationId xmlns:a16="http://schemas.microsoft.com/office/drawing/2014/main" id="{8A4E43D5-8C03-DE98-29AA-DE85DA367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42707"/>
          <a:stretch/>
        </p:blipFill>
        <p:spPr>
          <a:xfrm rot="10800000">
            <a:off x="1828" y="0"/>
            <a:ext cx="12190172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C49F77DB-28EA-41FA-80F6-1A44DFC872EC}" type="datetime1">
              <a:rPr lang="fr-FR" smtClean="0"/>
              <a:pPr/>
              <a:t>07/09/2026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C7D5CD-91CA-4C55-879A-3EC12A0AF0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027" y="4105059"/>
            <a:ext cx="1046744" cy="1077771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47884EB-ACAA-4C86-9A79-D982E6B3AD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32" y="140617"/>
            <a:ext cx="5334001" cy="67676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972A763-34AA-49EC-9F35-37365344A3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535" y="2045142"/>
            <a:ext cx="5334001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fr-FR"/>
              <a:t>Merci !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0554F-1181-4E4E-A43E-47AEF948FE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42143" y="1776436"/>
            <a:ext cx="3849858" cy="3360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83CD77E-4F26-4331-BAB4-15DC1E22B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42313" y="1407552"/>
            <a:ext cx="3849687" cy="343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82F23BCB-97AB-4C1D-A378-BE7741039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8103" y="2966721"/>
            <a:ext cx="3849687" cy="343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7429A49F-385C-4C59-969F-A187C3D86F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7933" y="4525890"/>
            <a:ext cx="3849687" cy="343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421E7A2D-3B5E-470D-BAE2-AC60E2FDB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clrChange>
              <a:clrFrom>
                <a:srgbClr val="040442"/>
              </a:clrFrom>
              <a:clrTo>
                <a:srgbClr val="040442">
                  <a:alpha val="0"/>
                </a:srgbClr>
              </a:clrTo>
            </a:clrChange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00" t="10051" r="48538" b="4205"/>
          <a:stretch/>
        </p:blipFill>
        <p:spPr>
          <a:xfrm>
            <a:off x="6661742" y="1430199"/>
            <a:ext cx="332935" cy="4053393"/>
          </a:xfrm>
          <a:prstGeom prst="rect">
            <a:avLst/>
          </a:prstGeom>
        </p:spPr>
      </p:pic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D62446EE-6588-4308-8CAB-561EB4B5E9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42142" y="2112474"/>
            <a:ext cx="3849858" cy="336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B5149DF6-D8FB-4B4A-B4FA-3E8F42A309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7764" y="3326815"/>
            <a:ext cx="3849858" cy="3360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4B404841-4C37-4019-BA28-EFDFBEF2AC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7763" y="3662853"/>
            <a:ext cx="3849858" cy="336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C576CB9F-6FF8-4073-B40A-34E2596C85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67764" y="4874363"/>
            <a:ext cx="3849858" cy="3360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F2B719FE-4211-47DE-B508-BFF6ED9BF9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7763" y="5210401"/>
            <a:ext cx="3849858" cy="336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fr-FR"/>
              <a:t>Adresse email</a:t>
            </a:r>
          </a:p>
        </p:txBody>
      </p:sp>
    </p:spTree>
    <p:extLst>
      <p:ext uri="{BB962C8B-B14F-4D97-AF65-F5344CB8AC3E}">
        <p14:creationId xmlns:p14="http://schemas.microsoft.com/office/powerpoint/2010/main" val="319691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- Titre, ss-titre, sans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023E6D2-3D22-9B48-8C21-FB41C735423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932" y="922715"/>
            <a:ext cx="11433654" cy="273879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884682" rtl="0" eaLnBrk="1" fontAlgn="auto" latinLnBrk="0" hangingPunct="1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1161" b="1" kern="1200" dirty="0">
                <a:solidFill>
                  <a:schemeClr val="tx1"/>
                </a:solidFill>
                <a:latin typeface="Arial"/>
                <a:ea typeface="Arial" charset="0"/>
                <a:cs typeface="Arial"/>
              </a:defRPr>
            </a:lvl1pPr>
            <a:lvl2pPr>
              <a:defRPr sz="2322">
                <a:latin typeface="Poppins"/>
              </a:defRPr>
            </a:lvl2pPr>
            <a:lvl3pPr>
              <a:defRPr sz="2322">
                <a:latin typeface="Poppins"/>
              </a:defRPr>
            </a:lvl3pPr>
            <a:lvl4pPr>
              <a:defRPr sz="2322">
                <a:latin typeface="Poppins"/>
              </a:defRPr>
            </a:lvl4pPr>
            <a:lvl5pPr>
              <a:defRPr sz="2322">
                <a:latin typeface="Poppins"/>
              </a:defRPr>
            </a:lvl5pPr>
          </a:lstStyle>
          <a:p>
            <a:pPr marL="0" marR="0" lvl="0" indent="0" algn="l" defTabSz="884682" rtl="0" eaLnBrk="1" fontAlgn="auto" latinLnBrk="0" hangingPunct="1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Sous-titre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F3B92F5A-69A7-1745-A726-2A3838084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934" y="564024"/>
            <a:ext cx="11433652" cy="358691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322" b="1" cap="all" spc="-145" baseline="0"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94015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C8BC69C-CF14-4A9A-8F59-3B6DC2FA1912}"/>
              </a:ext>
            </a:extLst>
          </p:cNvPr>
          <p:cNvCxnSpPr>
            <a:cxnSpLocks/>
          </p:cNvCxnSpPr>
          <p:nvPr userDrawn="1"/>
        </p:nvCxnSpPr>
        <p:spPr>
          <a:xfrm>
            <a:off x="5504564" y="760587"/>
            <a:ext cx="1182872" cy="0"/>
          </a:xfrm>
          <a:prstGeom prst="line">
            <a:avLst/>
          </a:prstGeom>
          <a:ln>
            <a:solidFill>
              <a:srgbClr val="7DABBB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818BC9EE-B5BE-492A-A114-19050F9FF6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6793" y="1002455"/>
            <a:ext cx="11222094" cy="52967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1800" kern="1200" dirty="0">
                <a:solidFill>
                  <a:srgbClr val="0F516A"/>
                </a:solidFill>
                <a:latin typeface="Avenir Next LT Pro Light" panose="020B0304020202020204" pitchFamily="34" charset="0"/>
                <a:ea typeface="+mn-ea"/>
                <a:cs typeface="Assistant Light" panose="00000400000000000000" pitchFamily="2" charset="-79"/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BB4DF4-3F07-4299-8CD4-C493428D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3148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rgbClr val="0F516A"/>
                </a:solidFill>
                <a:latin typeface="Avenir Next LT Pro Light" panose="020B03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53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60987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52606D"/>
                </a:solidFill>
              </a:rPr>
              <a:t>ROI  |  DATA AGENTS &amp; COPILOT DANS FABRIC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10607040" y="1645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B5BF7"/>
                </a:solidFill>
              </a:rPr>
              <a:t>EXPERTIME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79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CYBERSÉCURITÉ  |  MICROSOFT FABRIC &amp; POWER BI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1065276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B5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EXPERTIME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48640" y="6519672"/>
            <a:ext cx="11064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5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76D5CA-7890-480F-4D76-66873202AAD4}"/>
              </a:ext>
            </a:extLst>
          </p:cNvPr>
          <p:cNvSpPr txBox="1">
            <a:spLocks/>
          </p:cNvSpPr>
          <p:nvPr userDrawn="1"/>
        </p:nvSpPr>
        <p:spPr>
          <a:xfrm>
            <a:off x="838200" y="20742"/>
            <a:ext cx="10515600" cy="110467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85B7D05-12A5-39EF-6B87-CB4B160100E2}"/>
              </a:ext>
            </a:extLst>
          </p:cNvPr>
          <p:cNvSpPr txBox="1">
            <a:spLocks/>
          </p:cNvSpPr>
          <p:nvPr userDrawn="1"/>
        </p:nvSpPr>
        <p:spPr>
          <a:xfrm>
            <a:off x="838200" y="839788"/>
            <a:ext cx="10643016" cy="444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01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00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578CA-3AC4-329A-5EB0-C0683179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F0BA-5B5A-8143-E80B-22259EE9E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Choisir le bon assistant IA dans MS </a:t>
            </a:r>
            <a:r>
              <a:rPr lang="fr-FR" sz="3200" dirty="0" err="1"/>
              <a:t>Fabric</a:t>
            </a:r>
            <a:r>
              <a:rPr lang="fr-FR" sz="3200" dirty="0"/>
              <a:t> / Power BI</a:t>
            </a:r>
            <a:endParaRPr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50835-A175-A13C-C01A-A22E700CB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604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60EC-2FAF-541D-81B2-9B4DF0F7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D6A98-20E8-611E-35AD-63C07D57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Choisir le bon assistant IA dans Microsoft </a:t>
            </a:r>
            <a:r>
              <a:rPr lang="fr-FR" dirty="0" err="1"/>
              <a:t>Fabric</a:t>
            </a:r>
            <a:r>
              <a:rPr lang="fr-FR" dirty="0"/>
              <a:t> / Power BI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85F7E-4BA9-AB5F-6D84-9A7ACC57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fr-FR" sz="1400" dirty="0">
                <a:latin typeface="Segoe UI" panose="020B0502040204020203" pitchFamily="34" charset="0"/>
              </a:rPr>
              <a:t>Les solutions IA dans </a:t>
            </a:r>
            <a:r>
              <a:rPr lang="fr-FR" sz="1400" dirty="0" err="1">
                <a:latin typeface="Segoe UI" panose="020B0502040204020203" pitchFamily="34" charset="0"/>
              </a:rPr>
              <a:t>Fabric</a:t>
            </a:r>
            <a:r>
              <a:rPr lang="fr-FR" sz="1400" dirty="0">
                <a:latin typeface="Segoe UI" panose="020B0502040204020203" pitchFamily="34" charset="0"/>
              </a:rPr>
              <a:t> ne répondent pas au même besoin : certaines accélèrent la </a:t>
            </a:r>
            <a:r>
              <a:rPr lang="fr-FR" sz="1400" b="1" dirty="0">
                <a:latin typeface="Segoe UI" panose="020B0502040204020203" pitchFamily="34" charset="0"/>
              </a:rPr>
              <a:t>création de rapports</a:t>
            </a:r>
            <a:r>
              <a:rPr lang="fr-FR" sz="1400" dirty="0">
                <a:latin typeface="Segoe UI" panose="020B0502040204020203" pitchFamily="34" charset="0"/>
              </a:rPr>
              <a:t>, d’autres la </a:t>
            </a:r>
            <a:r>
              <a:rPr lang="fr-FR" sz="1400" b="1" dirty="0">
                <a:latin typeface="Segoe UI" panose="020B0502040204020203" pitchFamily="34" charset="0"/>
              </a:rPr>
              <a:t>compréhension des données</a:t>
            </a:r>
            <a:r>
              <a:rPr lang="fr-FR" sz="1400" dirty="0">
                <a:latin typeface="Segoe UI" panose="020B0502040204020203" pitchFamily="34" charset="0"/>
              </a:rPr>
              <a:t>, d’autres la </a:t>
            </a:r>
            <a:r>
              <a:rPr lang="fr-FR" sz="1400" b="1" dirty="0">
                <a:latin typeface="Segoe UI" panose="020B0502040204020203" pitchFamily="34" charset="0"/>
              </a:rPr>
              <a:t>modification du modèle sémantique</a:t>
            </a:r>
            <a:r>
              <a:rPr lang="fr-FR" sz="1400" dirty="0">
                <a:latin typeface="Segoe UI" panose="020B0502040204020203" pitchFamily="34" charset="0"/>
              </a:rPr>
              <a:t>, et d’autres enfin ouvrent un accès conversationnel gouverné aux données.</a:t>
            </a:r>
          </a:p>
          <a:p>
            <a:pPr fontAlgn="t">
              <a:lnSpc>
                <a:spcPts val="1500"/>
              </a:lnSpc>
              <a:buNone/>
            </a:pPr>
            <a:r>
              <a:rPr lang="fr-FR" sz="1400" b="1" dirty="0">
                <a:latin typeface="Segoe UI" panose="020B0502040204020203" pitchFamily="34" charset="0"/>
              </a:rPr>
              <a:t>Les 4 scénarios à distinguer</a:t>
            </a:r>
            <a:endParaRPr lang="fr-FR" sz="1400" dirty="0">
              <a:latin typeface="Segoe UI" panose="020B0502040204020203" pitchFamily="34" charset="0"/>
            </a:endParaRPr>
          </a:p>
        </p:txBody>
      </p:sp>
      <p:sp>
        <p:nvSpPr>
          <p:cNvPr id="50" name="Carte 1"/>
          <p:cNvSpPr/>
          <p:nvPr/>
        </p:nvSpPr>
        <p:spPr>
          <a:xfrm>
            <a:off x="838200" y="2743200"/>
            <a:ext cx="5105400" cy="142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Num 1"/>
          <p:cNvSpPr/>
          <p:nvPr/>
        </p:nvSpPr>
        <p:spPr>
          <a:xfrm>
            <a:off x="1066800" y="32246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52" name="Texte 1"/>
          <p:cNvSpPr txBox="1"/>
          <p:nvPr/>
        </p:nvSpPr>
        <p:spPr>
          <a:xfrm>
            <a:off x="1676400" y="2895600"/>
            <a:ext cx="4038600" cy="111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pour Power BI — création de rapports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Créer ou améliorer rapidement des pages de rapport et des visuels</a:t>
            </a:r>
          </a:p>
        </p:txBody>
      </p:sp>
      <p:sp>
        <p:nvSpPr>
          <p:cNvPr id="53" name="Carte 2"/>
          <p:cNvSpPr/>
          <p:nvPr/>
        </p:nvSpPr>
        <p:spPr>
          <a:xfrm>
            <a:off x="6248400" y="2743200"/>
            <a:ext cx="5105400" cy="142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Num 2"/>
          <p:cNvSpPr/>
          <p:nvPr/>
        </p:nvSpPr>
        <p:spPr>
          <a:xfrm>
            <a:off x="6477000" y="32246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55" name="Texte 2"/>
          <p:cNvSpPr txBox="1"/>
          <p:nvPr/>
        </p:nvSpPr>
        <p:spPr>
          <a:xfrm>
            <a:off x="7086600" y="2895600"/>
            <a:ext cx="4038600" cy="111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Power BI MCP Server local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Modifier, documenter ou refactorer un modèle sémantique</a:t>
            </a:r>
          </a:p>
        </p:txBody>
      </p:sp>
      <p:sp>
        <p:nvSpPr>
          <p:cNvPr id="56" name="Carte 3"/>
          <p:cNvSpPr/>
          <p:nvPr/>
        </p:nvSpPr>
        <p:spPr>
          <a:xfrm>
            <a:off x="838200" y="4403200"/>
            <a:ext cx="5105400" cy="142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Num 3"/>
          <p:cNvSpPr/>
          <p:nvPr/>
        </p:nvSpPr>
        <p:spPr>
          <a:xfrm>
            <a:off x="1066800" y="48846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58" name="Texte 3"/>
          <p:cNvSpPr txBox="1"/>
          <p:nvPr/>
        </p:nvSpPr>
        <p:spPr>
          <a:xfrm>
            <a:off x="1676400" y="4555600"/>
            <a:ext cx="4038600" cy="111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pour Power BI — assistance à l’analyse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Comprendre un rapport existant, résumer les insights, explorer les données visibles</a:t>
            </a:r>
          </a:p>
        </p:txBody>
      </p:sp>
      <p:sp>
        <p:nvSpPr>
          <p:cNvPr id="59" name="Carte 4"/>
          <p:cNvSpPr/>
          <p:nvPr/>
        </p:nvSpPr>
        <p:spPr>
          <a:xfrm>
            <a:off x="6248400" y="4403200"/>
            <a:ext cx="5105400" cy="142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Num 4"/>
          <p:cNvSpPr/>
          <p:nvPr/>
        </p:nvSpPr>
        <p:spPr>
          <a:xfrm>
            <a:off x="6477000" y="48846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61" name="Texte 4"/>
          <p:cNvSpPr txBox="1"/>
          <p:nvPr/>
        </p:nvSpPr>
        <p:spPr>
          <a:xfrm>
            <a:off x="7086600" y="4555600"/>
            <a:ext cx="4038600" cy="111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Fabric Data Agent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Poser des questions ad hoc sur des données gouvernées et générer SQL / DAX / KQL</a:t>
            </a:r>
          </a:p>
        </p:txBody>
      </p:sp>
      <p:pic>
        <p:nvPicPr>
          <p:cNvPr id="900" name="Logo Orange Business">
            <a:extLst>
              <a:ext uri="{FF2B5EF4-FFF2-40B4-BE49-F238E27FC236}">
                <a16:creationId xmlns:a16="http://schemas.microsoft.com/office/drawing/2014/main" id="{C50BECFF-5180-21A7-D0D5-636A2542DC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8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D5CC4-938D-5A07-9A09-A697D93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d’ensemble des critères de choix</a:t>
            </a:r>
          </a:p>
        </p:txBody>
      </p:sp>
      <p:graphicFrame>
        <p:nvGraphicFramePr>
          <p:cNvPr id="4" name="Tableau critères"/>
          <p:cNvGraphicFramePr>
            <a:graphicFrameLocks noGrp="1"/>
          </p:cNvGraphicFramePr>
          <p:nvPr/>
        </p:nvGraphicFramePr>
        <p:xfrm>
          <a:off x="571500" y="1700000"/>
          <a:ext cx="11049000" cy="3234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Critère de choix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Copilot création rapports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MCP Power BI modèle sémantique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Copilot compréhension rapport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Fabric Data Agent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Profil cible principal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Data Analyst / Power BI author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Data Analyst avancé / BI Developer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Business Analyst / lecteur métier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Business Analyst / métier / self-service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Niveau technique requis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Moyen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Élevé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Faible à moyen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Faible côté usage, moyen côté configuration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Objet manipulé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Pages, visuels, résumé narratif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Tables, colonnes, mesures, relations, rôles, TMDL/PBIP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Rapport, page, visuels, modèle accessible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Sources gouvernées : semantic model, lakehouse, warehouse, KQL, ontology…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Type d’action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Création / édition de rapport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Modification de modèle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Exploration / explication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Question-réponse ad hoc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Risque principal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Visuels à valider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Modifications destructives possibles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Mauvaise interprétation d’un visuel ou contexte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Mauvais DAX / SQL si modèle mal préparé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Gouvernance attendue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Validation par report author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Backup, source control, review, RBAC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Sensibilisation métier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Prep for AI, instructions, tests, monitoring</a:t>
                      </a:r>
                    </a:p>
                  </a:txBody>
                  <a:tcPr marL="118872" marR="118872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37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E0EC-4B6D-330E-6215-FA5A4668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993BA-9CCD-058B-D56D-1F0C4CE1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Scénario 1 </a:t>
            </a:r>
            <a:r>
              <a:rPr lang="fr-FR"/>
              <a:t>— Copilot </a:t>
            </a:r>
            <a:r>
              <a:rPr lang="fr-FR" dirty="0"/>
              <a:t>: créer </a:t>
            </a:r>
            <a:r>
              <a:rPr lang="fr-FR"/>
              <a:t>des </a:t>
            </a:r>
            <a:r>
              <a:rPr lang="fr-FR" dirty="0"/>
              <a:t>rapports et</a:t>
            </a:r>
            <a:r>
              <a:rPr lang="fr-FR"/>
              <a:t> des</a:t>
            </a:r>
            <a:r>
              <a:rPr lang="fr-FR" dirty="0"/>
              <a:t> visuels</a:t>
            </a:r>
          </a:p>
        </p:txBody>
      </p:sp>
      <p:sp>
        <p:nvSpPr>
          <p:cNvPr id="60" name="Filet"/>
          <p:cNvSpPr/>
          <p:nvPr/>
        </p:nvSpPr>
        <p:spPr>
          <a:xfrm>
            <a:off x="83820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Colonne 1"/>
          <p:cNvSpPr txBox="1"/>
          <p:nvPr/>
        </p:nvSpPr>
        <p:spPr>
          <a:xfrm>
            <a:off x="83820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Quand le préconiser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Partir d’un modèle sémantique pour générer vite une première page de rapport.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Créer ou éditer des visuels : ajouter, modifier, supprimer.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Produire vite, puis faire reprendre et valider par un auteur Power BI.</a:t>
            </a:r>
          </a:p>
        </p:txBody>
      </p:sp>
      <p:sp>
        <p:nvSpPr>
          <p:cNvPr id="62" name="Filet"/>
          <p:cNvSpPr/>
          <p:nvPr/>
        </p:nvSpPr>
        <p:spPr>
          <a:xfrm>
            <a:off x="443484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Colonne 2"/>
          <p:cNvSpPr txBox="1"/>
          <p:nvPr/>
        </p:nvSpPr>
        <p:spPr>
          <a:xfrm>
            <a:off x="443484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Profil cible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Data Analyst / Power BI author : usage prioritaire.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Business Analyst avancé : si le modèle est prêt et les résultats revus.</a:t>
            </a:r>
          </a:p>
        </p:txBody>
      </p:sp>
      <p:sp>
        <p:nvSpPr>
          <p:cNvPr id="64" name="Filet"/>
          <p:cNvSpPr/>
          <p:nvPr/>
        </p:nvSpPr>
        <p:spPr>
          <a:xfrm>
            <a:off x="803148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Colonne 3"/>
          <p:cNvSpPr txBox="1"/>
          <p:nvPr/>
        </p:nvSpPr>
        <p:spPr>
          <a:xfrm>
            <a:off x="803148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Ce que dit Microsoft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crée et édite des pages de rapport à partir de prompts en langage naturel.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Il ajoute, change ou supprime des visuels, gère undo/redo et génère un résumé narratif.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7A8194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Source : learn.microsoft.com</a:t>
            </a:r>
          </a:p>
        </p:txBody>
      </p:sp>
      <p:sp>
        <p:nvSpPr>
          <p:cNvPr id="66" name="Label tableau"/>
          <p:cNvSpPr txBox="1"/>
          <p:nvPr/>
        </p:nvSpPr>
        <p:spPr>
          <a:xfrm>
            <a:off x="838200" y="3760000"/>
            <a:ext cx="105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Critères de décision</a:t>
            </a:r>
          </a:p>
        </p:txBody>
      </p:sp>
      <p:graphicFrame>
        <p:nvGraphicFramePr>
          <p:cNvPr id="67" name="Critères de décision"/>
          <p:cNvGraphicFramePr>
            <a:graphicFrameLocks noGrp="1"/>
          </p:cNvGraphicFramePr>
          <p:nvPr/>
        </p:nvGraphicFramePr>
        <p:xfrm>
          <a:off x="838200" y="4040000"/>
          <a:ext cx="1051560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Choisir Copilot création rapports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Éviter / compléter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Produire une première version de rapport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modèle sémantique n’est pas propre ou ambigu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visuels générés sont relus par un analyste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design pixel-perfect est critique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périmètre analytique est bien cadré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besoin implique des changements profonds de modèle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Logique d’assistance, pas d’automatisation totale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Custom visuals ou formatting très fin nécessaires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00" name="Logo Orange Business">
            <a:extLst>
              <a:ext uri="{FF2B5EF4-FFF2-40B4-BE49-F238E27FC236}">
                <a16:creationId xmlns:a16="http://schemas.microsoft.com/office/drawing/2014/main" id="{3FDD72C7-2AE0-99A9-D895-2B7E666E3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0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C4CFE-B9D2-D8F0-7CA6-341ED157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Scénario 2 </a:t>
            </a:r>
            <a:r>
              <a:rPr lang="fr-FR"/>
              <a:t>— </a:t>
            </a:r>
            <a:r>
              <a:rPr lang="fr-FR" dirty="0"/>
              <a:t>MCP Server </a:t>
            </a:r>
            <a:r>
              <a:rPr lang="fr-FR"/>
              <a:t>:</a:t>
            </a:r>
            <a:r>
              <a:rPr lang="fr-FR" dirty="0"/>
              <a:t> modifier le modèle sémantique</a:t>
            </a:r>
          </a:p>
        </p:txBody>
      </p:sp>
      <p:sp>
        <p:nvSpPr>
          <p:cNvPr id="60" name="Filet"/>
          <p:cNvSpPr/>
          <p:nvPr/>
        </p:nvSpPr>
        <p:spPr>
          <a:xfrm>
            <a:off x="83820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Colonne 1"/>
          <p:cNvSpPr txBox="1"/>
          <p:nvPr/>
        </p:nvSpPr>
        <p:spPr>
          <a:xfrm>
            <a:off x="83820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Quand le préconiser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 besoin porte sur la modélisation, pas sur le rendu visuel.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Accélérer les tâches répétitives : renommage, documentation, refactoring, validation DAX.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 modèle est un actif technique : PBIP, TMDL, Git, revue de code, déploiement.</a:t>
            </a:r>
          </a:p>
        </p:txBody>
      </p:sp>
      <p:sp>
        <p:nvSpPr>
          <p:cNvPr id="62" name="Filet"/>
          <p:cNvSpPr/>
          <p:nvPr/>
        </p:nvSpPr>
        <p:spPr>
          <a:xfrm>
            <a:off x="443484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Colonne 2"/>
          <p:cNvSpPr txBox="1"/>
          <p:nvPr/>
        </p:nvSpPr>
        <p:spPr>
          <a:xfrm>
            <a:off x="443484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Profil cible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Data Analyst avancé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BI Developer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Data Engineer / Architecte BI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Non recommandé en self-service métier sans garde-fous.</a:t>
            </a:r>
          </a:p>
        </p:txBody>
      </p:sp>
      <p:sp>
        <p:nvSpPr>
          <p:cNvPr id="64" name="Filet"/>
          <p:cNvSpPr/>
          <p:nvPr/>
        </p:nvSpPr>
        <p:spPr>
          <a:xfrm>
            <a:off x="803148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Colonne 3"/>
          <p:cNvSpPr txBox="1"/>
          <p:nvPr/>
        </p:nvSpPr>
        <p:spPr>
          <a:xfrm>
            <a:off x="803148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Ce que dit Microsoft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Deux serveurs MCP : remote pour interroger, local pour construire ou modifier les modèles.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 serveur local couvre tables, colonnes, mesures, relations, validation DAX, opérations en masse.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Public Preview : prudence, un agent IA peut produire des modifications non souhaitées.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7A8194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Sources : learn.microsoft.com, github.com</a:t>
            </a:r>
          </a:p>
        </p:txBody>
      </p:sp>
      <p:sp>
        <p:nvSpPr>
          <p:cNvPr id="66" name="Label tableau"/>
          <p:cNvSpPr txBox="1"/>
          <p:nvPr/>
        </p:nvSpPr>
        <p:spPr>
          <a:xfrm>
            <a:off x="838200" y="3760000"/>
            <a:ext cx="105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Critères de décision</a:t>
            </a:r>
          </a:p>
        </p:txBody>
      </p:sp>
      <p:graphicFrame>
        <p:nvGraphicFramePr>
          <p:cNvPr id="67" name="Critères de décision"/>
          <p:cNvGraphicFramePr>
            <a:graphicFrameLocks noGrp="1"/>
          </p:cNvGraphicFramePr>
          <p:nvPr/>
        </p:nvGraphicFramePr>
        <p:xfrm>
          <a:off x="838200" y="4040000"/>
          <a:ext cx="1051560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Choisir MCP Power BI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Éviter / encadrer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Modifier le modèle sémantique en profondeur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besoin concerne seulement la lecture d’un rapport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Beaucoup d’objets à renommer, documenter, refactorer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modèle n’est pas sauvegardé ou versionné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L’équipe travaille en PBIP / TMDL / Git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permissions sont trop larges ou non maîtrisées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changements sont validés techniquement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L’utilisateur ne comprend pas les impacts du modèle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1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3364-3052-AFDC-1DEA-6AAEF861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4F28E-515D-0CA6-83E0-1DF5D7F8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Scénario 3 </a:t>
            </a:r>
            <a:r>
              <a:rPr lang="fr-FR"/>
              <a:t>— Copilot </a:t>
            </a:r>
            <a:r>
              <a:rPr lang="fr-FR" dirty="0"/>
              <a:t>: comprendre et analyser </a:t>
            </a:r>
            <a:r>
              <a:rPr lang="fr-FR"/>
              <a:t>un rapport</a:t>
            </a:r>
            <a:endParaRPr lang="fr-FR" dirty="0"/>
          </a:p>
        </p:txBody>
      </p:sp>
      <p:sp>
        <p:nvSpPr>
          <p:cNvPr id="60" name="Filet"/>
          <p:cNvSpPr/>
          <p:nvPr/>
        </p:nvSpPr>
        <p:spPr>
          <a:xfrm>
            <a:off x="83820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Colonne 1"/>
          <p:cNvSpPr txBox="1"/>
          <p:nvPr/>
        </p:nvSpPr>
        <p:spPr>
          <a:xfrm>
            <a:off x="83820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Quand le préconiser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Comprendre les tendances, écarts et messages clés d’un rapport existant.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Obtenir un résumé, une explication ou une exploration guidée, sans nouvel artefact.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Rester dans l’expérience Power BI, sans changer d’outil.</a:t>
            </a:r>
          </a:p>
        </p:txBody>
      </p:sp>
      <p:sp>
        <p:nvSpPr>
          <p:cNvPr id="62" name="Filet"/>
          <p:cNvSpPr/>
          <p:nvPr/>
        </p:nvSpPr>
        <p:spPr>
          <a:xfrm>
            <a:off x="443484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Colonne 2"/>
          <p:cNvSpPr txBox="1"/>
          <p:nvPr/>
        </p:nvSpPr>
        <p:spPr>
          <a:xfrm>
            <a:off x="443484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Profil cible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Business Analyst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Manager métier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Data Analyst en phase exploratoire</a:t>
            </a:r>
          </a:p>
        </p:txBody>
      </p:sp>
      <p:sp>
        <p:nvSpPr>
          <p:cNvPr id="64" name="Filet"/>
          <p:cNvSpPr/>
          <p:nvPr/>
        </p:nvSpPr>
        <p:spPr>
          <a:xfrm>
            <a:off x="803148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Colonne 3"/>
          <p:cNvSpPr txBox="1"/>
          <p:nvPr/>
        </p:nvSpPr>
        <p:spPr>
          <a:xfrm>
            <a:off x="803148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Ce que dit Microsoft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répond en langage naturel pendant la consultation d’un rapport.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Il scanne les éléments accessibles (modèles, rapports, data agents) et suggère les sources.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 résumé narratif s’appuie sur le canvas : titres, axes et visuels doivent être bien nommés.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7A8194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Source : learn.microsoft.com</a:t>
            </a:r>
          </a:p>
        </p:txBody>
      </p:sp>
      <p:sp>
        <p:nvSpPr>
          <p:cNvPr id="66" name="Label tableau"/>
          <p:cNvSpPr txBox="1"/>
          <p:nvPr/>
        </p:nvSpPr>
        <p:spPr>
          <a:xfrm>
            <a:off x="838200" y="3760000"/>
            <a:ext cx="105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Critères de décision</a:t>
            </a:r>
          </a:p>
        </p:txBody>
      </p:sp>
      <p:graphicFrame>
        <p:nvGraphicFramePr>
          <p:cNvPr id="67" name="Critères de décision"/>
          <p:cNvGraphicFramePr>
            <a:graphicFrameLocks noGrp="1"/>
          </p:cNvGraphicFramePr>
          <p:nvPr/>
        </p:nvGraphicFramePr>
        <p:xfrm>
          <a:off x="838200" y="4040000"/>
          <a:ext cx="1051560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Choisir Copilot analyse rapport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Basculer vers Data Agent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La question porte sur un rapport ou une page existante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La question dépasse le périmètre du rapport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Une explication rapide des visuels suffit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Il faut interroger plusieurs sources gouvernées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La réponse attendue est narrative ou exploratoire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La réponse doit être réutilisable hors du rapport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rapport est bien construit et bien nommé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besoin relève d’un Q&amp;A métier récurrent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2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D180-DCC9-E130-BDDF-BD413E18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80FE08-88E0-9D61-BD75-ED81C22C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Scénario 4 </a:t>
            </a:r>
            <a:r>
              <a:rPr lang="fr-FR"/>
              <a:t>— Fabric</a:t>
            </a:r>
            <a:r>
              <a:rPr lang="fr-FR" dirty="0"/>
              <a:t> Data Agent </a:t>
            </a:r>
            <a:r>
              <a:rPr lang="fr-FR"/>
              <a:t>: </a:t>
            </a:r>
            <a:r>
              <a:rPr lang="fr-FR" dirty="0"/>
              <a:t>questions ad hoc</a:t>
            </a:r>
            <a:r>
              <a:rPr lang="fr-FR"/>
              <a:t>,</a:t>
            </a:r>
            <a:r>
              <a:rPr lang="fr-FR" dirty="0"/>
              <a:t> NL → DAX</a:t>
            </a:r>
          </a:p>
        </p:txBody>
      </p:sp>
      <p:sp>
        <p:nvSpPr>
          <p:cNvPr id="60" name="Filet"/>
          <p:cNvSpPr/>
          <p:nvPr/>
        </p:nvSpPr>
        <p:spPr>
          <a:xfrm>
            <a:off x="83820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Colonne 1"/>
          <p:cNvSpPr txBox="1"/>
          <p:nvPr/>
        </p:nvSpPr>
        <p:spPr>
          <a:xfrm>
            <a:off x="83820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Quand le préconiser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Les métiers posent librement des questions sur des données gouvernées.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Les questions ne correspondent pas à une page de rapport préexistante.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Exposer un point d’entrée conversationnel réutilisable (Power BI, Copilot Studio, M365, MCP).</a:t>
            </a:r>
          </a:p>
        </p:txBody>
      </p:sp>
      <p:sp>
        <p:nvSpPr>
          <p:cNvPr id="62" name="Filet"/>
          <p:cNvSpPr/>
          <p:nvPr/>
        </p:nvSpPr>
        <p:spPr>
          <a:xfrm>
            <a:off x="443484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Colonne 2"/>
          <p:cNvSpPr txBox="1"/>
          <p:nvPr/>
        </p:nvSpPr>
        <p:spPr>
          <a:xfrm>
            <a:off x="443484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Profil cible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Business Analyst / métier : poser les questions.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Data Analyst / BI team : préparer modèle, instructions et réponses vérifiées.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Architecte / gouvernance : cadrer sécurité, sources et cycle de vie.</a:t>
            </a:r>
          </a:p>
        </p:txBody>
      </p:sp>
      <p:sp>
        <p:nvSpPr>
          <p:cNvPr id="64" name="Filet"/>
          <p:cNvSpPr/>
          <p:nvPr/>
        </p:nvSpPr>
        <p:spPr>
          <a:xfrm>
            <a:off x="8031480" y="1500000"/>
            <a:ext cx="457200" cy="45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Colonne 3"/>
          <p:cNvSpPr txBox="1"/>
          <p:nvPr/>
        </p:nvSpPr>
        <p:spPr>
          <a:xfrm>
            <a:off x="8031480" y="1614300"/>
            <a:ext cx="3322320" cy="2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Ce que dit Microsoft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Expériences conversationnelles sur lakehouses, warehouses, modèles Power BI, KQL, ontologies.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NL2SQL, NL2DAX ou NL2KQL selon la source ; les requêtes interrogent, sans modifier les données.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79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950" b="0" i="0" u="none" strike="noStrike" kern="1200" cap="none" spc="0" normalizeH="0" baseline="0" noProof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Modèles Power BI : préparer avec Prep for AI pour une génération DAX fiable.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1" u="none" strike="noStrike" kern="1200" cap="none" spc="0" normalizeH="0" baseline="0" noProof="0">
                <a:ln>
                  <a:noFill/>
                </a:ln>
                <a:solidFill>
                  <a:srgbClr val="7A8194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Source : learn.microsoft.com</a:t>
            </a:r>
          </a:p>
        </p:txBody>
      </p:sp>
      <p:sp>
        <p:nvSpPr>
          <p:cNvPr id="66" name="Label tableau"/>
          <p:cNvSpPr txBox="1"/>
          <p:nvPr/>
        </p:nvSpPr>
        <p:spPr>
          <a:xfrm>
            <a:off x="838200" y="3760000"/>
            <a:ext cx="105156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Critères de décision</a:t>
            </a:r>
          </a:p>
        </p:txBody>
      </p:sp>
      <p:graphicFrame>
        <p:nvGraphicFramePr>
          <p:cNvPr id="67" name="Critères de décision"/>
          <p:cNvGraphicFramePr>
            <a:graphicFrameLocks noGrp="1"/>
          </p:cNvGraphicFramePr>
          <p:nvPr/>
        </p:nvGraphicFramePr>
        <p:xfrm>
          <a:off x="838200" y="4040000"/>
          <a:ext cx="1051560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Choisir Data Agent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Éviter / préparer davantage si…</a:t>
                      </a:r>
                    </a:p>
                  </a:txBody>
                  <a:tcPr marL="137160" marR="137160" marT="68580" marB="68580" anchor="ctr">
                    <a:lnB w="12700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Questions ad hoc et récurrentes côté métier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 modèle n’est pas AI-ready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Il faut interroger des sources différentes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définitions métier sont ambiguës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Industrialiser un assistant Q&amp;A gouverné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utilisateurs attendent de l’analyse causale avancée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Exposer l’agent dans plusieurs canaux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0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Les permissions et RLS/CLS ne sont pas clarifiées</a:t>
                      </a:r>
                    </a:p>
                  </a:txBody>
                  <a:tcPr marL="137160" marR="137160" marT="68580" marB="68580" anchor="ctr"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8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C7C1-4C50-0B29-D194-31F6F01D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F6D41-DD11-8B99-70E7-AF28B4BE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Arbre de décision pour choisir l’assistant IA</a:t>
            </a:r>
          </a:p>
        </p:txBody>
      </p:sp>
      <p:sp>
        <p:nvSpPr>
          <p:cNvPr id="100" name="Question 1"/>
          <p:cNvSpPr/>
          <p:nvPr/>
        </p:nvSpPr>
        <p:spPr>
          <a:xfrm>
            <a:off x="838200" y="1500000"/>
            <a:ext cx="4400000" cy="7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2256A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1 — Créer ou modifier un rapport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pages et visuels</a:t>
            </a:r>
          </a:p>
        </p:txBody>
      </p:sp>
      <p:sp>
        <p:nvSpPr>
          <p:cNvPr id="101" name="Lien"/>
          <p:cNvSpPr/>
          <p:nvPr/>
        </p:nvSpPr>
        <p:spPr>
          <a:xfrm>
            <a:off x="5238200" y="1870000"/>
            <a:ext cx="1061800" cy="0"/>
          </a:xfrm>
          <a:prstGeom prst="line">
            <a:avLst/>
          </a:prstGeom>
          <a:ln w="19050">
            <a:solidFill>
              <a:srgbClr val="FF7900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2" name="Oui 1"/>
          <p:cNvSpPr/>
          <p:nvPr/>
        </p:nvSpPr>
        <p:spPr>
          <a:xfrm>
            <a:off x="5238200" y="1570000"/>
            <a:ext cx="10618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1" i="0" u="none" strike="noStrike" kern="1200" cap="none" spc="0" normalizeH="0" baseline="0" noProof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Oui</a:t>
            </a:r>
          </a:p>
        </p:txBody>
      </p:sp>
      <p:sp>
        <p:nvSpPr>
          <p:cNvPr id="103" name="Solution 1"/>
          <p:cNvSpPr/>
          <p:nvPr/>
        </p:nvSpPr>
        <p:spPr>
          <a:xfrm>
            <a:off x="6300000" y="1560000"/>
            <a:ext cx="5100000" cy="62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— création de rapports</a:t>
            </a:r>
          </a:p>
        </p:txBody>
      </p:sp>
      <p:sp>
        <p:nvSpPr>
          <p:cNvPr id="104" name="Lien"/>
          <p:cNvSpPr/>
          <p:nvPr/>
        </p:nvSpPr>
        <p:spPr>
          <a:xfrm>
            <a:off x="1338200" y="2240000"/>
            <a:ext cx="0" cy="210000"/>
          </a:xfrm>
          <a:prstGeom prst="line">
            <a:avLst/>
          </a:prstGeom>
          <a:ln w="19050">
            <a:solidFill>
              <a:srgbClr val="9AA1B1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5" name="Non 1"/>
          <p:cNvSpPr/>
          <p:nvPr/>
        </p:nvSpPr>
        <p:spPr>
          <a:xfrm>
            <a:off x="1398200" y="2250000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Non</a:t>
            </a:r>
          </a:p>
        </p:txBody>
      </p:sp>
      <p:sp>
        <p:nvSpPr>
          <p:cNvPr id="106" name="Question 2"/>
          <p:cNvSpPr/>
          <p:nvPr/>
        </p:nvSpPr>
        <p:spPr>
          <a:xfrm>
            <a:off x="838200" y="2450000"/>
            <a:ext cx="4400000" cy="7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2256A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 — Modifier le modèle sémantique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tables, colonnes, mesures, relations, RLS, documentation</a:t>
            </a:r>
          </a:p>
        </p:txBody>
      </p:sp>
      <p:sp>
        <p:nvSpPr>
          <p:cNvPr id="107" name="Lien"/>
          <p:cNvSpPr/>
          <p:nvPr/>
        </p:nvSpPr>
        <p:spPr>
          <a:xfrm>
            <a:off x="5238200" y="2820000"/>
            <a:ext cx="1061800" cy="0"/>
          </a:xfrm>
          <a:prstGeom prst="line">
            <a:avLst/>
          </a:prstGeom>
          <a:ln w="19050">
            <a:solidFill>
              <a:srgbClr val="FF7900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8" name="Oui 2"/>
          <p:cNvSpPr/>
          <p:nvPr/>
        </p:nvSpPr>
        <p:spPr>
          <a:xfrm>
            <a:off x="5238200" y="2520000"/>
            <a:ext cx="10618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1" i="0" u="none" strike="noStrike" kern="1200" cap="none" spc="0" normalizeH="0" baseline="0" noProof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Oui</a:t>
            </a:r>
          </a:p>
        </p:txBody>
      </p:sp>
      <p:sp>
        <p:nvSpPr>
          <p:cNvPr id="109" name="Solution 2"/>
          <p:cNvSpPr/>
          <p:nvPr/>
        </p:nvSpPr>
        <p:spPr>
          <a:xfrm>
            <a:off x="6300000" y="2510000"/>
            <a:ext cx="5100000" cy="62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Power BI MCP Server local</a:t>
            </a:r>
          </a:p>
        </p:txBody>
      </p:sp>
      <p:sp>
        <p:nvSpPr>
          <p:cNvPr id="110" name="Lien"/>
          <p:cNvSpPr/>
          <p:nvPr/>
        </p:nvSpPr>
        <p:spPr>
          <a:xfrm>
            <a:off x="1338200" y="3190000"/>
            <a:ext cx="0" cy="210000"/>
          </a:xfrm>
          <a:prstGeom prst="line">
            <a:avLst/>
          </a:prstGeom>
          <a:ln w="19050">
            <a:solidFill>
              <a:srgbClr val="9AA1B1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1" name="Non 2"/>
          <p:cNvSpPr/>
          <p:nvPr/>
        </p:nvSpPr>
        <p:spPr>
          <a:xfrm>
            <a:off x="1398200" y="3200000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Non</a:t>
            </a:r>
          </a:p>
        </p:txBody>
      </p:sp>
      <p:sp>
        <p:nvSpPr>
          <p:cNvPr id="112" name="Question 3"/>
          <p:cNvSpPr/>
          <p:nvPr/>
        </p:nvSpPr>
        <p:spPr>
          <a:xfrm>
            <a:off x="838200" y="3400000"/>
            <a:ext cx="4400000" cy="7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2256A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3 — Analyser un rapport existant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résumer des visuels, expliquer des insights</a:t>
            </a:r>
          </a:p>
        </p:txBody>
      </p:sp>
      <p:sp>
        <p:nvSpPr>
          <p:cNvPr id="113" name="Lien"/>
          <p:cNvSpPr/>
          <p:nvPr/>
        </p:nvSpPr>
        <p:spPr>
          <a:xfrm>
            <a:off x="5238200" y="3770000"/>
            <a:ext cx="1061800" cy="0"/>
          </a:xfrm>
          <a:prstGeom prst="line">
            <a:avLst/>
          </a:prstGeom>
          <a:ln w="19050">
            <a:solidFill>
              <a:srgbClr val="FF7900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4" name="Oui 3"/>
          <p:cNvSpPr/>
          <p:nvPr/>
        </p:nvSpPr>
        <p:spPr>
          <a:xfrm>
            <a:off x="5238200" y="3470000"/>
            <a:ext cx="10618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1" i="0" u="none" strike="noStrike" kern="1200" cap="none" spc="0" normalizeH="0" baseline="0" noProof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Oui</a:t>
            </a:r>
          </a:p>
        </p:txBody>
      </p:sp>
      <p:sp>
        <p:nvSpPr>
          <p:cNvPr id="115" name="Solution 3"/>
          <p:cNvSpPr/>
          <p:nvPr/>
        </p:nvSpPr>
        <p:spPr>
          <a:xfrm>
            <a:off x="6300000" y="3460000"/>
            <a:ext cx="5100000" cy="62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Copilot — compréhension de rapport</a:t>
            </a:r>
          </a:p>
        </p:txBody>
      </p:sp>
      <p:sp>
        <p:nvSpPr>
          <p:cNvPr id="116" name="Lien"/>
          <p:cNvSpPr/>
          <p:nvPr/>
        </p:nvSpPr>
        <p:spPr>
          <a:xfrm>
            <a:off x="1338200" y="4140000"/>
            <a:ext cx="0" cy="210000"/>
          </a:xfrm>
          <a:prstGeom prst="line">
            <a:avLst/>
          </a:prstGeom>
          <a:ln w="19050">
            <a:solidFill>
              <a:srgbClr val="9AA1B1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7" name="Non 3"/>
          <p:cNvSpPr/>
          <p:nvPr/>
        </p:nvSpPr>
        <p:spPr>
          <a:xfrm>
            <a:off x="1398200" y="4150000"/>
            <a:ext cx="9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Non</a:t>
            </a:r>
          </a:p>
        </p:txBody>
      </p:sp>
      <p:sp>
        <p:nvSpPr>
          <p:cNvPr id="118" name="Question 4"/>
          <p:cNvSpPr/>
          <p:nvPr/>
        </p:nvSpPr>
        <p:spPr>
          <a:xfrm>
            <a:off x="838200" y="4350000"/>
            <a:ext cx="4400000" cy="7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2256A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4 — Poser des questions libres sur les données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hors rapport ou multi-sources</a:t>
            </a:r>
          </a:p>
        </p:txBody>
      </p:sp>
      <p:sp>
        <p:nvSpPr>
          <p:cNvPr id="119" name="Lien"/>
          <p:cNvSpPr/>
          <p:nvPr/>
        </p:nvSpPr>
        <p:spPr>
          <a:xfrm>
            <a:off x="5238200" y="4720000"/>
            <a:ext cx="1061800" cy="0"/>
          </a:xfrm>
          <a:prstGeom prst="line">
            <a:avLst/>
          </a:prstGeom>
          <a:ln w="19050">
            <a:solidFill>
              <a:srgbClr val="FF7900"/>
            </a:solidFill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0" name="Oui 4"/>
          <p:cNvSpPr/>
          <p:nvPr/>
        </p:nvSpPr>
        <p:spPr>
          <a:xfrm>
            <a:off x="5238200" y="4420000"/>
            <a:ext cx="1061800" cy="26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1" i="0" u="none" strike="noStrike" kern="1200" cap="none" spc="0" normalizeH="0" baseline="0" noProof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Oui</a:t>
            </a:r>
          </a:p>
        </p:txBody>
      </p:sp>
      <p:sp>
        <p:nvSpPr>
          <p:cNvPr id="121" name="Solution 4"/>
          <p:cNvSpPr/>
          <p:nvPr/>
        </p:nvSpPr>
        <p:spPr>
          <a:xfrm>
            <a:off x="6300000" y="4410000"/>
            <a:ext cx="5100000" cy="62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Fabric Data Agent</a:t>
            </a:r>
          </a:p>
        </p:txBody>
      </p:sp>
      <p:sp>
        <p:nvSpPr>
          <p:cNvPr id="122" name="Variante"/>
          <p:cNvSpPr/>
          <p:nvPr/>
        </p:nvSpPr>
        <p:spPr>
          <a:xfrm>
            <a:off x="6300000" y="5240000"/>
            <a:ext cx="5100000" cy="5400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9050">
            <a:solidFill>
              <a:srgbClr val="12256A"/>
            </a:solidFill>
            <a:prstDash val="dash"/>
          </a:ln>
        </p:spPr>
        <p:txBody>
          <a:bodyPr wrap="square" lIns="182880" tIns="45720" rIns="18288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Variante IDE / intégration agentique : Data Agent exposé en MCP Server</a:t>
            </a:r>
          </a:p>
        </p:txBody>
      </p:sp>
      <p:sp>
        <p:nvSpPr>
          <p:cNvPr id="123" name="Point d’attention"/>
          <p:cNvSpPr/>
          <p:nvPr/>
        </p:nvSpPr>
        <p:spPr>
          <a:xfrm>
            <a:off x="838200" y="5180000"/>
            <a:ext cx="5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45720" rIns="182880" bIns="4572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Point d’attention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>
                <a:ln>
                  <a:noFill/>
                </a:ln>
                <a:solidFill>
                  <a:srgbClr val="6B728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Un Data Agent publié peut exposer un endpoint MCP : fonctionnalité en preview, et les réponses peuvent être traitées selon les politiques du client MCP utilisé.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A33E4B4-6BEA-B1CC-3EF6-6952F7212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685" y="-17358"/>
            <a:ext cx="6086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2F552-8AAE-7CFF-1C68-156059B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Mapping par profil utilisateur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AA710EC9-2E76-0E55-7F70-DA461455B8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3064" y="1244311"/>
          <a:ext cx="11139054" cy="4859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7513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083955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2517513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3020073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52763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Profil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Objectif métier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Solution prioritaire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Pourquoi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Business Analyst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Comprendre un rapport existant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 err="1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Copilot</a:t>
                      </a: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 analyse rapport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Assistant intégré à l’expérience de lecture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Business Analyst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Poser des questions libres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 err="1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Fabric</a:t>
                      </a: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 Data Agent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Q&amp;A gouverné, réutilisable, potentiellement multi-sources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Data Analyst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Créer rapidement une première version de rapport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 err="1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Copilot</a:t>
                      </a: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 création rapports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Accélération de la génération de pages et visuels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Data Analyst avancé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Créer / corriger des mesures, documenter le modèle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MCP Power BI local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Actions sur le modèle sémantique et validation DAX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BI Developer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Refactorer, industrialiser, gérer PBIP / TMDL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MCP Power BI local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Adapté aux workflows de modèle, Git et revue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  <a:tr h="7220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Architecte / Gouvernance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Cadrer l’usage IA, sécurité et cycle de vie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Data Agent + MCP encadré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2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Besoin de principes de gouvernance, permissions, validation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6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4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3843C-C590-7943-37F1-A469F29D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Gouvernance : 3 réflexes pour un usage sûr </a:t>
            </a:r>
            <a:r>
              <a:rPr lang="fr-FR" dirty="0"/>
              <a:t>de </a:t>
            </a:r>
            <a:r>
              <a:rPr lang="fr-FR"/>
              <a:t>l’IA</a:t>
            </a:r>
            <a:endParaRPr lang="fr-FR" dirty="0"/>
          </a:p>
        </p:txBody>
      </p:sp>
      <p:sp>
        <p:nvSpPr>
          <p:cNvPr id="100" name="Card 1"/>
          <p:cNvSpPr txBox="1"/>
          <p:nvPr/>
        </p:nvSpPr>
        <p:spPr>
          <a:xfrm>
            <a:off x="1000000" y="1650000"/>
            <a:ext cx="3197333" cy="40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1" name="Accent 1"/>
          <p:cNvSpPr txBox="1"/>
          <p:nvPr/>
        </p:nvSpPr>
        <p:spPr>
          <a:xfrm>
            <a:off x="1000000" y="1650000"/>
            <a:ext cx="3197333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2" name="Num 1"/>
          <p:cNvSpPr txBox="1"/>
          <p:nvPr/>
        </p:nvSpPr>
        <p:spPr>
          <a:xfrm>
            <a:off x="1260000" y="1880000"/>
            <a:ext cx="900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103" name="Title 1"/>
          <p:cNvSpPr txBox="1"/>
          <p:nvPr/>
        </p:nvSpPr>
        <p:spPr>
          <a:xfrm>
            <a:off x="1260000" y="2300000"/>
            <a:ext cx="2677333" cy="7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Préparer les modèles pour l’IA</a:t>
            </a:r>
          </a:p>
        </p:txBody>
      </p:sp>
      <p:sp>
        <p:nvSpPr>
          <p:cNvPr id="104" name="Bullets 1"/>
          <p:cNvSpPr txBox="1"/>
          <p:nvPr/>
        </p:nvSpPr>
        <p:spPr>
          <a:xfrm>
            <a:off x="1260000" y="3100000"/>
            <a:ext cx="2677333" cy="18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Simplifier le schéma exposé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Utiliser des noms métier clairs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Ajouter descriptions, synonymes et instructions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Créer des réponses vérifiées pour les questions critiques</a:t>
            </a:r>
          </a:p>
        </p:txBody>
      </p:sp>
      <p:sp>
        <p:nvSpPr>
          <p:cNvPr id="105" name="Source 1"/>
          <p:cNvSpPr txBox="1"/>
          <p:nvPr/>
        </p:nvSpPr>
        <p:spPr>
          <a:xfrm>
            <a:off x="1260000" y="4950000"/>
            <a:ext cx="2677333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Fonctionnalités Microsoft : AI data schemas, Verified Answers et AI instructions dans Prep for AI. [learn.microsoft.com]</a:t>
            </a:r>
          </a:p>
        </p:txBody>
      </p:sp>
      <p:sp>
        <p:nvSpPr>
          <p:cNvPr id="106" name="Card 2"/>
          <p:cNvSpPr txBox="1"/>
          <p:nvPr/>
        </p:nvSpPr>
        <p:spPr>
          <a:xfrm>
            <a:off x="4497333" y="1650000"/>
            <a:ext cx="3197333" cy="40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Accent 2"/>
          <p:cNvSpPr txBox="1"/>
          <p:nvPr/>
        </p:nvSpPr>
        <p:spPr>
          <a:xfrm>
            <a:off x="4497333" y="1650000"/>
            <a:ext cx="3197333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8" name="Num 2"/>
          <p:cNvSpPr txBox="1"/>
          <p:nvPr/>
        </p:nvSpPr>
        <p:spPr>
          <a:xfrm>
            <a:off x="4757333" y="1880000"/>
            <a:ext cx="900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109" name="Title 2"/>
          <p:cNvSpPr txBox="1"/>
          <p:nvPr/>
        </p:nvSpPr>
        <p:spPr>
          <a:xfrm>
            <a:off x="4757333" y="2300000"/>
            <a:ext cx="2677333" cy="7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Sécuriser les usages MCP</a:t>
            </a:r>
          </a:p>
        </p:txBody>
      </p:sp>
      <p:sp>
        <p:nvSpPr>
          <p:cNvPr id="110" name="Bullets 2"/>
          <p:cNvSpPr txBox="1"/>
          <p:nvPr/>
        </p:nvSpPr>
        <p:spPr>
          <a:xfrm>
            <a:off x="4757333" y="3100000"/>
            <a:ext cx="2677333" cy="18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Appliquer le least privilege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Sauvegarder avant toute modification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Travailler avec Git / .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pbip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/ TMDL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Exiger une validation humaine des changements</a:t>
            </a:r>
          </a:p>
        </p:txBody>
      </p:sp>
      <p:sp>
        <p:nvSpPr>
          <p:cNvPr id="111" name="Source 2"/>
          <p:cNvSpPr txBox="1"/>
          <p:nvPr/>
        </p:nvSpPr>
        <p:spPr>
          <a:xfrm>
            <a:off x="4757333" y="4950000"/>
            <a:ext cx="2677333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Un client MCP mal configuré peut exécuter des actions destructives selon le RBAC Fabric. [learn.microsoft.com]</a:t>
            </a:r>
          </a:p>
        </p:txBody>
      </p:sp>
      <p:sp>
        <p:nvSpPr>
          <p:cNvPr id="112" name="Card 3"/>
          <p:cNvSpPr txBox="1"/>
          <p:nvPr/>
        </p:nvSpPr>
        <p:spPr>
          <a:xfrm>
            <a:off x="7994666" y="1650000"/>
            <a:ext cx="3197333" cy="40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3" name="Accent 3"/>
          <p:cNvSpPr txBox="1"/>
          <p:nvPr/>
        </p:nvSpPr>
        <p:spPr>
          <a:xfrm>
            <a:off x="7994666" y="1650000"/>
            <a:ext cx="3197333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4" name="Num 3"/>
          <p:cNvSpPr txBox="1"/>
          <p:nvPr/>
        </p:nvSpPr>
        <p:spPr>
          <a:xfrm>
            <a:off x="8254666" y="1880000"/>
            <a:ext cx="900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115" name="Title 3"/>
          <p:cNvSpPr txBox="1"/>
          <p:nvPr/>
        </p:nvSpPr>
        <p:spPr>
          <a:xfrm>
            <a:off x="8254666" y="2300000"/>
            <a:ext cx="2677333" cy="7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Valider les réponses générées</a:t>
            </a:r>
          </a:p>
        </p:txBody>
      </p:sp>
      <p:sp>
        <p:nvSpPr>
          <p:cNvPr id="116" name="Bullets 3"/>
          <p:cNvSpPr txBox="1"/>
          <p:nvPr/>
        </p:nvSpPr>
        <p:spPr>
          <a:xfrm>
            <a:off x="8254666" y="3100000"/>
            <a:ext cx="2677333" cy="18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Vérifier les requêtes DAX / SQL / KQL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Constituer un jeu de questions / réponses de référence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Tester les écarts entre attendu et obtenu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Former les utilisateurs à poser des questions précises</a:t>
            </a:r>
          </a:p>
        </p:txBody>
      </p:sp>
      <p:sp>
        <p:nvSpPr>
          <p:cNvPr id="117" name="Source 3"/>
          <p:cNvSpPr txBox="1"/>
          <p:nvPr/>
        </p:nvSpPr>
        <p:spPr>
          <a:xfrm>
            <a:off x="8254666" y="4950000"/>
            <a:ext cx="2677333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Un contrôle régulier des écarts sécurise l’adoption métier.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2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6114720-C276-9B69-2DD1-947C080AB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49220" y="20742"/>
            <a:ext cx="7133169" cy="471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5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E107EE-80D0-77EA-A25B-D8AD0155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: règle de préconisation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F27B20A-94CC-FD1E-B919-C07D5F5231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5639" y="1276545"/>
          <a:ext cx="11379606" cy="4604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29701">
                  <a:extLst>
                    <a:ext uri="{9D8B030D-6E8A-4147-A177-3AD203B41FA5}">
                      <a16:colId xmlns:a16="http://schemas.microsoft.com/office/drawing/2014/main" val="50000"/>
                    </a:ext>
                  </a:extLst>
                </a:gridCol>
                <a:gridCol w="4949905">
                  <a:extLst>
                    <a:ext uri="{9D8B030D-6E8A-4147-A177-3AD203B41FA5}">
                      <a16:colId xmlns:a16="http://schemas.microsoft.com/office/drawing/2014/main" val="50001"/>
                    </a:ext>
                  </a:extLst>
                </a:gridCol>
              </a:tblGrid>
              <a:tr h="587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Si le besoin est…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FFFFFF"/>
                          </a:solidFill>
                          <a:latin typeface="Segoe UI" pitchFamily="34" charset="0"/>
                        </a:rPr>
                        <a:t>Préconisation</a:t>
                      </a:r>
                    </a:p>
                  </a:txBody>
                  <a:tcPr marL="118872" marR="118872" marT="68580" marB="68580" anchor="ctr"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122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0"/>
                  </a:ext>
                </a:extLst>
              </a:tr>
              <a:tr h="803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 dirty="0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“Aide-moi à produire un rapport”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Copilot création rapports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1"/>
                  </a:ext>
                </a:extLst>
              </a:tr>
              <a:tr h="803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 dirty="0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“Aide-moi à comprendre ce rapport”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 err="1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Copilot</a:t>
                      </a:r>
                      <a:r>
                        <a:rPr lang="fr-FR" sz="14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 analyse rapport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2"/>
                  </a:ext>
                </a:extLst>
              </a:tr>
              <a:tr h="803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“Aide-moi à modifier / documenter / refactorer le modèle”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Power BI MCP Server local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3"/>
                  </a:ext>
                </a:extLst>
              </a:tr>
              <a:tr h="803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“Permets aux métiers de poser des questions libres aux données”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Fabric Data Agent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4"/>
                  </a:ext>
                </a:extLst>
              </a:tr>
              <a:tr h="8035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1">
                          <a:solidFill>
                            <a:srgbClr val="12256A"/>
                          </a:solidFill>
                          <a:latin typeface="Segoe UI" pitchFamily="34" charset="0"/>
                        </a:rPr>
                        <a:t>“Expose cette capacité à un agent ou à un IDE compatible MCP”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3C4255"/>
                          </a:solidFill>
                          <a:latin typeface="Segoe UI" pitchFamily="34" charset="0"/>
                        </a:rPr>
                        <a:t>Data Agent MCP Server ou Power BI MCP selon le besoin</a:t>
                      </a:r>
                    </a:p>
                  </a:txBody>
                  <a:tcPr marL="118872" marR="118872" marT="68580" marB="68580" anchor="ctr">
                    <a:lnT w="12700" cap="flat" cmpd="sng">
                      <a:solidFill>
                        <a:srgbClr val="D8DEE9"/>
                      </a:solidFill>
                    </a:lnT>
                    <a:lnB w="12700" cap="flat" cmpd="sng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5"/>
                  </a:ext>
                </a:extLst>
              </a:tr>
            </a:tbl>
          </a:graphicData>
        </a:graphic>
      </p:graphicFrame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20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4BB3A43-3CD9-62AB-4219-509064EEE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2499" y="-100925"/>
            <a:ext cx="10207002" cy="6633090"/>
          </a:xfrm>
          <a:prstGeom prst="rect">
            <a:avLst/>
          </a:prstGeom>
        </p:spPr>
      </p:pic>
      <p:pic>
        <p:nvPicPr>
          <p:cNvPr id="900" name="Logo Orange Business"/>
          <p:cNvPicPr>
            <a:picLocks noChangeAspect="1"/>
          </p:cNvPicPr>
          <p:nvPr/>
        </p:nvPicPr>
        <p:blipFill>
          <a:blip r:embed="rId4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9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Menaces à traiter : au-delà de la fuite de données</a:t>
            </a:r>
          </a:p>
        </p:txBody>
      </p:sp>
      <p:sp>
        <p:nvSpPr>
          <p:cNvPr id="10" name="Sous-titre"/>
          <p:cNvSpPr txBox="1"/>
          <p:nvPr/>
        </p:nvSpPr>
        <p:spPr>
          <a:xfrm>
            <a:off x="838200" y="1220000"/>
            <a:ext cx="10515600" cy="34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Les contrôles techniques réduisent le risque, mais la qualité des modèles et les usages humains restent déterminants.</a:t>
            </a:r>
          </a:p>
        </p:txBody>
      </p:sp>
      <p:sp>
        <p:nvSpPr>
          <p:cNvPr id="20" name="Card0"/>
          <p:cNvSpPr/>
          <p:nvPr/>
        </p:nvSpPr>
        <p:spPr>
          <a:xfrm>
            <a:off x="838200" y="170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Badge0"/>
          <p:cNvSpPr/>
          <p:nvPr/>
        </p:nvSpPr>
        <p:spPr>
          <a:xfrm>
            <a:off x="1078200" y="194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22" name="T0"/>
          <p:cNvSpPr txBox="1"/>
          <p:nvPr/>
        </p:nvSpPr>
        <p:spPr>
          <a:xfrm>
            <a:off x="1638200" y="198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Sur-partage</a:t>
            </a:r>
          </a:p>
        </p:txBody>
      </p:sp>
      <p:sp>
        <p:nvSpPr>
          <p:cNvPr id="23" name="D0"/>
          <p:cNvSpPr txBox="1"/>
          <p:nvPr/>
        </p:nvSpPr>
        <p:spPr>
          <a:xfrm>
            <a:off x="1078200" y="258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Droits trop larges sur l’agent, la source ou les logs</a:t>
            </a:r>
          </a:p>
        </p:txBody>
      </p:sp>
      <p:sp>
        <p:nvSpPr>
          <p:cNvPr id="24" name="Card1"/>
          <p:cNvSpPr/>
          <p:nvPr/>
        </p:nvSpPr>
        <p:spPr>
          <a:xfrm>
            <a:off x="4426733" y="170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Badge1"/>
          <p:cNvSpPr/>
          <p:nvPr/>
        </p:nvSpPr>
        <p:spPr>
          <a:xfrm>
            <a:off x="4666733" y="194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26" name="T1"/>
          <p:cNvSpPr txBox="1"/>
          <p:nvPr/>
        </p:nvSpPr>
        <p:spPr>
          <a:xfrm>
            <a:off x="5226733" y="198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Prompt injection</a:t>
            </a:r>
          </a:p>
        </p:txBody>
      </p:sp>
      <p:sp>
        <p:nvSpPr>
          <p:cNvPr id="27" name="D1"/>
          <p:cNvSpPr txBox="1"/>
          <p:nvPr/>
        </p:nvSpPr>
        <p:spPr>
          <a:xfrm>
            <a:off x="4666733" y="258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Instructions malveillantes dans le prompt ou le contexte</a:t>
            </a:r>
          </a:p>
        </p:txBody>
      </p:sp>
      <p:sp>
        <p:nvSpPr>
          <p:cNvPr id="28" name="Card2"/>
          <p:cNvSpPr/>
          <p:nvPr/>
        </p:nvSpPr>
        <p:spPr>
          <a:xfrm>
            <a:off x="8015266" y="170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Badge2"/>
          <p:cNvSpPr/>
          <p:nvPr/>
        </p:nvSpPr>
        <p:spPr>
          <a:xfrm>
            <a:off x="8255266" y="194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30" name="T2"/>
          <p:cNvSpPr txBox="1"/>
          <p:nvPr/>
        </p:nvSpPr>
        <p:spPr>
          <a:xfrm>
            <a:off x="8815266" y="198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Hallucination</a:t>
            </a:r>
          </a:p>
        </p:txBody>
      </p:sp>
      <p:sp>
        <p:nvSpPr>
          <p:cNvPr id="31" name="D2"/>
          <p:cNvSpPr txBox="1"/>
          <p:nvPr/>
        </p:nvSpPr>
        <p:spPr>
          <a:xfrm>
            <a:off x="8255266" y="258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Réponse cohérente mais factuellement incorrecte</a:t>
            </a:r>
          </a:p>
        </p:txBody>
      </p:sp>
      <p:sp>
        <p:nvSpPr>
          <p:cNvPr id="32" name="Card3"/>
          <p:cNvSpPr/>
          <p:nvPr/>
        </p:nvSpPr>
        <p:spPr>
          <a:xfrm>
            <a:off x="838200" y="348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Badge3"/>
          <p:cNvSpPr/>
          <p:nvPr/>
        </p:nvSpPr>
        <p:spPr>
          <a:xfrm>
            <a:off x="1078200" y="372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34" name="T3"/>
          <p:cNvSpPr txBox="1"/>
          <p:nvPr/>
        </p:nvSpPr>
        <p:spPr>
          <a:xfrm>
            <a:off x="1638200" y="376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Exfiltration indirecte</a:t>
            </a:r>
          </a:p>
        </p:txBody>
      </p:sp>
      <p:sp>
        <p:nvSpPr>
          <p:cNvPr id="35" name="D3"/>
          <p:cNvSpPr txBox="1"/>
          <p:nvPr/>
        </p:nvSpPr>
        <p:spPr>
          <a:xfrm>
            <a:off x="1078200" y="436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Agrégats, exports ou recoupements révélant une information</a:t>
            </a:r>
          </a:p>
        </p:txBody>
      </p:sp>
      <p:sp>
        <p:nvSpPr>
          <p:cNvPr id="36" name="Card4"/>
          <p:cNvSpPr/>
          <p:nvPr/>
        </p:nvSpPr>
        <p:spPr>
          <a:xfrm>
            <a:off x="4426733" y="348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Badge4"/>
          <p:cNvSpPr/>
          <p:nvPr/>
        </p:nvSpPr>
        <p:spPr>
          <a:xfrm>
            <a:off x="4666733" y="372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38" name="T4"/>
          <p:cNvSpPr txBox="1"/>
          <p:nvPr/>
        </p:nvSpPr>
        <p:spPr>
          <a:xfrm>
            <a:off x="5226733" y="376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Dérive de configuration</a:t>
            </a:r>
          </a:p>
        </p:txBody>
      </p:sp>
      <p:sp>
        <p:nvSpPr>
          <p:cNvPr id="39" name="D4"/>
          <p:cNvSpPr txBox="1"/>
          <p:nvPr/>
        </p:nvSpPr>
        <p:spPr>
          <a:xfrm>
            <a:off x="4666733" y="436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Brouillon, source ou intégration modifiés sans revue</a:t>
            </a:r>
          </a:p>
        </p:txBody>
      </p:sp>
      <p:sp>
        <p:nvSpPr>
          <p:cNvPr id="40" name="Card5"/>
          <p:cNvSpPr/>
          <p:nvPr/>
        </p:nvSpPr>
        <p:spPr>
          <a:xfrm>
            <a:off x="8015266" y="3480000"/>
            <a:ext cx="3338533" cy="15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Badge5"/>
          <p:cNvSpPr/>
          <p:nvPr/>
        </p:nvSpPr>
        <p:spPr>
          <a:xfrm>
            <a:off x="8255266" y="3720000"/>
            <a:ext cx="460000" cy="46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42" name="T5"/>
          <p:cNvSpPr txBox="1"/>
          <p:nvPr/>
        </p:nvSpPr>
        <p:spPr>
          <a:xfrm>
            <a:off x="8815266" y="3760000"/>
            <a:ext cx="2298533" cy="42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Déni de capacité</a:t>
            </a:r>
          </a:p>
        </p:txBody>
      </p:sp>
      <p:sp>
        <p:nvSpPr>
          <p:cNvPr id="43" name="D5"/>
          <p:cNvSpPr txBox="1"/>
          <p:nvPr/>
        </p:nvSpPr>
        <p:spPr>
          <a:xfrm>
            <a:off x="8255266" y="4360000"/>
            <a:ext cx="2858533" cy="48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Concurrence IA et BI entraînant throttling ou rupture</a:t>
            </a:r>
          </a:p>
        </p:txBody>
      </p:sp>
      <p:sp>
        <p:nvSpPr>
          <p:cNvPr id="44" name="Reco"/>
          <p:cNvSpPr/>
          <p:nvPr/>
        </p:nvSpPr>
        <p:spPr>
          <a:xfrm>
            <a:off x="838200" y="5150000"/>
            <a:ext cx="10515600" cy="60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lIns="180000" tIns="0" rIns="18000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Recommandation : combiner prévention, détection, revue humaine et mécanisme de retrait rapide.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Checklist de mise en production sécurisée</a:t>
            </a:r>
          </a:p>
        </p:txBody>
      </p:sp>
      <p:sp>
        <p:nvSpPr>
          <p:cNvPr id="10" name="Sous-titre"/>
          <p:cNvSpPr txBox="1"/>
          <p:nvPr/>
        </p:nvSpPr>
        <p:spPr>
          <a:xfrm>
            <a:off x="838200" y="1220000"/>
            <a:ext cx="10515600" cy="34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Une revue courte, explicite et rejouable avant chaque publication ou changement d’intégration.</a:t>
            </a:r>
          </a:p>
        </p:txBody>
      </p:sp>
      <p:sp>
        <p:nvSpPr>
          <p:cNvPr id="20" name="C0"/>
          <p:cNvSpPr/>
          <p:nvPr/>
        </p:nvSpPr>
        <p:spPr>
          <a:xfrm>
            <a:off x="838200" y="1700000"/>
            <a:ext cx="2441400" cy="3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Bar0"/>
          <p:cNvSpPr/>
          <p:nvPr/>
        </p:nvSpPr>
        <p:spPr>
          <a:xfrm>
            <a:off x="838200" y="1700000"/>
            <a:ext cx="2441400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N0"/>
          <p:cNvSpPr txBox="1"/>
          <p:nvPr/>
        </p:nvSpPr>
        <p:spPr>
          <a:xfrm>
            <a:off x="1078200" y="1950000"/>
            <a:ext cx="9000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3" name="L0"/>
          <p:cNvSpPr txBox="1"/>
          <p:nvPr/>
        </p:nvSpPr>
        <p:spPr>
          <a:xfrm>
            <a:off x="1078200" y="2420000"/>
            <a:ext cx="19614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CADRER</a:t>
            </a:r>
          </a:p>
        </p:txBody>
      </p:sp>
      <p:sp>
        <p:nvSpPr>
          <p:cNvPr id="24" name="B0"/>
          <p:cNvSpPr txBox="1"/>
          <p:nvPr/>
        </p:nvSpPr>
        <p:spPr>
          <a:xfrm>
            <a:off x="1078200" y="2950000"/>
            <a:ext cx="1961400" cy="18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Données autorisées et interdites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Personas et usages ciblés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Frontières géographiques</a:t>
            </a:r>
          </a:p>
        </p:txBody>
      </p:sp>
      <p:sp>
        <p:nvSpPr>
          <p:cNvPr id="25" name="C1"/>
          <p:cNvSpPr/>
          <p:nvPr/>
        </p:nvSpPr>
        <p:spPr>
          <a:xfrm>
            <a:off x="3529600" y="1700000"/>
            <a:ext cx="2441400" cy="3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Bar1"/>
          <p:cNvSpPr/>
          <p:nvPr/>
        </p:nvSpPr>
        <p:spPr>
          <a:xfrm>
            <a:off x="3529600" y="1700000"/>
            <a:ext cx="2441400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N1"/>
          <p:cNvSpPr txBox="1"/>
          <p:nvPr/>
        </p:nvSpPr>
        <p:spPr>
          <a:xfrm>
            <a:off x="3769600" y="1950000"/>
            <a:ext cx="9000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28" name="L1"/>
          <p:cNvSpPr txBox="1"/>
          <p:nvPr/>
        </p:nvSpPr>
        <p:spPr>
          <a:xfrm>
            <a:off x="3769600" y="2420000"/>
            <a:ext cx="19614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CONFIGURER</a:t>
            </a:r>
          </a:p>
        </p:txBody>
      </p:sp>
      <p:sp>
        <p:nvSpPr>
          <p:cNvPr id="29" name="B1"/>
          <p:cNvSpPr txBox="1"/>
          <p:nvPr/>
        </p:nvSpPr>
        <p:spPr>
          <a:xfrm>
            <a:off x="3769600" y="2950000"/>
            <a:ext cx="1961400" cy="18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Groupes Entra ID dédiés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Moindre privilège sur les sources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RLS / OLS / CLS testés</a:t>
            </a:r>
          </a:p>
        </p:txBody>
      </p:sp>
      <p:sp>
        <p:nvSpPr>
          <p:cNvPr id="30" name="C2"/>
          <p:cNvSpPr/>
          <p:nvPr/>
        </p:nvSpPr>
        <p:spPr>
          <a:xfrm>
            <a:off x="6221000" y="1700000"/>
            <a:ext cx="2441400" cy="3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Bar2"/>
          <p:cNvSpPr/>
          <p:nvPr/>
        </p:nvSpPr>
        <p:spPr>
          <a:xfrm>
            <a:off x="6221000" y="1700000"/>
            <a:ext cx="2441400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N2"/>
          <p:cNvSpPr txBox="1"/>
          <p:nvPr/>
        </p:nvSpPr>
        <p:spPr>
          <a:xfrm>
            <a:off x="6461000" y="1950000"/>
            <a:ext cx="9000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33" name="L2"/>
          <p:cNvSpPr txBox="1"/>
          <p:nvPr/>
        </p:nvSpPr>
        <p:spPr>
          <a:xfrm>
            <a:off x="6461000" y="2420000"/>
            <a:ext cx="19614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VALIDER</a:t>
            </a:r>
          </a:p>
        </p:txBody>
      </p:sp>
      <p:sp>
        <p:nvSpPr>
          <p:cNvPr id="34" name="B2"/>
          <p:cNvSpPr txBox="1"/>
          <p:nvPr/>
        </p:nvSpPr>
        <p:spPr>
          <a:xfrm>
            <a:off x="6461000" y="2950000"/>
            <a:ext cx="1961400" cy="18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Jeu de questions et réponses attendues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Tests de non-divulgation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Revue des requêtes générées</a:t>
            </a:r>
          </a:p>
        </p:txBody>
      </p:sp>
      <p:sp>
        <p:nvSpPr>
          <p:cNvPr id="35" name="C3"/>
          <p:cNvSpPr/>
          <p:nvPr/>
        </p:nvSpPr>
        <p:spPr>
          <a:xfrm>
            <a:off x="8912400" y="1700000"/>
            <a:ext cx="2441400" cy="3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Bar3"/>
          <p:cNvSpPr/>
          <p:nvPr/>
        </p:nvSpPr>
        <p:spPr>
          <a:xfrm>
            <a:off x="8912400" y="1700000"/>
            <a:ext cx="2441400" cy="72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N3"/>
          <p:cNvSpPr txBox="1"/>
          <p:nvPr/>
        </p:nvSpPr>
        <p:spPr>
          <a:xfrm>
            <a:off x="9152400" y="1950000"/>
            <a:ext cx="9000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04</a:t>
            </a:r>
          </a:p>
        </p:txBody>
      </p:sp>
      <p:sp>
        <p:nvSpPr>
          <p:cNvPr id="38" name="L3"/>
          <p:cNvSpPr txBox="1"/>
          <p:nvPr/>
        </p:nvSpPr>
        <p:spPr>
          <a:xfrm>
            <a:off x="9152400" y="2420000"/>
            <a:ext cx="1961400" cy="4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EXPLOITER</a:t>
            </a:r>
          </a:p>
        </p:txBody>
      </p:sp>
      <p:sp>
        <p:nvSpPr>
          <p:cNvPr id="39" name="B3"/>
          <p:cNvSpPr txBox="1"/>
          <p:nvPr/>
        </p:nvSpPr>
        <p:spPr>
          <a:xfrm>
            <a:off x="9152400" y="2950000"/>
            <a:ext cx="1961400" cy="1800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Version publiée distincte du brouillon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Audit et alertes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16E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Processus de retrait / rollback</a:t>
            </a:r>
          </a:p>
        </p:txBody>
      </p:sp>
      <p:sp>
        <p:nvSpPr>
          <p:cNvPr id="40" name="GO"/>
          <p:cNvSpPr/>
          <p:nvPr/>
        </p:nvSpPr>
        <p:spPr>
          <a:xfrm>
            <a:off x="838200" y="5150000"/>
            <a:ext cx="10515600" cy="560000"/>
          </a:xfrm>
          <a:prstGeom prst="roundRect">
            <a:avLst>
              <a:gd name="adj" fmla="val 12000"/>
            </a:avLst>
          </a:prstGeom>
          <a:solidFill>
            <a:srgbClr val="12256A"/>
          </a:solidFill>
          <a:ln>
            <a:noFill/>
          </a:ln>
        </p:spPr>
        <p:txBody>
          <a:bodyPr lIns="180000" tIns="0" rIns="18000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GO = valeur métier démontrée + sécurité vérifiée + exploitation prête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À l’image d’un humain, Copilot…</a:t>
            </a:r>
          </a:p>
        </p:txBody>
      </p:sp>
      <p:sp>
        <p:nvSpPr>
          <p:cNvPr id="20" name="Card0"/>
          <p:cNvSpPr/>
          <p:nvPr/>
        </p:nvSpPr>
        <p:spPr>
          <a:xfrm>
            <a:off x="838200" y="178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Bar0"/>
          <p:cNvSpPr/>
          <p:nvPr/>
        </p:nvSpPr>
        <p:spPr>
          <a:xfrm>
            <a:off x="838200" y="178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Num0"/>
          <p:cNvSpPr/>
          <p:nvPr/>
        </p:nvSpPr>
        <p:spPr>
          <a:xfrm>
            <a:off x="1168200" y="207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3" name="M0"/>
          <p:cNvSpPr txBox="1"/>
          <p:nvPr/>
        </p:nvSpPr>
        <p:spPr>
          <a:xfrm>
            <a:off x="1958200" y="2030000"/>
            <a:ext cx="9115600" cy="68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ne peut pas deviner ce que vous ne lui dites pas</a:t>
            </a:r>
          </a:p>
        </p:txBody>
      </p:sp>
      <p:sp>
        <p:nvSpPr>
          <p:cNvPr id="24" name="Card1"/>
          <p:cNvSpPr/>
          <p:nvPr/>
        </p:nvSpPr>
        <p:spPr>
          <a:xfrm>
            <a:off x="838200" y="322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Bar1"/>
          <p:cNvSpPr/>
          <p:nvPr/>
        </p:nvSpPr>
        <p:spPr>
          <a:xfrm>
            <a:off x="838200" y="322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Num1"/>
          <p:cNvSpPr/>
          <p:nvPr/>
        </p:nvSpPr>
        <p:spPr>
          <a:xfrm>
            <a:off x="1168200" y="351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27" name="M1"/>
          <p:cNvSpPr txBox="1"/>
          <p:nvPr/>
        </p:nvSpPr>
        <p:spPr>
          <a:xfrm>
            <a:off x="1958200" y="3470000"/>
            <a:ext cx="9115600" cy="68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interprétera les ambiguïtés et les sous-entendus</a:t>
            </a:r>
          </a:p>
        </p:txBody>
      </p:sp>
      <p:sp>
        <p:nvSpPr>
          <p:cNvPr id="28" name="Card2"/>
          <p:cNvSpPr/>
          <p:nvPr/>
        </p:nvSpPr>
        <p:spPr>
          <a:xfrm>
            <a:off x="838200" y="466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Bar2"/>
          <p:cNvSpPr/>
          <p:nvPr/>
        </p:nvSpPr>
        <p:spPr>
          <a:xfrm>
            <a:off x="838200" y="466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Num2"/>
          <p:cNvSpPr/>
          <p:nvPr/>
        </p:nvSpPr>
        <p:spPr>
          <a:xfrm>
            <a:off x="1168200" y="495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1" name="M2"/>
          <p:cNvSpPr txBox="1"/>
          <p:nvPr/>
        </p:nvSpPr>
        <p:spPr>
          <a:xfrm>
            <a:off x="1958200" y="4910000"/>
            <a:ext cx="9115600" cy="68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est aussi performant que la qualité des informations fournies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2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À l’inverse d’un humain, Copilot…</a:t>
            </a:r>
          </a:p>
        </p:txBody>
      </p:sp>
      <p:sp>
        <p:nvSpPr>
          <p:cNvPr id="20" name="Card0"/>
          <p:cNvSpPr/>
          <p:nvPr/>
        </p:nvSpPr>
        <p:spPr>
          <a:xfrm>
            <a:off x="838200" y="178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Bar0"/>
          <p:cNvSpPr/>
          <p:nvPr/>
        </p:nvSpPr>
        <p:spPr>
          <a:xfrm>
            <a:off x="838200" y="178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Num0"/>
          <p:cNvSpPr/>
          <p:nvPr/>
        </p:nvSpPr>
        <p:spPr>
          <a:xfrm>
            <a:off x="1168200" y="207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3" name="M0"/>
          <p:cNvSpPr txBox="1"/>
          <p:nvPr/>
        </p:nvSpPr>
        <p:spPr>
          <a:xfrm>
            <a:off x="1958200" y="2030000"/>
            <a:ext cx="9115600" cy="68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ne profitera pas de la communication non-verbale</a:t>
            </a:r>
          </a:p>
        </p:txBody>
      </p:sp>
      <p:sp>
        <p:nvSpPr>
          <p:cNvPr id="24" name="Card1"/>
          <p:cNvSpPr/>
          <p:nvPr/>
        </p:nvSpPr>
        <p:spPr>
          <a:xfrm>
            <a:off x="838200" y="322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Bar1"/>
          <p:cNvSpPr/>
          <p:nvPr/>
        </p:nvSpPr>
        <p:spPr>
          <a:xfrm>
            <a:off x="838200" y="322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Num1"/>
          <p:cNvSpPr/>
          <p:nvPr/>
        </p:nvSpPr>
        <p:spPr>
          <a:xfrm>
            <a:off x="1168200" y="351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27" name="M1"/>
          <p:cNvSpPr txBox="1"/>
          <p:nvPr/>
        </p:nvSpPr>
        <p:spPr>
          <a:xfrm>
            <a:off x="1958200" y="3450000"/>
            <a:ext cx="9115600" cy="43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ne vous dira pas [pour l’instant] que votre demande est incomplète</a:t>
            </a:r>
          </a:p>
        </p:txBody>
      </p:sp>
      <p:sp>
        <p:nvSpPr>
          <p:cNvPr id="28" name="N1"/>
          <p:cNvSpPr txBox="1"/>
          <p:nvPr/>
        </p:nvSpPr>
        <p:spPr>
          <a:xfrm>
            <a:off x="1958200" y="3920000"/>
            <a:ext cx="9115600" cy="34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même si la meilleure réponse serait « je n’ai pas assez d’informations »</a:t>
            </a:r>
          </a:p>
        </p:txBody>
      </p:sp>
      <p:sp>
        <p:nvSpPr>
          <p:cNvPr id="29" name="Card2"/>
          <p:cNvSpPr/>
          <p:nvPr/>
        </p:nvSpPr>
        <p:spPr>
          <a:xfrm>
            <a:off x="838200" y="4660000"/>
            <a:ext cx="10515600" cy="11800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8DEE9"/>
            </a:solidFill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Bar2"/>
          <p:cNvSpPr/>
          <p:nvPr/>
        </p:nvSpPr>
        <p:spPr>
          <a:xfrm>
            <a:off x="838200" y="4660000"/>
            <a:ext cx="110000" cy="1180000"/>
          </a:xfrm>
          <a:prstGeom prst="rect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Num2"/>
          <p:cNvSpPr/>
          <p:nvPr/>
        </p:nvSpPr>
        <p:spPr>
          <a:xfrm>
            <a:off x="1168200" y="4950000"/>
            <a:ext cx="600000" cy="600000"/>
          </a:xfrm>
          <a:prstGeom prst="ellipse">
            <a:avLst/>
          </a:prstGeom>
          <a:solidFill>
            <a:srgbClr val="F16E00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2" name="M2"/>
          <p:cNvSpPr txBox="1"/>
          <p:nvPr/>
        </p:nvSpPr>
        <p:spPr>
          <a:xfrm>
            <a:off x="1958200" y="4890000"/>
            <a:ext cx="9115600" cy="43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… fera tout pour vous satisfaire</a:t>
            </a:r>
          </a:p>
        </p:txBody>
      </p:sp>
      <p:sp>
        <p:nvSpPr>
          <p:cNvPr id="33" name="N2"/>
          <p:cNvSpPr txBox="1"/>
          <p:nvPr/>
        </p:nvSpPr>
        <p:spPr>
          <a:xfrm>
            <a:off x="1958200" y="5360000"/>
            <a:ext cx="9115600" cy="340000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srgbClr val="3C4255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c’est-à-dire vous faire consommer de nouveaux tokens</a:t>
            </a:r>
          </a:p>
        </p:txBody>
      </p:sp>
      <p:pic>
        <p:nvPicPr>
          <p:cNvPr id="900" name="Logo Orange Business"/>
          <p:cNvPicPr>
            <a:picLocks noChangeAspect="1"/>
          </p:cNvPicPr>
          <p:nvPr/>
        </p:nvPicPr>
        <p:blipFill>
          <a:blip r:embed="rId2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FA64D-5CCD-3101-F3E2-DE43A8CE10E1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54D186-7564-1221-2A55-4E3EBC473F82}"/>
              </a:ext>
            </a:extLst>
          </p:cNvPr>
          <p:cNvSpPr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 changement de posture : du rapport à la conversation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908100-E92A-F176-2A08-ED81273E1F7D}"/>
              </a:ext>
            </a:extLst>
          </p:cNvPr>
          <p:cNvSpPr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L’utilisateur ne navigue plus seulement dans des visuels, il formule une intention qui déclenche une chaîne de traitement.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ABE66B6-7171-4BB2-D162-23193F4159B9}"/>
              </a:ext>
            </a:extLst>
          </p:cNvPr>
          <p:cNvSpPr/>
          <p:nvPr/>
        </p:nvSpPr>
        <p:spPr>
          <a:xfrm>
            <a:off x="594360" y="1600200"/>
            <a:ext cx="2545080" cy="1737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C3DCC8F-28E9-AFFF-9A86-4FC7E89DBC14}"/>
              </a:ext>
            </a:extLst>
          </p:cNvPr>
          <p:cNvSpPr/>
          <p:nvPr/>
        </p:nvSpPr>
        <p:spPr>
          <a:xfrm>
            <a:off x="594360" y="1600200"/>
            <a:ext cx="73152" cy="1737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60EA3AF-AADE-77D7-0297-013278BE3F6A}"/>
              </a:ext>
            </a:extLst>
          </p:cNvPr>
          <p:cNvSpPr/>
          <p:nvPr/>
        </p:nvSpPr>
        <p:spPr>
          <a:xfrm>
            <a:off x="822960" y="1783080"/>
            <a:ext cx="208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1. Identité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AD02747-1F6F-2AEA-85E2-BF53ECB39CDD}"/>
              </a:ext>
            </a:extLst>
          </p:cNvPr>
          <p:cNvSpPr/>
          <p:nvPr/>
        </p:nvSpPr>
        <p:spPr>
          <a:xfrm>
            <a:off x="822960" y="2286000"/>
            <a:ext cx="2087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L’identité de l’utilisateur doit rester le point d’ancrage de chaque requête.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92A5901-D444-58EF-F3C7-A0AB77E15A2E}"/>
              </a:ext>
            </a:extLst>
          </p:cNvPr>
          <p:cNvSpPr/>
          <p:nvPr/>
        </p:nvSpPr>
        <p:spPr>
          <a:xfrm>
            <a:off x="3413760" y="1600200"/>
            <a:ext cx="2545080" cy="1737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2BC24B4-1735-DD70-105D-4ABF685A6C98}"/>
              </a:ext>
            </a:extLst>
          </p:cNvPr>
          <p:cNvSpPr/>
          <p:nvPr/>
        </p:nvSpPr>
        <p:spPr>
          <a:xfrm>
            <a:off x="3413760" y="1600200"/>
            <a:ext cx="73152" cy="1737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B70ACD0-3C20-AF23-473F-E0AB8D8289C0}"/>
              </a:ext>
            </a:extLst>
          </p:cNvPr>
          <p:cNvSpPr/>
          <p:nvPr/>
        </p:nvSpPr>
        <p:spPr>
          <a:xfrm>
            <a:off x="3642360" y="1783080"/>
            <a:ext cx="208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2. Contexte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F06156-4451-1BF7-6592-FF7255CCBB1B}"/>
              </a:ext>
            </a:extLst>
          </p:cNvPr>
          <p:cNvSpPr/>
          <p:nvPr/>
        </p:nvSpPr>
        <p:spPr>
          <a:xfrm>
            <a:off x="3642360" y="2286000"/>
            <a:ext cx="2087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Prompts, métadonnées, schémas et historique peuvent contenir des informations sensibles.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CE698C5-A09B-0563-0063-D9877C1E6F80}"/>
              </a:ext>
            </a:extLst>
          </p:cNvPr>
          <p:cNvSpPr/>
          <p:nvPr/>
        </p:nvSpPr>
        <p:spPr>
          <a:xfrm>
            <a:off x="6233160" y="1600200"/>
            <a:ext cx="2545080" cy="1737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E69F1AF-E3EF-778E-0618-1D4BF54F1D22}"/>
              </a:ext>
            </a:extLst>
          </p:cNvPr>
          <p:cNvSpPr/>
          <p:nvPr/>
        </p:nvSpPr>
        <p:spPr>
          <a:xfrm>
            <a:off x="6233160" y="1600200"/>
            <a:ext cx="73152" cy="1737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4D5BAA9-5E9B-CD57-E99A-47DF24BD9F11}"/>
              </a:ext>
            </a:extLst>
          </p:cNvPr>
          <p:cNvSpPr/>
          <p:nvPr/>
        </p:nvSpPr>
        <p:spPr>
          <a:xfrm>
            <a:off x="6461760" y="1783080"/>
            <a:ext cx="208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 Exécution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89F4EFA-B453-DAC6-5366-DFCF74385A92}"/>
              </a:ext>
            </a:extLst>
          </p:cNvPr>
          <p:cNvSpPr/>
          <p:nvPr/>
        </p:nvSpPr>
        <p:spPr>
          <a:xfrm>
            <a:off x="6461760" y="2286000"/>
            <a:ext cx="2087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DAX, SQL ou KQL sont générés puis exécutés sur des sources gouvernées.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3307835-68D5-BDF5-99A4-805796494C0B}"/>
              </a:ext>
            </a:extLst>
          </p:cNvPr>
          <p:cNvSpPr/>
          <p:nvPr/>
        </p:nvSpPr>
        <p:spPr>
          <a:xfrm>
            <a:off x="9052560" y="1600200"/>
            <a:ext cx="2545080" cy="1737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D122C55-CD8F-F6B8-6448-0772D500DFB2}"/>
              </a:ext>
            </a:extLst>
          </p:cNvPr>
          <p:cNvSpPr/>
          <p:nvPr/>
        </p:nvSpPr>
        <p:spPr>
          <a:xfrm>
            <a:off x="9052560" y="1600200"/>
            <a:ext cx="73152" cy="1737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BF050D-4AE6-004D-3FFF-458A71862F3C}"/>
              </a:ext>
            </a:extLst>
          </p:cNvPr>
          <p:cNvSpPr/>
          <p:nvPr/>
        </p:nvSpPr>
        <p:spPr>
          <a:xfrm>
            <a:off x="9281160" y="1783080"/>
            <a:ext cx="208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4. Restitution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5AE4EB-25FC-6462-0AB9-D77D3994838F}"/>
              </a:ext>
            </a:extLst>
          </p:cNvPr>
          <p:cNvSpPr/>
          <p:nvPr/>
        </p:nvSpPr>
        <p:spPr>
          <a:xfrm>
            <a:off x="9281160" y="2286000"/>
            <a:ext cx="2087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Une réponse plausible peut être incorrecte, sur-partagée ou mal interprétée.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B734FF5-44BA-EBC9-1562-46A59E8A5BBB}"/>
              </a:ext>
            </a:extLst>
          </p:cNvPr>
          <p:cNvSpPr/>
          <p:nvPr/>
        </p:nvSpPr>
        <p:spPr>
          <a:xfrm>
            <a:off x="594360" y="4114800"/>
            <a:ext cx="1100328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54B95EB-5A50-6C88-C3E2-CFC6002E6364}"/>
              </a:ext>
            </a:extLst>
          </p:cNvPr>
          <p:cNvSpPr/>
          <p:nvPr/>
        </p:nvSpPr>
        <p:spPr>
          <a:xfrm>
            <a:off x="868680" y="4389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Principe directeur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0F6350F-0F28-2098-A9A6-ECCECE898405}"/>
              </a:ext>
            </a:extLst>
          </p:cNvPr>
          <p:cNvSpPr/>
          <p:nvPr/>
        </p:nvSpPr>
        <p:spPr>
          <a:xfrm>
            <a:off x="2423160" y="4297680"/>
            <a:ext cx="800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La sécurité doit suivre le chemin complet : identité → accès → traitement IA → requête → réponse → journalisation.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7B2894C-EDFE-4997-62EB-0AC8A0A6FD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8A94A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85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1A25-15FB-07D7-7D27-5C56411CF36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044425-663D-CD78-66FC-371B8BDFA226}"/>
              </a:ext>
            </a:extLst>
          </p:cNvPr>
          <p:cNvSpPr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Architecture de confiance : les contrôles s’appliquent à chaque couche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8A4289-1DDD-DBD7-5C24-7B2B877EA2C1}"/>
              </a:ext>
            </a:extLst>
          </p:cNvPr>
          <p:cNvSpPr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 modèle génératif n’est qu’un maillon. La sécurité réelle dépend surtout des identités, des sources et des frontières de service.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E35E4A-E5F1-C46B-6827-E37E110DBDE4}"/>
              </a:ext>
            </a:extLst>
          </p:cNvPr>
          <p:cNvSpPr/>
          <p:nvPr/>
        </p:nvSpPr>
        <p:spPr>
          <a:xfrm>
            <a:off x="594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790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150762-D11C-CEDA-AA90-CB2FE02DDE58}"/>
              </a:ext>
            </a:extLst>
          </p:cNvPr>
          <p:cNvSpPr/>
          <p:nvPr/>
        </p:nvSpPr>
        <p:spPr>
          <a:xfrm>
            <a:off x="1252728" y="2240280"/>
            <a:ext cx="512064" cy="512064"/>
          </a:xfrm>
          <a:prstGeom prst="ellipse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D5B263-A410-0819-177C-2A1FA925856C}"/>
              </a:ext>
            </a:extLst>
          </p:cNvPr>
          <p:cNvSpPr/>
          <p:nvPr/>
        </p:nvSpPr>
        <p:spPr>
          <a:xfrm>
            <a:off x="1252728" y="2340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3B1675-A760-A784-109D-8EF0BC0378DC}"/>
              </a:ext>
            </a:extLst>
          </p:cNvPr>
          <p:cNvSpPr/>
          <p:nvPr/>
        </p:nvSpPr>
        <p:spPr>
          <a:xfrm>
            <a:off x="704088" y="29077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Utilisateur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B32CEB-7B1C-B88B-EEFF-749A11F85760}"/>
              </a:ext>
            </a:extLst>
          </p:cNvPr>
          <p:cNvSpPr/>
          <p:nvPr/>
        </p:nvSpPr>
        <p:spPr>
          <a:xfrm>
            <a:off x="70408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Entra ID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Groupes &amp; MFA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5AAB94-33D6-C0EB-E51F-4FF38CD806EB}"/>
              </a:ext>
            </a:extLst>
          </p:cNvPr>
          <p:cNvSpPr/>
          <p:nvPr/>
        </p:nvSpPr>
        <p:spPr>
          <a:xfrm>
            <a:off x="2496312" y="2670048"/>
            <a:ext cx="320040" cy="530352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02C91AF-27BB-6A89-A360-F5BA2537FAA0}"/>
              </a:ext>
            </a:extLst>
          </p:cNvPr>
          <p:cNvSpPr/>
          <p:nvPr/>
        </p:nvSpPr>
        <p:spPr>
          <a:xfrm>
            <a:off x="2880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790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B9F8553-7EC0-174C-0528-8EC32BCE9E1C}"/>
              </a:ext>
            </a:extLst>
          </p:cNvPr>
          <p:cNvSpPr/>
          <p:nvPr/>
        </p:nvSpPr>
        <p:spPr>
          <a:xfrm>
            <a:off x="3538728" y="2240280"/>
            <a:ext cx="512064" cy="512064"/>
          </a:xfrm>
          <a:prstGeom prst="ellipse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A9C708-0FD2-FC50-668F-9F498194F4B5}"/>
              </a:ext>
            </a:extLst>
          </p:cNvPr>
          <p:cNvSpPr/>
          <p:nvPr/>
        </p:nvSpPr>
        <p:spPr>
          <a:xfrm>
            <a:off x="3538728" y="2340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3582F1-6049-13F4-DBA1-FD8A6319A498}"/>
              </a:ext>
            </a:extLst>
          </p:cNvPr>
          <p:cNvSpPr/>
          <p:nvPr/>
        </p:nvSpPr>
        <p:spPr>
          <a:xfrm>
            <a:off x="2990088" y="29077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Expérience IA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C727D4-50E1-2496-D986-685092CB92A0}"/>
              </a:ext>
            </a:extLst>
          </p:cNvPr>
          <p:cNvSpPr/>
          <p:nvPr/>
        </p:nvSpPr>
        <p:spPr>
          <a:xfrm>
            <a:off x="299008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 PBI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Agent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AC890A1-A45A-E739-9102-6FE809C63869}"/>
              </a:ext>
            </a:extLst>
          </p:cNvPr>
          <p:cNvSpPr/>
          <p:nvPr/>
        </p:nvSpPr>
        <p:spPr>
          <a:xfrm>
            <a:off x="4782312" y="2670048"/>
            <a:ext cx="320040" cy="530352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BFDFD24-D64C-B932-7945-749D284C90DC}"/>
              </a:ext>
            </a:extLst>
          </p:cNvPr>
          <p:cNvSpPr/>
          <p:nvPr/>
        </p:nvSpPr>
        <p:spPr>
          <a:xfrm>
            <a:off x="5166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790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097AD88-B5E7-0992-68A8-3934F8C60FB8}"/>
              </a:ext>
            </a:extLst>
          </p:cNvPr>
          <p:cNvSpPr/>
          <p:nvPr/>
        </p:nvSpPr>
        <p:spPr>
          <a:xfrm>
            <a:off x="5824728" y="2240280"/>
            <a:ext cx="512064" cy="512064"/>
          </a:xfrm>
          <a:prstGeom prst="ellipse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B6F6CC3-18BF-676D-6282-83B03A0FC4B6}"/>
              </a:ext>
            </a:extLst>
          </p:cNvPr>
          <p:cNvSpPr/>
          <p:nvPr/>
        </p:nvSpPr>
        <p:spPr>
          <a:xfrm>
            <a:off x="5824728" y="2340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A6EC702-4FC1-0BD1-2D56-AD6EB88CE8BC}"/>
              </a:ext>
            </a:extLst>
          </p:cNvPr>
          <p:cNvSpPr/>
          <p:nvPr/>
        </p:nvSpPr>
        <p:spPr>
          <a:xfrm>
            <a:off x="5276088" y="29077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Orchestrateur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1BE039C-2470-72CE-D9A3-6FDEF4D015A6}"/>
              </a:ext>
            </a:extLst>
          </p:cNvPr>
          <p:cNvSpPr/>
          <p:nvPr/>
        </p:nvSpPr>
        <p:spPr>
          <a:xfrm>
            <a:off x="527608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Sélection source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Génération requête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79FD607-FDD5-DD33-266B-94342B93A0D3}"/>
              </a:ext>
            </a:extLst>
          </p:cNvPr>
          <p:cNvSpPr/>
          <p:nvPr/>
        </p:nvSpPr>
        <p:spPr>
          <a:xfrm>
            <a:off x="7068312" y="2670048"/>
            <a:ext cx="320040" cy="530352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224D63B-EEBB-CE30-B7B1-585FA95B2B40}"/>
              </a:ext>
            </a:extLst>
          </p:cNvPr>
          <p:cNvSpPr/>
          <p:nvPr/>
        </p:nvSpPr>
        <p:spPr>
          <a:xfrm>
            <a:off x="7452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790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2D4B6DA-3A55-EE5E-E909-1718DEA714DA}"/>
              </a:ext>
            </a:extLst>
          </p:cNvPr>
          <p:cNvSpPr/>
          <p:nvPr/>
        </p:nvSpPr>
        <p:spPr>
          <a:xfrm>
            <a:off x="8110728" y="2240280"/>
            <a:ext cx="512064" cy="512064"/>
          </a:xfrm>
          <a:prstGeom prst="ellipse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5B1857-8490-B555-0089-8DE9F5E9BF04}"/>
              </a:ext>
            </a:extLst>
          </p:cNvPr>
          <p:cNvSpPr/>
          <p:nvPr/>
        </p:nvSpPr>
        <p:spPr>
          <a:xfrm>
            <a:off x="8110728" y="2340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DB3F2FF-4690-DDC1-1369-A040F8F90984}"/>
              </a:ext>
            </a:extLst>
          </p:cNvPr>
          <p:cNvSpPr/>
          <p:nvPr/>
        </p:nvSpPr>
        <p:spPr>
          <a:xfrm>
            <a:off x="7562088" y="29077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Source gouvernée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68F245-E898-E394-C95C-EEF26D3AC06D}"/>
              </a:ext>
            </a:extLst>
          </p:cNvPr>
          <p:cNvSpPr/>
          <p:nvPr/>
        </p:nvSpPr>
        <p:spPr>
          <a:xfrm>
            <a:off x="756208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Modèle sémantique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Lakehouse / Warehouse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95C3CA2-5908-DE68-D1E9-862A308AB4F6}"/>
              </a:ext>
            </a:extLst>
          </p:cNvPr>
          <p:cNvSpPr/>
          <p:nvPr/>
        </p:nvSpPr>
        <p:spPr>
          <a:xfrm>
            <a:off x="9354312" y="2670048"/>
            <a:ext cx="320040" cy="530352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642CB99-7647-9E4E-D49A-C703A77AD2AE}"/>
              </a:ext>
            </a:extLst>
          </p:cNvPr>
          <p:cNvSpPr/>
          <p:nvPr/>
        </p:nvSpPr>
        <p:spPr>
          <a:xfrm>
            <a:off x="9738360" y="20116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790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582C924-CFFB-ED27-2D24-1931F765C048}"/>
              </a:ext>
            </a:extLst>
          </p:cNvPr>
          <p:cNvSpPr/>
          <p:nvPr/>
        </p:nvSpPr>
        <p:spPr>
          <a:xfrm>
            <a:off x="10396728" y="2240280"/>
            <a:ext cx="512064" cy="512064"/>
          </a:xfrm>
          <a:prstGeom prst="ellipse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4E2D19F-9746-59FA-DA3E-A42C510F3E42}"/>
              </a:ext>
            </a:extLst>
          </p:cNvPr>
          <p:cNvSpPr/>
          <p:nvPr/>
        </p:nvSpPr>
        <p:spPr>
          <a:xfrm>
            <a:off x="10396728" y="23408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A96E28C-5323-9317-1B0D-27CC31DF6C98}"/>
              </a:ext>
            </a:extLst>
          </p:cNvPr>
          <p:cNvSpPr/>
          <p:nvPr/>
        </p:nvSpPr>
        <p:spPr>
          <a:xfrm>
            <a:off x="9848088" y="29077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Réponse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A00E445-CF03-0C72-0302-77C1B0C0E5F4}"/>
              </a:ext>
            </a:extLst>
          </p:cNvPr>
          <p:cNvSpPr/>
          <p:nvPr/>
        </p:nvSpPr>
        <p:spPr>
          <a:xfrm>
            <a:off x="984808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Texte, visuel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DAX / SQL / KQL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C3FE74E-09D6-DB5B-5B72-A0D844782531}"/>
              </a:ext>
            </a:extLst>
          </p:cNvPr>
          <p:cNvSpPr/>
          <p:nvPr/>
        </p:nvSpPr>
        <p:spPr>
          <a:xfrm>
            <a:off x="713232" y="461772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E94B54F-3CA2-2D7E-B21F-6C8D1A34AF26}"/>
              </a:ext>
            </a:extLst>
          </p:cNvPr>
          <p:cNvSpPr/>
          <p:nvPr/>
        </p:nvSpPr>
        <p:spPr>
          <a:xfrm>
            <a:off x="82296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Authentification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6A2B331-68F7-ADA3-575D-F8C8BBAE71FC}"/>
              </a:ext>
            </a:extLst>
          </p:cNvPr>
          <p:cNvSpPr/>
          <p:nvPr/>
        </p:nvSpPr>
        <p:spPr>
          <a:xfrm>
            <a:off x="822960" y="5029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identité et groupes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38208D2-CEB0-3D47-1C72-39488E4174D1}"/>
              </a:ext>
            </a:extLst>
          </p:cNvPr>
          <p:cNvSpPr/>
          <p:nvPr/>
        </p:nvSpPr>
        <p:spPr>
          <a:xfrm>
            <a:off x="2980944" y="461772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C25AC32-6A4C-78A8-7469-053B6E030D47}"/>
              </a:ext>
            </a:extLst>
          </p:cNvPr>
          <p:cNvSpPr/>
          <p:nvPr/>
        </p:nvSpPr>
        <p:spPr>
          <a:xfrm>
            <a:off x="3090672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Autorisation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C37CA79-C569-0AC0-DE7A-7ECBB28C17CB}"/>
              </a:ext>
            </a:extLst>
          </p:cNvPr>
          <p:cNvSpPr/>
          <p:nvPr/>
        </p:nvSpPr>
        <p:spPr>
          <a:xfrm>
            <a:off x="3090672" y="5029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Read / Build / Write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5A4F2B3-6ADD-6E4D-DAD3-6EAC6234BE68}"/>
              </a:ext>
            </a:extLst>
          </p:cNvPr>
          <p:cNvSpPr/>
          <p:nvPr/>
        </p:nvSpPr>
        <p:spPr>
          <a:xfrm>
            <a:off x="5248656" y="461772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E346483-C750-6CCE-C2DD-2D133AE1673A}"/>
              </a:ext>
            </a:extLst>
          </p:cNvPr>
          <p:cNvSpPr/>
          <p:nvPr/>
        </p:nvSpPr>
        <p:spPr>
          <a:xfrm>
            <a:off x="5358384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Protection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E182D8A-B320-E805-297E-DAC694D18A50}"/>
              </a:ext>
            </a:extLst>
          </p:cNvPr>
          <p:cNvSpPr/>
          <p:nvPr/>
        </p:nvSpPr>
        <p:spPr>
          <a:xfrm>
            <a:off x="5358384" y="5029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RLS / OLS / CLS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0A7D2FA-57D7-102F-2A52-6BCBB1D57062}"/>
              </a:ext>
            </a:extLst>
          </p:cNvPr>
          <p:cNvSpPr/>
          <p:nvPr/>
        </p:nvSpPr>
        <p:spPr>
          <a:xfrm>
            <a:off x="7516368" y="461772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36FF352-5120-46C5-FAB2-FB25BD5386A2}"/>
              </a:ext>
            </a:extLst>
          </p:cNvPr>
          <p:cNvSpPr/>
          <p:nvPr/>
        </p:nvSpPr>
        <p:spPr>
          <a:xfrm>
            <a:off x="7626096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Frontière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0693D60-4819-3539-80D9-616A62EDEFE0}"/>
              </a:ext>
            </a:extLst>
          </p:cNvPr>
          <p:cNvSpPr/>
          <p:nvPr/>
        </p:nvSpPr>
        <p:spPr>
          <a:xfrm>
            <a:off x="7626096" y="5029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région et service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003F6D9-343B-CC4D-56A9-880377CFBB7C}"/>
              </a:ext>
            </a:extLst>
          </p:cNvPr>
          <p:cNvSpPr/>
          <p:nvPr/>
        </p:nvSpPr>
        <p:spPr>
          <a:xfrm>
            <a:off x="9784080" y="461772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E9FEFE1-AF3A-838C-D9EF-C1D8698E1FD7}"/>
              </a:ext>
            </a:extLst>
          </p:cNvPr>
          <p:cNvSpPr/>
          <p:nvPr/>
        </p:nvSpPr>
        <p:spPr>
          <a:xfrm>
            <a:off x="9893808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F58963A-D9EE-FDC5-BBF5-541A58E43DB5}"/>
              </a:ext>
            </a:extLst>
          </p:cNvPr>
          <p:cNvSpPr/>
          <p:nvPr/>
        </p:nvSpPr>
        <p:spPr>
          <a:xfrm>
            <a:off x="9893808" y="5029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 et conformité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4884983-05EE-90DF-9F00-B23D139A77EA}"/>
              </a:ext>
            </a:extLst>
          </p:cNvPr>
          <p:cNvSpPr/>
          <p:nvPr/>
        </p:nvSpPr>
        <p:spPr>
          <a:xfrm>
            <a:off x="1920240" y="5806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 modèle ne doit jamais devenir un contournement de la politique d’accès.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Slide Number Placeholder 0">
            <a:extLst>
              <a:ext uri="{FF2B5EF4-FFF2-40B4-BE49-F238E27FC236}">
                <a16:creationId xmlns:a16="http://schemas.microsoft.com/office/drawing/2014/main" id="{33F681FF-BD21-62E3-E27D-45439C6579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8A94A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73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D5B3B-B377-48C8-EDF0-D30C174E4DEA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32C986-CC62-1E03-3F37-13DA8DBF4884}"/>
              </a:ext>
            </a:extLst>
          </p:cNvPr>
          <p:cNvSpPr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Autorisations : partager l’agent ne suffit pas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088038-39A1-AF91-EC65-06A77802D06F}"/>
              </a:ext>
            </a:extLst>
          </p:cNvPr>
          <p:cNvSpPr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 consommateur doit disposer des droits requis sur l’agent et sur les sources sous-jacentes.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AF0526-2152-212E-5218-A3737C9E84D3}"/>
              </a:ext>
            </a:extLst>
          </p:cNvPr>
          <p:cNvSpPr/>
          <p:nvPr/>
        </p:nvSpPr>
        <p:spPr>
          <a:xfrm>
            <a:off x="594360" y="150876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5CFBD2-83CA-FAAB-A854-2DA342275A76}"/>
              </a:ext>
            </a:extLst>
          </p:cNvPr>
          <p:cNvSpPr/>
          <p:nvPr/>
        </p:nvSpPr>
        <p:spPr>
          <a:xfrm>
            <a:off x="594360" y="1508760"/>
            <a:ext cx="73152" cy="2880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92BD52-2166-C0ED-218B-2D4F36A4C56C}"/>
              </a:ext>
            </a:extLst>
          </p:cNvPr>
          <p:cNvSpPr/>
          <p:nvPr/>
        </p:nvSpPr>
        <p:spPr>
          <a:xfrm>
            <a:off x="8229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 Fabric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2AB6F3-84B1-A6D9-056A-B498285C54C6}"/>
              </a:ext>
            </a:extLst>
          </p:cNvPr>
          <p:cNvSpPr/>
          <p:nvPr/>
        </p:nvSpPr>
        <p:spPr>
          <a:xfrm>
            <a:off x="822960" y="2167128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Accès lecture à la version publiée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Séparer brouillon et publication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Limiter les créateurs et éditeurs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89BBD84-E909-7413-8B8D-87C14229B1CA}"/>
              </a:ext>
            </a:extLst>
          </p:cNvPr>
          <p:cNvSpPr/>
          <p:nvPr/>
        </p:nvSpPr>
        <p:spPr>
          <a:xfrm>
            <a:off x="4133088" y="150876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F7D98C-2B4F-02EC-F18D-235C8D2335E7}"/>
              </a:ext>
            </a:extLst>
          </p:cNvPr>
          <p:cNvSpPr/>
          <p:nvPr/>
        </p:nvSpPr>
        <p:spPr>
          <a:xfrm>
            <a:off x="4133088" y="1508760"/>
            <a:ext cx="73152" cy="2880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AE8B3D-6D6D-B15E-111F-5276AACB540D}"/>
              </a:ext>
            </a:extLst>
          </p:cNvPr>
          <p:cNvSpPr/>
          <p:nvPr/>
        </p:nvSpPr>
        <p:spPr>
          <a:xfrm>
            <a:off x="4361688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Source de données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813B44-59B1-7497-C85B-3223E2E15FE4}"/>
              </a:ext>
            </a:extLst>
          </p:cNvPr>
          <p:cNvSpPr/>
          <p:nvPr/>
        </p:nvSpPr>
        <p:spPr>
          <a:xfrm>
            <a:off x="4361688" y="2167128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Accès explicite aux Lakehouse, Warehouse, KQL DB ou autres sources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Éviter les comptes partagés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B69FFC-5896-DB52-E037-42B82733787B}"/>
              </a:ext>
            </a:extLst>
          </p:cNvPr>
          <p:cNvSpPr/>
          <p:nvPr/>
        </p:nvSpPr>
        <p:spPr>
          <a:xfrm>
            <a:off x="7671816" y="150876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905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5B684F2-5417-D190-B0E2-740B3271733D}"/>
              </a:ext>
            </a:extLst>
          </p:cNvPr>
          <p:cNvSpPr/>
          <p:nvPr/>
        </p:nvSpPr>
        <p:spPr>
          <a:xfrm>
            <a:off x="7671816" y="1508760"/>
            <a:ext cx="73152" cy="2880360"/>
          </a:xfrm>
          <a:prstGeom prst="rect">
            <a:avLst/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E1B5C6-4195-EEBD-CDFE-AB30BC2B203B}"/>
              </a:ext>
            </a:extLst>
          </p:cNvPr>
          <p:cNvSpPr/>
          <p:nvPr/>
        </p:nvSpPr>
        <p:spPr>
          <a:xfrm>
            <a:off x="7900416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Modèle sémantique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F208EF4-54BA-9644-6669-E6EC56CF4390}"/>
              </a:ext>
            </a:extLst>
          </p:cNvPr>
          <p:cNvSpPr/>
          <p:nvPr/>
        </p:nvSpPr>
        <p:spPr>
          <a:xfrm>
            <a:off x="7900416" y="2167128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Read pour interroger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Write pour modifier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Prep for AI réservé aux contributeurs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B74E1E-2571-A3A8-0683-AB060221A6ED}"/>
              </a:ext>
            </a:extLst>
          </p:cNvPr>
          <p:cNvSpPr/>
          <p:nvPr/>
        </p:nvSpPr>
        <p:spPr>
          <a:xfrm>
            <a:off x="594360" y="4754880"/>
            <a:ext cx="10241280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61295F2-13EA-E247-974D-CD68472E4A1C}"/>
              </a:ext>
            </a:extLst>
          </p:cNvPr>
          <p:cNvSpPr/>
          <p:nvPr/>
        </p:nvSpPr>
        <p:spPr>
          <a:xfrm>
            <a:off x="868680" y="5001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Risque classique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B6DBC8-EE73-6A94-F350-F0BEF4370622}"/>
              </a:ext>
            </a:extLst>
          </p:cNvPr>
          <p:cNvSpPr/>
          <p:nvPr/>
        </p:nvSpPr>
        <p:spPr>
          <a:xfrm>
            <a:off x="2240280" y="4901184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 agent partagé à un large public alors que ses sources, ses journaux ou ses environnements de développement sont plus permissifs que prévu.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F4D519E-C0AC-0467-EC2A-83095017BC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8A94A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47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B5BB8-3404-23F4-D5FB-88A4A36BAFD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161B52-0AB3-8842-A11D-97CDC6FB1636}"/>
              </a:ext>
            </a:extLst>
          </p:cNvPr>
          <p:cNvSpPr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Menaces à traiter : au-delà de la fuite de données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02D7AD-5225-2C51-B414-39A30029F547}"/>
              </a:ext>
            </a:extLst>
          </p:cNvPr>
          <p:cNvSpPr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Les contrôles techniques réduisent le risque, mais la qualité des modèles et les usages humains restent déterminants.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CDA786-5BAF-1DE4-E08C-732AEC387C1A}"/>
              </a:ext>
            </a:extLst>
          </p:cNvPr>
          <p:cNvSpPr/>
          <p:nvPr/>
        </p:nvSpPr>
        <p:spPr>
          <a:xfrm>
            <a:off x="594360" y="15087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E24DFC-DA35-1C63-0631-5D82A5070436}"/>
              </a:ext>
            </a:extLst>
          </p:cNvPr>
          <p:cNvSpPr/>
          <p:nvPr/>
        </p:nvSpPr>
        <p:spPr>
          <a:xfrm>
            <a:off x="795528" y="17373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981D56-6C38-8513-88A8-454033386772}"/>
              </a:ext>
            </a:extLst>
          </p:cNvPr>
          <p:cNvSpPr/>
          <p:nvPr/>
        </p:nvSpPr>
        <p:spPr>
          <a:xfrm>
            <a:off x="795528" y="18196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C37A6E-10D8-1377-4804-6513803E908A}"/>
              </a:ext>
            </a:extLst>
          </p:cNvPr>
          <p:cNvSpPr/>
          <p:nvPr/>
        </p:nvSpPr>
        <p:spPr>
          <a:xfrm>
            <a:off x="1435608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Sur-partage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66F726-17B1-F02A-7228-B1B2E1997811}"/>
              </a:ext>
            </a:extLst>
          </p:cNvPr>
          <p:cNvSpPr/>
          <p:nvPr/>
        </p:nvSpPr>
        <p:spPr>
          <a:xfrm>
            <a:off x="1435608" y="21945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Droits trop larges sur l’agent, la source ou les logs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067BA2-A71E-2C74-2390-FFF8F40B625A}"/>
              </a:ext>
            </a:extLst>
          </p:cNvPr>
          <p:cNvSpPr/>
          <p:nvPr/>
        </p:nvSpPr>
        <p:spPr>
          <a:xfrm>
            <a:off x="4416552" y="15087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A764D47-637B-4122-1ABA-7073864508B4}"/>
              </a:ext>
            </a:extLst>
          </p:cNvPr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640A11-E0D7-9DDE-408E-CA2A9D87654F}"/>
              </a:ext>
            </a:extLst>
          </p:cNvPr>
          <p:cNvSpPr/>
          <p:nvPr/>
        </p:nvSpPr>
        <p:spPr>
          <a:xfrm>
            <a:off x="4617720" y="18196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9A985C-7BDB-0B7F-306B-7C3EB4A436BC}"/>
              </a:ext>
            </a:extLst>
          </p:cNvPr>
          <p:cNvSpPr/>
          <p:nvPr/>
        </p:nvSpPr>
        <p:spPr>
          <a:xfrm>
            <a:off x="5257800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Prompt injection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5629F1-5249-2A34-B1B7-12B4AD3FC774}"/>
              </a:ext>
            </a:extLst>
          </p:cNvPr>
          <p:cNvSpPr/>
          <p:nvPr/>
        </p:nvSpPr>
        <p:spPr>
          <a:xfrm>
            <a:off x="5257800" y="21945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Instructions malveillantes dans le prompt ou le contexte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E7F5821-6019-D630-197D-1BC59BF1D5FE}"/>
              </a:ext>
            </a:extLst>
          </p:cNvPr>
          <p:cNvSpPr/>
          <p:nvPr/>
        </p:nvSpPr>
        <p:spPr>
          <a:xfrm>
            <a:off x="8238744" y="15087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E3C8701-83F0-4D9B-849D-93A7466E069C}"/>
              </a:ext>
            </a:extLst>
          </p:cNvPr>
          <p:cNvSpPr/>
          <p:nvPr/>
        </p:nvSpPr>
        <p:spPr>
          <a:xfrm>
            <a:off x="8439912" y="17373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A3A89E-3FF2-AD56-130F-230C3CCB1FF1}"/>
              </a:ext>
            </a:extLst>
          </p:cNvPr>
          <p:cNvSpPr/>
          <p:nvPr/>
        </p:nvSpPr>
        <p:spPr>
          <a:xfrm>
            <a:off x="8439912" y="18196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B3C000A-EE69-A0A7-71F5-D4907A383BDE}"/>
              </a:ext>
            </a:extLst>
          </p:cNvPr>
          <p:cNvSpPr/>
          <p:nvPr/>
        </p:nvSpPr>
        <p:spPr>
          <a:xfrm>
            <a:off x="9079992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Hallucination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828BFD-A547-B55E-F7D3-D1EDFDF187B9}"/>
              </a:ext>
            </a:extLst>
          </p:cNvPr>
          <p:cNvSpPr/>
          <p:nvPr/>
        </p:nvSpPr>
        <p:spPr>
          <a:xfrm>
            <a:off x="9079992" y="21945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Réponse cohérente mais factuellement incorrecte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3D8CD3A-7D80-0F4D-5ACD-5DE339822B50}"/>
              </a:ext>
            </a:extLst>
          </p:cNvPr>
          <p:cNvSpPr/>
          <p:nvPr/>
        </p:nvSpPr>
        <p:spPr>
          <a:xfrm>
            <a:off x="594360" y="35661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A4EE02E-F0A7-796B-0431-AAC6757D0695}"/>
              </a:ext>
            </a:extLst>
          </p:cNvPr>
          <p:cNvSpPr/>
          <p:nvPr/>
        </p:nvSpPr>
        <p:spPr>
          <a:xfrm>
            <a:off x="795528" y="37947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945322-09B7-5A91-90E6-6C6294784963}"/>
              </a:ext>
            </a:extLst>
          </p:cNvPr>
          <p:cNvSpPr/>
          <p:nvPr/>
        </p:nvSpPr>
        <p:spPr>
          <a:xfrm>
            <a:off x="795528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46BE7F7-D160-392B-F7AD-88E01CB41234}"/>
              </a:ext>
            </a:extLst>
          </p:cNvPr>
          <p:cNvSpPr/>
          <p:nvPr/>
        </p:nvSpPr>
        <p:spPr>
          <a:xfrm>
            <a:off x="1435608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Exfiltration indirecte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BD040A7-BBC2-BEE4-4AE8-0928A2707268}"/>
              </a:ext>
            </a:extLst>
          </p:cNvPr>
          <p:cNvSpPr/>
          <p:nvPr/>
        </p:nvSpPr>
        <p:spPr>
          <a:xfrm>
            <a:off x="1435608" y="4251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Agrégats, exports ou recoupements révélant une information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24884AD-031A-72EA-B9C6-26D611179F01}"/>
              </a:ext>
            </a:extLst>
          </p:cNvPr>
          <p:cNvSpPr/>
          <p:nvPr/>
        </p:nvSpPr>
        <p:spPr>
          <a:xfrm>
            <a:off x="4416552" y="35661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17160F2-5DBC-D284-092C-B36AB359E432}"/>
              </a:ext>
            </a:extLst>
          </p:cNvPr>
          <p:cNvSpPr/>
          <p:nvPr/>
        </p:nvSpPr>
        <p:spPr>
          <a:xfrm>
            <a:off x="4617720" y="37947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5D5404B-D3CE-D1DA-C8CF-14771B827D29}"/>
              </a:ext>
            </a:extLst>
          </p:cNvPr>
          <p:cNvSpPr/>
          <p:nvPr/>
        </p:nvSpPr>
        <p:spPr>
          <a:xfrm>
            <a:off x="4617720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93182DE-67AB-05F7-8DA7-E08B6617325B}"/>
              </a:ext>
            </a:extLst>
          </p:cNvPr>
          <p:cNvSpPr/>
          <p:nvPr/>
        </p:nvSpPr>
        <p:spPr>
          <a:xfrm>
            <a:off x="525780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Dérive de configuration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46EDDA6-9C74-B0DB-BF6A-D124E9CE8B4C}"/>
              </a:ext>
            </a:extLst>
          </p:cNvPr>
          <p:cNvSpPr/>
          <p:nvPr/>
        </p:nvSpPr>
        <p:spPr>
          <a:xfrm>
            <a:off x="5257800" y="4251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Brouillon, source ou intégration modifiés sans revue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79583BA-C009-54A1-64A8-AEA84086E85B}"/>
              </a:ext>
            </a:extLst>
          </p:cNvPr>
          <p:cNvSpPr/>
          <p:nvPr/>
        </p:nvSpPr>
        <p:spPr>
          <a:xfrm>
            <a:off x="8238744" y="3566160"/>
            <a:ext cx="3429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532904E-DC37-2334-110E-77367263D896}"/>
              </a:ext>
            </a:extLst>
          </p:cNvPr>
          <p:cNvSpPr/>
          <p:nvPr/>
        </p:nvSpPr>
        <p:spPr>
          <a:xfrm>
            <a:off x="8439912" y="3794760"/>
            <a:ext cx="502920" cy="502920"/>
          </a:xfrm>
          <a:prstGeom prst="ellipse">
            <a:avLst/>
          </a:prstGeom>
          <a:solidFill>
            <a:srgbClr val="FF7900"/>
          </a:solidFill>
          <a:ln w="12700">
            <a:solidFill>
              <a:srgbClr val="4A516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4CD0BEE-4063-23CB-DE40-45970521D13B}"/>
              </a:ext>
            </a:extLst>
          </p:cNvPr>
          <p:cNvSpPr/>
          <p:nvPr/>
        </p:nvSpPr>
        <p:spPr>
          <a:xfrm>
            <a:off x="8439912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!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B7D22A7-D642-90C1-2CAE-C99344D3EDF7}"/>
              </a:ext>
            </a:extLst>
          </p:cNvPr>
          <p:cNvSpPr/>
          <p:nvPr/>
        </p:nvSpPr>
        <p:spPr>
          <a:xfrm>
            <a:off x="9079992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Déni de capacité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06117A1-605C-AE99-3846-5AEC95063D19}"/>
              </a:ext>
            </a:extLst>
          </p:cNvPr>
          <p:cNvSpPr/>
          <p:nvPr/>
        </p:nvSpPr>
        <p:spPr>
          <a:xfrm>
            <a:off x="9079992" y="4251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Concurrence IA et BI entraînant throttling ou rupture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7CFED78-E9E2-47B1-78D9-48F0331D2993}"/>
              </a:ext>
            </a:extLst>
          </p:cNvPr>
          <p:cNvSpPr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Recommandation : combiner prévention, détection, revue humaine et mécanisme de retrait rapide.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id="{DCBF0048-7782-DF12-7CEB-753E1F534A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8A94A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95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EB16-F7AD-F183-6932-8C3E965C62AA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67FAE8-04AE-9CAE-595E-BFD33FCEBB3B}"/>
              </a:ext>
            </a:extLst>
          </p:cNvPr>
          <p:cNvSpPr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Checklist de mise en production sécurisée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EABCCF-1253-9118-BB5A-8FEA5743DEE1}"/>
              </a:ext>
            </a:extLst>
          </p:cNvPr>
          <p:cNvSpPr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Une revue courte, explicite et rejouable avant chaque publication ou changement d’intégration.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EBB2AE-3A88-8E85-A610-C86EE985F865}"/>
              </a:ext>
            </a:extLst>
          </p:cNvPr>
          <p:cNvSpPr/>
          <p:nvPr/>
        </p:nvSpPr>
        <p:spPr>
          <a:xfrm>
            <a:off x="548640" y="1508760"/>
            <a:ext cx="2514600" cy="4251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0B449F-1FCF-120C-D76D-F041B1F438AC}"/>
              </a:ext>
            </a:extLst>
          </p:cNvPr>
          <p:cNvSpPr/>
          <p:nvPr/>
        </p:nvSpPr>
        <p:spPr>
          <a:xfrm>
            <a:off x="713232" y="178308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01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5E96DB-F5A7-4770-A586-CD027D23CA54}"/>
              </a:ext>
            </a:extLst>
          </p:cNvPr>
          <p:cNvSpPr/>
          <p:nvPr/>
        </p:nvSpPr>
        <p:spPr>
          <a:xfrm>
            <a:off x="1298448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CADRER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DFDC72-9442-B63E-0062-AEEEFB4AE0DF}"/>
              </a:ext>
            </a:extLst>
          </p:cNvPr>
          <p:cNvSpPr/>
          <p:nvPr/>
        </p:nvSpPr>
        <p:spPr>
          <a:xfrm>
            <a:off x="804672" y="260604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FF7B62-5955-6515-C25D-F6ECF381E6B0}"/>
              </a:ext>
            </a:extLst>
          </p:cNvPr>
          <p:cNvSpPr/>
          <p:nvPr/>
        </p:nvSpPr>
        <p:spPr>
          <a:xfrm>
            <a:off x="1170432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Données autorisées et interdites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E21F533-F0A1-8518-FC10-73D92862DD16}"/>
              </a:ext>
            </a:extLst>
          </p:cNvPr>
          <p:cNvSpPr/>
          <p:nvPr/>
        </p:nvSpPr>
        <p:spPr>
          <a:xfrm>
            <a:off x="804672" y="3410712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D4FCAA-4D7F-A85D-01DB-D72D66B4AB06}"/>
              </a:ext>
            </a:extLst>
          </p:cNvPr>
          <p:cNvSpPr/>
          <p:nvPr/>
        </p:nvSpPr>
        <p:spPr>
          <a:xfrm>
            <a:off x="1170432" y="3346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Personas et usages ciblés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459012B-DDFA-04A5-59E6-825F3E77FA45}"/>
              </a:ext>
            </a:extLst>
          </p:cNvPr>
          <p:cNvSpPr/>
          <p:nvPr/>
        </p:nvSpPr>
        <p:spPr>
          <a:xfrm>
            <a:off x="804672" y="42153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6DE904C-1F71-2287-9BDA-2E817C7B23B1}"/>
              </a:ext>
            </a:extLst>
          </p:cNvPr>
          <p:cNvSpPr/>
          <p:nvPr/>
        </p:nvSpPr>
        <p:spPr>
          <a:xfrm>
            <a:off x="1170432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Frontières géographiques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EDD3672-8466-ECA9-C6C1-80E195A7F6A1}"/>
              </a:ext>
            </a:extLst>
          </p:cNvPr>
          <p:cNvSpPr/>
          <p:nvPr/>
        </p:nvSpPr>
        <p:spPr>
          <a:xfrm>
            <a:off x="3410712" y="1508760"/>
            <a:ext cx="2514600" cy="4251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043D17-A12A-4AE7-65F6-E3EA30EB30F0}"/>
              </a:ext>
            </a:extLst>
          </p:cNvPr>
          <p:cNvSpPr/>
          <p:nvPr/>
        </p:nvSpPr>
        <p:spPr>
          <a:xfrm>
            <a:off x="3575304" y="178308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02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65E6E9-866B-4A1A-1D0B-C276BFBA83BC}"/>
              </a:ext>
            </a:extLst>
          </p:cNvPr>
          <p:cNvSpPr/>
          <p:nvPr/>
        </p:nvSpPr>
        <p:spPr>
          <a:xfrm>
            <a:off x="416052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CONFIGURER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BB5E140-8A03-6D27-2BDB-7177F4E2EA35}"/>
              </a:ext>
            </a:extLst>
          </p:cNvPr>
          <p:cNvSpPr/>
          <p:nvPr/>
        </p:nvSpPr>
        <p:spPr>
          <a:xfrm>
            <a:off x="3666744" y="260604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337D772-AB85-D4D3-4825-BBF29FC4AB39}"/>
              </a:ext>
            </a:extLst>
          </p:cNvPr>
          <p:cNvSpPr/>
          <p:nvPr/>
        </p:nvSpPr>
        <p:spPr>
          <a:xfrm>
            <a:off x="4032504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Groupes Entra ID dédiés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289BD62-D8EE-B78C-BEB8-F32A671B76F5}"/>
              </a:ext>
            </a:extLst>
          </p:cNvPr>
          <p:cNvSpPr/>
          <p:nvPr/>
        </p:nvSpPr>
        <p:spPr>
          <a:xfrm>
            <a:off x="3666744" y="3410712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04740C-8C6D-561C-5D97-E2AF24FB7E59}"/>
              </a:ext>
            </a:extLst>
          </p:cNvPr>
          <p:cNvSpPr/>
          <p:nvPr/>
        </p:nvSpPr>
        <p:spPr>
          <a:xfrm>
            <a:off x="4032504" y="3346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Moindre privilège sur les sources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A132333-70F1-46E8-7BD5-3E8ED3369A36}"/>
              </a:ext>
            </a:extLst>
          </p:cNvPr>
          <p:cNvSpPr/>
          <p:nvPr/>
        </p:nvSpPr>
        <p:spPr>
          <a:xfrm>
            <a:off x="3666744" y="42153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56F8DF9-7D3B-CACD-8B3A-7583983D5EA7}"/>
              </a:ext>
            </a:extLst>
          </p:cNvPr>
          <p:cNvSpPr/>
          <p:nvPr/>
        </p:nvSpPr>
        <p:spPr>
          <a:xfrm>
            <a:off x="4032504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RLS / OLS / CLS testés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39FB97E-ABEC-F695-71F2-7F4DFB20B057}"/>
              </a:ext>
            </a:extLst>
          </p:cNvPr>
          <p:cNvSpPr/>
          <p:nvPr/>
        </p:nvSpPr>
        <p:spPr>
          <a:xfrm>
            <a:off x="6272784" y="1508760"/>
            <a:ext cx="2514600" cy="4251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E4C26B-2E07-89D7-E1DF-D0FBB71C9F29}"/>
              </a:ext>
            </a:extLst>
          </p:cNvPr>
          <p:cNvSpPr/>
          <p:nvPr/>
        </p:nvSpPr>
        <p:spPr>
          <a:xfrm>
            <a:off x="6437376" y="178308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C0669E7-A6A5-58E4-DD4D-C77DD9572CD5}"/>
              </a:ext>
            </a:extLst>
          </p:cNvPr>
          <p:cNvSpPr/>
          <p:nvPr/>
        </p:nvSpPr>
        <p:spPr>
          <a:xfrm>
            <a:off x="7022592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VALIDER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280729A-74E9-D6BC-48F9-BA857410731B}"/>
              </a:ext>
            </a:extLst>
          </p:cNvPr>
          <p:cNvSpPr/>
          <p:nvPr/>
        </p:nvSpPr>
        <p:spPr>
          <a:xfrm>
            <a:off x="6528816" y="260604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B6E332-1181-9D5D-97FA-09A3A3F37BBE}"/>
              </a:ext>
            </a:extLst>
          </p:cNvPr>
          <p:cNvSpPr/>
          <p:nvPr/>
        </p:nvSpPr>
        <p:spPr>
          <a:xfrm>
            <a:off x="6894576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Jeu de questions et réponses attendues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4F2BC39-EDFE-9693-7A5E-F0EA2A8C227A}"/>
              </a:ext>
            </a:extLst>
          </p:cNvPr>
          <p:cNvSpPr/>
          <p:nvPr/>
        </p:nvSpPr>
        <p:spPr>
          <a:xfrm>
            <a:off x="6528816" y="3410712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511FBC-6009-8A00-98D8-A12EC0D4DC2A}"/>
              </a:ext>
            </a:extLst>
          </p:cNvPr>
          <p:cNvSpPr/>
          <p:nvPr/>
        </p:nvSpPr>
        <p:spPr>
          <a:xfrm>
            <a:off x="6894576" y="3346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Tests de non-divulgation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CCB12CA-947A-B8A6-207B-D5420E03A8CC}"/>
              </a:ext>
            </a:extLst>
          </p:cNvPr>
          <p:cNvSpPr/>
          <p:nvPr/>
        </p:nvSpPr>
        <p:spPr>
          <a:xfrm>
            <a:off x="6528816" y="42153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372ACC6-3D24-0629-D9B4-1D2D18D3761B}"/>
              </a:ext>
            </a:extLst>
          </p:cNvPr>
          <p:cNvSpPr/>
          <p:nvPr/>
        </p:nvSpPr>
        <p:spPr>
          <a:xfrm>
            <a:off x="6894576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Revue des requêtes générées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9E361A5-6F47-E7A9-8336-6CCD27CEA365}"/>
              </a:ext>
            </a:extLst>
          </p:cNvPr>
          <p:cNvSpPr/>
          <p:nvPr/>
        </p:nvSpPr>
        <p:spPr>
          <a:xfrm>
            <a:off x="9134856" y="1508760"/>
            <a:ext cx="2514600" cy="4251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D8DEE9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6BC5C27-D577-89FC-3BBC-3C8F056ACAEA}"/>
              </a:ext>
            </a:extLst>
          </p:cNvPr>
          <p:cNvSpPr/>
          <p:nvPr/>
        </p:nvSpPr>
        <p:spPr>
          <a:xfrm>
            <a:off x="9299448" y="178308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04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034F8AC-E805-81AC-54AA-6BD8292E9818}"/>
              </a:ext>
            </a:extLst>
          </p:cNvPr>
          <p:cNvSpPr/>
          <p:nvPr/>
        </p:nvSpPr>
        <p:spPr>
          <a:xfrm>
            <a:off x="9884664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EXPLOITER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8FAB25D-49BD-6D11-BE80-78A6D25AFB1A}"/>
              </a:ext>
            </a:extLst>
          </p:cNvPr>
          <p:cNvSpPr/>
          <p:nvPr/>
        </p:nvSpPr>
        <p:spPr>
          <a:xfrm>
            <a:off x="9390888" y="260604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9DE465C-B5C4-BD5C-8A64-8A4F997605FD}"/>
              </a:ext>
            </a:extLst>
          </p:cNvPr>
          <p:cNvSpPr/>
          <p:nvPr/>
        </p:nvSpPr>
        <p:spPr>
          <a:xfrm>
            <a:off x="9756648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Version publiée distincte du brouillon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F4A2606-0312-F4AA-A3DC-25A10B8D3B53}"/>
              </a:ext>
            </a:extLst>
          </p:cNvPr>
          <p:cNvSpPr/>
          <p:nvPr/>
        </p:nvSpPr>
        <p:spPr>
          <a:xfrm>
            <a:off x="9390888" y="3410712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F6526EA-4548-F737-133A-FFDBC77D8401}"/>
              </a:ext>
            </a:extLst>
          </p:cNvPr>
          <p:cNvSpPr/>
          <p:nvPr/>
        </p:nvSpPr>
        <p:spPr>
          <a:xfrm>
            <a:off x="9756648" y="3346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 et alertes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A51706E-5E22-19F7-FCE0-337311D2CD0A}"/>
              </a:ext>
            </a:extLst>
          </p:cNvPr>
          <p:cNvSpPr/>
          <p:nvPr/>
        </p:nvSpPr>
        <p:spPr>
          <a:xfrm>
            <a:off x="9390888" y="42153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26D0C24-13EC-895D-C6AF-1B5C52F766B7}"/>
              </a:ext>
            </a:extLst>
          </p:cNvPr>
          <p:cNvSpPr/>
          <p:nvPr/>
        </p:nvSpPr>
        <p:spPr>
          <a:xfrm>
            <a:off x="9756648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Processus de retrait / rollback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E5CCD9B-5288-1151-7C2F-12FF04405401}"/>
              </a:ext>
            </a:extLst>
          </p:cNvPr>
          <p:cNvSpPr/>
          <p:nvPr/>
        </p:nvSpPr>
        <p:spPr>
          <a:xfrm>
            <a:off x="2011680" y="598932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12256A"/>
          </a:solidFill>
          <a:ln w="12700">
            <a:solidFill>
              <a:srgbClr val="1225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8F49D23-8D17-B5CC-D729-29B21C6E5804}"/>
              </a:ext>
            </a:extLst>
          </p:cNvPr>
          <p:cNvSpPr/>
          <p:nvPr/>
        </p:nvSpPr>
        <p:spPr>
          <a:xfrm>
            <a:off x="2194560" y="60899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GO = valeur métier démontrée + sécurité vérifiée + exploitation prête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2" name="Slide Number Placeholder 0">
            <a:extLst>
              <a:ext uri="{FF2B5EF4-FFF2-40B4-BE49-F238E27FC236}">
                <a16:creationId xmlns:a16="http://schemas.microsoft.com/office/drawing/2014/main" id="{F423321D-AC46-53F9-6EE5-6B4B40F809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8A94A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/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14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5757-1D24-9D29-3C03-B3D854EFAB2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80BD9-FF26-C413-893C-E0926ABD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Arbre de valeur : relier les fonctionnalités aux résultats métier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A9BEBC-7FDE-0D1D-7DE4-C0E19726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buNone/>
            </a:pPr>
            <a:r>
              <a:rPr lang="fr-FR" sz="1400" dirty="0">
                <a:latin typeface="Segoe UI"/>
              </a:rPr>
              <a:t>Chaque argument commercial doit être associé à un </a:t>
            </a:r>
            <a:r>
              <a:rPr lang="fr-FR" sz="1400" b="1" dirty="0">
                <a:latin typeface="Segoe UI"/>
              </a:rPr>
              <a:t>comportement mesurable</a:t>
            </a:r>
            <a:r>
              <a:rPr lang="fr-FR" sz="1400" dirty="0">
                <a:latin typeface="Segoe UI"/>
              </a:rPr>
              <a:t> et à un </a:t>
            </a:r>
            <a:r>
              <a:rPr lang="fr-FR" sz="1400" b="1" dirty="0">
                <a:latin typeface="Segoe UI"/>
              </a:rPr>
              <a:t>résultat économique</a:t>
            </a:r>
            <a:r>
              <a:rPr lang="fr-FR" sz="1400" dirty="0">
                <a:latin typeface="Segoe UI"/>
              </a:rPr>
              <a:t>.</a:t>
            </a:r>
          </a:p>
        </p:txBody>
      </p:sp>
      <p:sp>
        <p:nvSpPr>
          <p:cNvPr id="10" name="En-tete 1">
            <a:extLst>
              <a:ext uri="{FF2B5EF4-FFF2-40B4-BE49-F238E27FC236}">
                <a16:creationId xmlns:a16="http://schemas.microsoft.com/office/drawing/2014/main" id="{44C3D645-BF50-58E3-5445-69A95DBE4B45}"/>
              </a:ext>
            </a:extLst>
          </p:cNvPr>
          <p:cNvSpPr/>
          <p:nvPr/>
        </p:nvSpPr>
        <p:spPr>
          <a:xfrm>
            <a:off x="838200" y="2400000"/>
            <a:ext cx="243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CAPACITÉ IA</a:t>
            </a:r>
          </a:p>
        </p:txBody>
      </p:sp>
      <p:sp>
        <p:nvSpPr>
          <p:cNvPr id="11" name="En-tete 2">
            <a:extLst>
              <a:ext uri="{FF2B5EF4-FFF2-40B4-BE49-F238E27FC236}">
                <a16:creationId xmlns:a16="http://schemas.microsoft.com/office/drawing/2014/main" id="{89DA3145-1F9C-4766-8C5A-28DBAA505C82}"/>
              </a:ext>
            </a:extLst>
          </p:cNvPr>
          <p:cNvSpPr/>
          <p:nvPr/>
        </p:nvSpPr>
        <p:spPr>
          <a:xfrm>
            <a:off x="3533400" y="2400000"/>
            <a:ext cx="243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COMPORTEMENT</a:t>
            </a:r>
          </a:p>
        </p:txBody>
      </p:sp>
      <p:sp>
        <p:nvSpPr>
          <p:cNvPr id="12" name="En-tete 3">
            <a:extLst>
              <a:ext uri="{FF2B5EF4-FFF2-40B4-BE49-F238E27FC236}">
                <a16:creationId xmlns:a16="http://schemas.microsoft.com/office/drawing/2014/main" id="{560DC7D7-4876-8C40-74B4-85D627BAA0E0}"/>
              </a:ext>
            </a:extLst>
          </p:cNvPr>
          <p:cNvSpPr/>
          <p:nvPr/>
        </p:nvSpPr>
        <p:spPr>
          <a:xfrm>
            <a:off x="6228600" y="2400000"/>
            <a:ext cx="243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RÉSULTAT</a:t>
            </a:r>
          </a:p>
        </p:txBody>
      </p:sp>
      <p:sp>
        <p:nvSpPr>
          <p:cNvPr id="13" name="En-tete 4">
            <a:extLst>
              <a:ext uri="{FF2B5EF4-FFF2-40B4-BE49-F238E27FC236}">
                <a16:creationId xmlns:a16="http://schemas.microsoft.com/office/drawing/2014/main" id="{73678BA0-9F03-0EA5-E683-A9EF99E9F68A}"/>
              </a:ext>
            </a:extLst>
          </p:cNvPr>
          <p:cNvSpPr/>
          <p:nvPr/>
        </p:nvSpPr>
        <p:spPr>
          <a:xfrm>
            <a:off x="8923800" y="2400000"/>
            <a:ext cx="243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VALEUR</a:t>
            </a:r>
          </a:p>
        </p:txBody>
      </p:sp>
      <p:sp>
        <p:nvSpPr>
          <p:cNvPr id="100" name="Cellule R1C1">
            <a:extLst>
              <a:ext uri="{FF2B5EF4-FFF2-40B4-BE49-F238E27FC236}">
                <a16:creationId xmlns:a16="http://schemas.microsoft.com/office/drawing/2014/main" id="{AB15531E-9961-18FE-D2F0-5B44FCF58EFE}"/>
              </a:ext>
            </a:extLst>
          </p:cNvPr>
          <p:cNvSpPr/>
          <p:nvPr/>
        </p:nvSpPr>
        <p:spPr>
          <a:xfrm>
            <a:off x="838200" y="275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Conversation sur les données</a:t>
            </a:r>
          </a:p>
        </p:txBody>
      </p:sp>
      <p:sp>
        <p:nvSpPr>
          <p:cNvPr id="101" name="Cellule R1C2">
            <a:extLst>
              <a:ext uri="{FF2B5EF4-FFF2-40B4-BE49-F238E27FC236}">
                <a16:creationId xmlns:a16="http://schemas.microsoft.com/office/drawing/2014/main" id="{ACCA61C2-0C91-B057-B017-CF44E824891E}"/>
              </a:ext>
            </a:extLst>
          </p:cNvPr>
          <p:cNvSpPr/>
          <p:nvPr/>
        </p:nvSpPr>
        <p:spPr>
          <a:xfrm>
            <a:off x="3533400" y="275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Questions traitées sans analyste</a:t>
            </a:r>
          </a:p>
        </p:txBody>
      </p:sp>
      <p:sp>
        <p:nvSpPr>
          <p:cNvPr id="102" name="Cellule R1C3">
            <a:extLst>
              <a:ext uri="{FF2B5EF4-FFF2-40B4-BE49-F238E27FC236}">
                <a16:creationId xmlns:a16="http://schemas.microsoft.com/office/drawing/2014/main" id="{E99F4F82-EB10-A10E-C84C-604166892B8C}"/>
              </a:ext>
            </a:extLst>
          </p:cNvPr>
          <p:cNvSpPr/>
          <p:nvPr/>
        </p:nvSpPr>
        <p:spPr>
          <a:xfrm>
            <a:off x="6228600" y="275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Moins de tickets et d’attente</a:t>
            </a:r>
          </a:p>
        </p:txBody>
      </p:sp>
      <p:sp>
        <p:nvSpPr>
          <p:cNvPr id="103" name="Cellule R1C4">
            <a:extLst>
              <a:ext uri="{FF2B5EF4-FFF2-40B4-BE49-F238E27FC236}">
                <a16:creationId xmlns:a16="http://schemas.microsoft.com/office/drawing/2014/main" id="{D31F5E31-7EA6-91BC-09E6-EEE6ABF224E0}"/>
              </a:ext>
            </a:extLst>
          </p:cNvPr>
          <p:cNvSpPr/>
          <p:nvPr/>
        </p:nvSpPr>
        <p:spPr>
          <a:xfrm>
            <a:off x="8923800" y="275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Coût évité + décision accélérée</a:t>
            </a:r>
          </a:p>
        </p:txBody>
      </p:sp>
      <p:sp>
        <p:nvSpPr>
          <p:cNvPr id="110" name="Cellule R2C1">
            <a:extLst>
              <a:ext uri="{FF2B5EF4-FFF2-40B4-BE49-F238E27FC236}">
                <a16:creationId xmlns:a16="http://schemas.microsoft.com/office/drawing/2014/main" id="{201BD72B-5983-023E-58ED-C7F71FE9D70C}"/>
              </a:ext>
            </a:extLst>
          </p:cNvPr>
          <p:cNvSpPr/>
          <p:nvPr/>
        </p:nvSpPr>
        <p:spPr>
          <a:xfrm>
            <a:off x="838200" y="352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Création de rapports / DAX</a:t>
            </a:r>
          </a:p>
        </p:txBody>
      </p:sp>
      <p:sp>
        <p:nvSpPr>
          <p:cNvPr id="111" name="Cellule R2C2">
            <a:extLst>
              <a:ext uri="{FF2B5EF4-FFF2-40B4-BE49-F238E27FC236}">
                <a16:creationId xmlns:a16="http://schemas.microsoft.com/office/drawing/2014/main" id="{EA8AC989-83DC-0662-A0E3-8AC5D94F7EF5}"/>
              </a:ext>
            </a:extLst>
          </p:cNvPr>
          <p:cNvSpPr/>
          <p:nvPr/>
        </p:nvSpPr>
        <p:spPr>
          <a:xfrm>
            <a:off x="3533400" y="352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Temps de première version</a:t>
            </a:r>
          </a:p>
        </p:txBody>
      </p:sp>
      <p:sp>
        <p:nvSpPr>
          <p:cNvPr id="112" name="Cellule R2C3">
            <a:extLst>
              <a:ext uri="{FF2B5EF4-FFF2-40B4-BE49-F238E27FC236}">
                <a16:creationId xmlns:a16="http://schemas.microsoft.com/office/drawing/2014/main" id="{FA19EE42-F684-8851-64EE-EC7FA3697D57}"/>
              </a:ext>
            </a:extLst>
          </p:cNvPr>
          <p:cNvSpPr/>
          <p:nvPr/>
        </p:nvSpPr>
        <p:spPr>
          <a:xfrm>
            <a:off x="6228600" y="352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Cycle de livraison raccourci</a:t>
            </a:r>
          </a:p>
        </p:txBody>
      </p:sp>
      <p:sp>
        <p:nvSpPr>
          <p:cNvPr id="113" name="Cellule R2C4">
            <a:extLst>
              <a:ext uri="{FF2B5EF4-FFF2-40B4-BE49-F238E27FC236}">
                <a16:creationId xmlns:a16="http://schemas.microsoft.com/office/drawing/2014/main" id="{D0646017-C0F5-3792-9275-BBD66CF3F7DD}"/>
              </a:ext>
            </a:extLst>
          </p:cNvPr>
          <p:cNvSpPr/>
          <p:nvPr/>
        </p:nvSpPr>
        <p:spPr>
          <a:xfrm>
            <a:off x="8923800" y="352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Capacité de delivery accrue</a:t>
            </a:r>
          </a:p>
        </p:txBody>
      </p:sp>
      <p:sp>
        <p:nvSpPr>
          <p:cNvPr id="120" name="Cellule R3C1">
            <a:extLst>
              <a:ext uri="{FF2B5EF4-FFF2-40B4-BE49-F238E27FC236}">
                <a16:creationId xmlns:a16="http://schemas.microsoft.com/office/drawing/2014/main" id="{0FDEBE58-6DE1-C077-7F46-1673EFFEA711}"/>
              </a:ext>
            </a:extLst>
          </p:cNvPr>
          <p:cNvSpPr/>
          <p:nvPr/>
        </p:nvSpPr>
        <p:spPr>
          <a:xfrm>
            <a:off x="838200" y="429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Résumé et exploration</a:t>
            </a:r>
          </a:p>
        </p:txBody>
      </p:sp>
      <p:sp>
        <p:nvSpPr>
          <p:cNvPr id="121" name="Cellule R3C2">
            <a:extLst>
              <a:ext uri="{FF2B5EF4-FFF2-40B4-BE49-F238E27FC236}">
                <a16:creationId xmlns:a16="http://schemas.microsoft.com/office/drawing/2014/main" id="{3FCE3155-D8E5-D1A7-F7E3-A1A18B36C54B}"/>
              </a:ext>
            </a:extLst>
          </p:cNvPr>
          <p:cNvSpPr/>
          <p:nvPr/>
        </p:nvSpPr>
        <p:spPr>
          <a:xfrm>
            <a:off x="3533400" y="429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Temps de recherche et d’analyse</a:t>
            </a:r>
          </a:p>
        </p:txBody>
      </p:sp>
      <p:sp>
        <p:nvSpPr>
          <p:cNvPr id="122" name="Cellule R3C3">
            <a:extLst>
              <a:ext uri="{FF2B5EF4-FFF2-40B4-BE49-F238E27FC236}">
                <a16:creationId xmlns:a16="http://schemas.microsoft.com/office/drawing/2014/main" id="{C5DA92EB-7869-0E5B-9DB0-1808622BAF30}"/>
              </a:ext>
            </a:extLst>
          </p:cNvPr>
          <p:cNvSpPr/>
          <p:nvPr/>
        </p:nvSpPr>
        <p:spPr>
          <a:xfrm>
            <a:off x="6228600" y="429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Plus de décisions documentées</a:t>
            </a:r>
          </a:p>
        </p:txBody>
      </p:sp>
      <p:sp>
        <p:nvSpPr>
          <p:cNvPr id="123" name="Cellule R3C4">
            <a:extLst>
              <a:ext uri="{FF2B5EF4-FFF2-40B4-BE49-F238E27FC236}">
                <a16:creationId xmlns:a16="http://schemas.microsoft.com/office/drawing/2014/main" id="{C8675487-1500-2EF2-B460-0D508684E837}"/>
              </a:ext>
            </a:extLst>
          </p:cNvPr>
          <p:cNvSpPr/>
          <p:nvPr/>
        </p:nvSpPr>
        <p:spPr>
          <a:xfrm>
            <a:off x="8923800" y="429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Temps réalloué aux actions</a:t>
            </a:r>
          </a:p>
        </p:txBody>
      </p:sp>
      <p:sp>
        <p:nvSpPr>
          <p:cNvPr id="130" name="Cellule R4C1">
            <a:extLst>
              <a:ext uri="{FF2B5EF4-FFF2-40B4-BE49-F238E27FC236}">
                <a16:creationId xmlns:a16="http://schemas.microsoft.com/office/drawing/2014/main" id="{B131D927-9D9A-1F1B-F855-7C74D04A6A51}"/>
              </a:ext>
            </a:extLst>
          </p:cNvPr>
          <p:cNvSpPr/>
          <p:nvPr/>
        </p:nvSpPr>
        <p:spPr>
          <a:xfrm>
            <a:off x="838200" y="506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Grounding sémantique</a:t>
            </a:r>
          </a:p>
        </p:txBody>
      </p:sp>
      <p:sp>
        <p:nvSpPr>
          <p:cNvPr id="131" name="Cellule R4C2">
            <a:extLst>
              <a:ext uri="{FF2B5EF4-FFF2-40B4-BE49-F238E27FC236}">
                <a16:creationId xmlns:a16="http://schemas.microsoft.com/office/drawing/2014/main" id="{FD488F5F-C279-707F-0EA8-1B8E805F1925}"/>
              </a:ext>
            </a:extLst>
          </p:cNvPr>
          <p:cNvSpPr/>
          <p:nvPr/>
        </p:nvSpPr>
        <p:spPr>
          <a:xfrm>
            <a:off x="3533400" y="506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Taux de réponses correctes</a:t>
            </a:r>
          </a:p>
        </p:txBody>
      </p:sp>
      <p:sp>
        <p:nvSpPr>
          <p:cNvPr id="132" name="Cellule R4C3">
            <a:extLst>
              <a:ext uri="{FF2B5EF4-FFF2-40B4-BE49-F238E27FC236}">
                <a16:creationId xmlns:a16="http://schemas.microsoft.com/office/drawing/2014/main" id="{60BD18BA-4430-4FDE-7FB1-04FD8DFA0A25}"/>
              </a:ext>
            </a:extLst>
          </p:cNvPr>
          <p:cNvSpPr/>
          <p:nvPr/>
        </p:nvSpPr>
        <p:spPr>
          <a:xfrm>
            <a:off x="6228600" y="506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Moins de reprises et de risques</a:t>
            </a:r>
          </a:p>
        </p:txBody>
      </p:sp>
      <p:sp>
        <p:nvSpPr>
          <p:cNvPr id="133" name="Cellule R4C4">
            <a:extLst>
              <a:ext uri="{FF2B5EF4-FFF2-40B4-BE49-F238E27FC236}">
                <a16:creationId xmlns:a16="http://schemas.microsoft.com/office/drawing/2014/main" id="{5C616642-B333-F447-B7C5-EFA85E827060}"/>
              </a:ext>
            </a:extLst>
          </p:cNvPr>
          <p:cNvSpPr/>
          <p:nvPr/>
        </p:nvSpPr>
        <p:spPr>
          <a:xfrm>
            <a:off x="8923800" y="5060000"/>
            <a:ext cx="2430000" cy="64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  <a:prstDash val="solid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Coût de non-qualité réduit</a:t>
            </a:r>
          </a:p>
        </p:txBody>
      </p:sp>
      <p:sp>
        <p:nvSpPr>
          <p:cNvPr id="200" name="Fleche R1G1">
            <a:extLst>
              <a:ext uri="{FF2B5EF4-FFF2-40B4-BE49-F238E27FC236}">
                <a16:creationId xmlns:a16="http://schemas.microsoft.com/office/drawing/2014/main" id="{2F19A643-9195-11BE-0E4C-0D2B7BA70D2D}"/>
              </a:ext>
            </a:extLst>
          </p:cNvPr>
          <p:cNvSpPr/>
          <p:nvPr/>
        </p:nvSpPr>
        <p:spPr>
          <a:xfrm>
            <a:off x="3310800" y="300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Fleche R1G2">
            <a:extLst>
              <a:ext uri="{FF2B5EF4-FFF2-40B4-BE49-F238E27FC236}">
                <a16:creationId xmlns:a16="http://schemas.microsoft.com/office/drawing/2014/main" id="{F0E73A82-9592-899F-D813-08F857A4CD98}"/>
              </a:ext>
            </a:extLst>
          </p:cNvPr>
          <p:cNvSpPr/>
          <p:nvPr/>
        </p:nvSpPr>
        <p:spPr>
          <a:xfrm>
            <a:off x="6006000" y="300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Fleche R1G3">
            <a:extLst>
              <a:ext uri="{FF2B5EF4-FFF2-40B4-BE49-F238E27FC236}">
                <a16:creationId xmlns:a16="http://schemas.microsoft.com/office/drawing/2014/main" id="{B06332DC-A34F-F59D-A4A0-37E0F7D42FF7}"/>
              </a:ext>
            </a:extLst>
          </p:cNvPr>
          <p:cNvSpPr/>
          <p:nvPr/>
        </p:nvSpPr>
        <p:spPr>
          <a:xfrm>
            <a:off x="8701200" y="300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" name="Fleche R2G1">
            <a:extLst>
              <a:ext uri="{FF2B5EF4-FFF2-40B4-BE49-F238E27FC236}">
                <a16:creationId xmlns:a16="http://schemas.microsoft.com/office/drawing/2014/main" id="{166326D5-9F6E-9270-3E25-598E8E544482}"/>
              </a:ext>
            </a:extLst>
          </p:cNvPr>
          <p:cNvSpPr/>
          <p:nvPr/>
        </p:nvSpPr>
        <p:spPr>
          <a:xfrm>
            <a:off x="3310800" y="377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" name="Fleche R2G2">
            <a:extLst>
              <a:ext uri="{FF2B5EF4-FFF2-40B4-BE49-F238E27FC236}">
                <a16:creationId xmlns:a16="http://schemas.microsoft.com/office/drawing/2014/main" id="{B01BFF03-C659-793B-A71A-3A082DAF208D}"/>
              </a:ext>
            </a:extLst>
          </p:cNvPr>
          <p:cNvSpPr/>
          <p:nvPr/>
        </p:nvSpPr>
        <p:spPr>
          <a:xfrm>
            <a:off x="6006000" y="377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" name="Fleche R2G3">
            <a:extLst>
              <a:ext uri="{FF2B5EF4-FFF2-40B4-BE49-F238E27FC236}">
                <a16:creationId xmlns:a16="http://schemas.microsoft.com/office/drawing/2014/main" id="{5D0660DC-47B4-DE37-5A3A-3B48052B225A}"/>
              </a:ext>
            </a:extLst>
          </p:cNvPr>
          <p:cNvSpPr/>
          <p:nvPr/>
        </p:nvSpPr>
        <p:spPr>
          <a:xfrm>
            <a:off x="8701200" y="377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0" name="Fleche R3G1">
            <a:extLst>
              <a:ext uri="{FF2B5EF4-FFF2-40B4-BE49-F238E27FC236}">
                <a16:creationId xmlns:a16="http://schemas.microsoft.com/office/drawing/2014/main" id="{879E34DD-322E-764F-34EF-345600B5047D}"/>
              </a:ext>
            </a:extLst>
          </p:cNvPr>
          <p:cNvSpPr/>
          <p:nvPr/>
        </p:nvSpPr>
        <p:spPr>
          <a:xfrm>
            <a:off x="3310800" y="454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1" name="Fleche R3G2">
            <a:extLst>
              <a:ext uri="{FF2B5EF4-FFF2-40B4-BE49-F238E27FC236}">
                <a16:creationId xmlns:a16="http://schemas.microsoft.com/office/drawing/2014/main" id="{28834CF8-51E6-7C44-5D16-12036C832557}"/>
              </a:ext>
            </a:extLst>
          </p:cNvPr>
          <p:cNvSpPr/>
          <p:nvPr/>
        </p:nvSpPr>
        <p:spPr>
          <a:xfrm>
            <a:off x="6006000" y="454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2" name="Fleche R3G3">
            <a:extLst>
              <a:ext uri="{FF2B5EF4-FFF2-40B4-BE49-F238E27FC236}">
                <a16:creationId xmlns:a16="http://schemas.microsoft.com/office/drawing/2014/main" id="{0764A3E7-232A-5224-DCD7-E8D129D127BF}"/>
              </a:ext>
            </a:extLst>
          </p:cNvPr>
          <p:cNvSpPr/>
          <p:nvPr/>
        </p:nvSpPr>
        <p:spPr>
          <a:xfrm>
            <a:off x="8701200" y="454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leche R4G1">
            <a:extLst>
              <a:ext uri="{FF2B5EF4-FFF2-40B4-BE49-F238E27FC236}">
                <a16:creationId xmlns:a16="http://schemas.microsoft.com/office/drawing/2014/main" id="{87B6401C-321C-5414-E8F6-5857BCC4BBB2}"/>
              </a:ext>
            </a:extLst>
          </p:cNvPr>
          <p:cNvSpPr/>
          <p:nvPr/>
        </p:nvSpPr>
        <p:spPr>
          <a:xfrm>
            <a:off x="3310800" y="531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leche R4G2">
            <a:extLst>
              <a:ext uri="{FF2B5EF4-FFF2-40B4-BE49-F238E27FC236}">
                <a16:creationId xmlns:a16="http://schemas.microsoft.com/office/drawing/2014/main" id="{F9CC78A6-1AA0-E1D0-E54D-D9DE8306C5EF}"/>
              </a:ext>
            </a:extLst>
          </p:cNvPr>
          <p:cNvSpPr/>
          <p:nvPr/>
        </p:nvSpPr>
        <p:spPr>
          <a:xfrm>
            <a:off x="6006000" y="531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2" name="Fleche R4G3">
            <a:extLst>
              <a:ext uri="{FF2B5EF4-FFF2-40B4-BE49-F238E27FC236}">
                <a16:creationId xmlns:a16="http://schemas.microsoft.com/office/drawing/2014/main" id="{207D9503-6797-2899-4014-4E9C2A2C2C61}"/>
              </a:ext>
            </a:extLst>
          </p:cNvPr>
          <p:cNvSpPr/>
          <p:nvPr/>
        </p:nvSpPr>
        <p:spPr>
          <a:xfrm>
            <a:off x="8701200" y="5315000"/>
            <a:ext cx="180000" cy="130000"/>
          </a:xfrm>
          <a:prstGeom prst="rightArrow">
            <a:avLst/>
          </a:prstGeom>
          <a:solidFill>
            <a:srgbClr val="FF79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00" name="Logo Orange Business" descr="Logo Orange Business">
            <a:extLst>
              <a:ext uri="{FF2B5EF4-FFF2-40B4-BE49-F238E27FC236}">
                <a16:creationId xmlns:a16="http://schemas.microsoft.com/office/drawing/2014/main" id="{42FEB40F-AE4C-3A9F-6216-29EE1F25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09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8F2D-E58D-7784-010A-F4DD90E29B2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A2D13382-9EB2-949F-D1FA-ED1BD57FEA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A94A6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A665FA-6BA8-0475-FE3D-8263E1E7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Autonomie des utilisateurs : mesurer la résolution, pas le nombre de prompts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1E382-6C19-B9D8-FD11-5895799E4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fr-FR" sz="1400">
                <a:latin typeface="Segoe UI" panose="020B0502040204020203" pitchFamily="34" charset="0"/>
              </a:rPr>
              <a:t>Un fort volume d’interactions peut signaler l’</a:t>
            </a:r>
            <a:r>
              <a:rPr lang="fr-FR" sz="1400" b="1">
                <a:latin typeface="Segoe UI" panose="020B0502040204020203" pitchFamily="34" charset="0"/>
              </a:rPr>
              <a:t>adoption</a:t>
            </a:r>
            <a:r>
              <a:rPr lang="fr-FR" sz="1400">
                <a:latin typeface="Segoe UI" panose="020B0502040204020203" pitchFamily="34" charset="0"/>
              </a:rPr>
              <a:t>, mais pas nécessairement la </a:t>
            </a:r>
            <a:r>
              <a:rPr lang="fr-FR" sz="1400" b="1">
                <a:latin typeface="Segoe UI" panose="020B0502040204020203" pitchFamily="34" charset="0"/>
              </a:rPr>
              <a:t>valeur</a:t>
            </a:r>
            <a:r>
              <a:rPr lang="fr-FR" sz="1400"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50" name="Carte 1">
            <a:extLst>
              <a:ext uri="{FF2B5EF4-FFF2-40B4-BE49-F238E27FC236}">
                <a16:creationId xmlns:a16="http://schemas.microsoft.com/office/drawing/2014/main" id="{EDBFA8B1-DFC0-40EE-8E81-2968DA5695EC}"/>
              </a:ext>
            </a:extLst>
          </p:cNvPr>
          <p:cNvSpPr/>
          <p:nvPr/>
        </p:nvSpPr>
        <p:spPr>
          <a:xfrm>
            <a:off x="838200" y="218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Num 1">
            <a:extLst>
              <a:ext uri="{FF2B5EF4-FFF2-40B4-BE49-F238E27FC236}">
                <a16:creationId xmlns:a16="http://schemas.microsoft.com/office/drawing/2014/main" id="{20442B08-E5D9-1B8D-9E1A-861AF4347343}"/>
              </a:ext>
            </a:extLst>
          </p:cNvPr>
          <p:cNvSpPr/>
          <p:nvPr/>
        </p:nvSpPr>
        <p:spPr>
          <a:xfrm>
            <a:off x="990600" y="243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52" name="Texte 1">
            <a:extLst>
              <a:ext uri="{FF2B5EF4-FFF2-40B4-BE49-F238E27FC236}">
                <a16:creationId xmlns:a16="http://schemas.microsoft.com/office/drawing/2014/main" id="{D3077552-1A36-EEF9-A895-2E8BB56065F6}"/>
              </a:ext>
            </a:extLst>
          </p:cNvPr>
          <p:cNvSpPr txBox="1"/>
          <p:nvPr/>
        </p:nvSpPr>
        <p:spPr>
          <a:xfrm>
            <a:off x="1600200" y="226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Taux de résolution autonome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Questions aboutissant à une réponse exploitable sans sollicitation d’un analyste ÷ questions éligibles</a:t>
            </a:r>
          </a:p>
        </p:txBody>
      </p:sp>
      <p:sp>
        <p:nvSpPr>
          <p:cNvPr id="53" name="Carte 2">
            <a:extLst>
              <a:ext uri="{FF2B5EF4-FFF2-40B4-BE49-F238E27FC236}">
                <a16:creationId xmlns:a16="http://schemas.microsoft.com/office/drawing/2014/main" id="{8F4AF52E-C1F3-A861-6A0B-011E30828123}"/>
              </a:ext>
            </a:extLst>
          </p:cNvPr>
          <p:cNvSpPr/>
          <p:nvPr/>
        </p:nvSpPr>
        <p:spPr>
          <a:xfrm>
            <a:off x="6248400" y="218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Num 2">
            <a:extLst>
              <a:ext uri="{FF2B5EF4-FFF2-40B4-BE49-F238E27FC236}">
                <a16:creationId xmlns:a16="http://schemas.microsoft.com/office/drawing/2014/main" id="{3A231693-2141-681F-7FD3-BC0D82A16361}"/>
              </a:ext>
            </a:extLst>
          </p:cNvPr>
          <p:cNvSpPr/>
          <p:nvPr/>
        </p:nvSpPr>
        <p:spPr>
          <a:xfrm>
            <a:off x="6400800" y="243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55" name="Texte 2">
            <a:extLst>
              <a:ext uri="{FF2B5EF4-FFF2-40B4-BE49-F238E27FC236}">
                <a16:creationId xmlns:a16="http://schemas.microsoft.com/office/drawing/2014/main" id="{1EEDDF5A-69D3-63B3-DA45-DA4646ED08C4}"/>
              </a:ext>
            </a:extLst>
          </p:cNvPr>
          <p:cNvSpPr txBox="1"/>
          <p:nvPr/>
        </p:nvSpPr>
        <p:spPr>
          <a:xfrm>
            <a:off x="7010400" y="226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Taux de déflexion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Demandes BI évitées ou clôturées par l’expérience conversationnelle ÷ demandes comparables</a:t>
            </a:r>
          </a:p>
        </p:txBody>
      </p:sp>
      <p:sp>
        <p:nvSpPr>
          <p:cNvPr id="56" name="Carte 3">
            <a:extLst>
              <a:ext uri="{FF2B5EF4-FFF2-40B4-BE49-F238E27FC236}">
                <a16:creationId xmlns:a16="http://schemas.microsoft.com/office/drawing/2014/main" id="{B4695708-00DA-B727-EB8C-1EE7A9C3955C}"/>
              </a:ext>
            </a:extLst>
          </p:cNvPr>
          <p:cNvSpPr/>
          <p:nvPr/>
        </p:nvSpPr>
        <p:spPr>
          <a:xfrm>
            <a:off x="838200" y="326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Num 3">
            <a:extLst>
              <a:ext uri="{FF2B5EF4-FFF2-40B4-BE49-F238E27FC236}">
                <a16:creationId xmlns:a16="http://schemas.microsoft.com/office/drawing/2014/main" id="{7B5D4C18-459B-A970-54DA-53C3F74BBADE}"/>
              </a:ext>
            </a:extLst>
          </p:cNvPr>
          <p:cNvSpPr/>
          <p:nvPr/>
        </p:nvSpPr>
        <p:spPr>
          <a:xfrm>
            <a:off x="990600" y="351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58" name="Texte 3">
            <a:extLst>
              <a:ext uri="{FF2B5EF4-FFF2-40B4-BE49-F238E27FC236}">
                <a16:creationId xmlns:a16="http://schemas.microsoft.com/office/drawing/2014/main" id="{90FFDEB4-ACD0-A8E4-05C8-D2154C910C76}"/>
              </a:ext>
            </a:extLst>
          </p:cNvPr>
          <p:cNvSpPr txBox="1"/>
          <p:nvPr/>
        </p:nvSpPr>
        <p:spPr>
          <a:xfrm>
            <a:off x="1600200" y="334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Délai vers l’insight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Temps médian entre la question métier et une réponse acceptée par l’utilisateur</a:t>
            </a:r>
          </a:p>
        </p:txBody>
      </p:sp>
      <p:sp>
        <p:nvSpPr>
          <p:cNvPr id="59" name="Carte 4">
            <a:extLst>
              <a:ext uri="{FF2B5EF4-FFF2-40B4-BE49-F238E27FC236}">
                <a16:creationId xmlns:a16="http://schemas.microsoft.com/office/drawing/2014/main" id="{BBCEAC7A-CF9D-3F46-30CB-20801B24A56D}"/>
              </a:ext>
            </a:extLst>
          </p:cNvPr>
          <p:cNvSpPr/>
          <p:nvPr/>
        </p:nvSpPr>
        <p:spPr>
          <a:xfrm>
            <a:off x="6248400" y="326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Num 4">
            <a:extLst>
              <a:ext uri="{FF2B5EF4-FFF2-40B4-BE49-F238E27FC236}">
                <a16:creationId xmlns:a16="http://schemas.microsoft.com/office/drawing/2014/main" id="{3CE7723C-2133-A53F-83C2-159A6CEAF06F}"/>
              </a:ext>
            </a:extLst>
          </p:cNvPr>
          <p:cNvSpPr/>
          <p:nvPr/>
        </p:nvSpPr>
        <p:spPr>
          <a:xfrm>
            <a:off x="6400800" y="351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61" name="Texte 4">
            <a:extLst>
              <a:ext uri="{FF2B5EF4-FFF2-40B4-BE49-F238E27FC236}">
                <a16:creationId xmlns:a16="http://schemas.microsoft.com/office/drawing/2014/main" id="{99D34532-13D2-F5E2-5E83-91B44C1D75C5}"/>
              </a:ext>
            </a:extLst>
          </p:cNvPr>
          <p:cNvSpPr txBox="1"/>
          <p:nvPr/>
        </p:nvSpPr>
        <p:spPr>
          <a:xfrm>
            <a:off x="7010400" y="334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Utilisateurs actifs utiles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Utilisateurs obtenant au moins une réponse utile, plutôt que simples utilisateurs actifs</a:t>
            </a:r>
          </a:p>
        </p:txBody>
      </p:sp>
      <p:sp>
        <p:nvSpPr>
          <p:cNvPr id="62" name="Carte 5">
            <a:extLst>
              <a:ext uri="{FF2B5EF4-FFF2-40B4-BE49-F238E27FC236}">
                <a16:creationId xmlns:a16="http://schemas.microsoft.com/office/drawing/2014/main" id="{89834189-5E6A-B2E5-EBE4-5BB291EBCB8C}"/>
              </a:ext>
            </a:extLst>
          </p:cNvPr>
          <p:cNvSpPr/>
          <p:nvPr/>
        </p:nvSpPr>
        <p:spPr>
          <a:xfrm>
            <a:off x="838200" y="434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Num 5">
            <a:extLst>
              <a:ext uri="{FF2B5EF4-FFF2-40B4-BE49-F238E27FC236}">
                <a16:creationId xmlns:a16="http://schemas.microsoft.com/office/drawing/2014/main" id="{57D4D447-793E-EF2F-ECAE-ED4CF3B12C25}"/>
              </a:ext>
            </a:extLst>
          </p:cNvPr>
          <p:cNvSpPr/>
          <p:nvPr/>
        </p:nvSpPr>
        <p:spPr>
          <a:xfrm>
            <a:off x="990600" y="459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64" name="Texte 5">
            <a:extLst>
              <a:ext uri="{FF2B5EF4-FFF2-40B4-BE49-F238E27FC236}">
                <a16:creationId xmlns:a16="http://schemas.microsoft.com/office/drawing/2014/main" id="{6A90032F-6516-00BB-3C18-7737D01354C1}"/>
              </a:ext>
            </a:extLst>
          </p:cNvPr>
          <p:cNvSpPr txBox="1"/>
          <p:nvPr/>
        </p:nvSpPr>
        <p:spPr>
          <a:xfrm>
            <a:off x="1600200" y="442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Escalade nécessaire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Part des conversations nécessitant ensuite un expert, une correction ou une analyse manuelle</a:t>
            </a:r>
          </a:p>
        </p:txBody>
      </p:sp>
      <p:sp>
        <p:nvSpPr>
          <p:cNvPr id="65" name="Carte 6">
            <a:extLst>
              <a:ext uri="{FF2B5EF4-FFF2-40B4-BE49-F238E27FC236}">
                <a16:creationId xmlns:a16="http://schemas.microsoft.com/office/drawing/2014/main" id="{4E35C018-3E60-C404-A73D-D658C6F1FBCB}"/>
              </a:ext>
            </a:extLst>
          </p:cNvPr>
          <p:cNvSpPr/>
          <p:nvPr/>
        </p:nvSpPr>
        <p:spPr>
          <a:xfrm>
            <a:off x="6248400" y="4344400"/>
            <a:ext cx="5105400" cy="95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DEE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2023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Num 6">
            <a:extLst>
              <a:ext uri="{FF2B5EF4-FFF2-40B4-BE49-F238E27FC236}">
                <a16:creationId xmlns:a16="http://schemas.microsoft.com/office/drawing/2014/main" id="{ADBE216C-6302-EE9F-54AF-8772B8C023C4}"/>
              </a:ext>
            </a:extLst>
          </p:cNvPr>
          <p:cNvSpPr/>
          <p:nvPr/>
        </p:nvSpPr>
        <p:spPr>
          <a:xfrm>
            <a:off x="6400800" y="4590800"/>
            <a:ext cx="457200" cy="4572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67" name="Texte 6">
            <a:extLst>
              <a:ext uri="{FF2B5EF4-FFF2-40B4-BE49-F238E27FC236}">
                <a16:creationId xmlns:a16="http://schemas.microsoft.com/office/drawing/2014/main" id="{00C4BB66-4C7C-1CA0-DA6F-430CD4C2CD5E}"/>
              </a:ext>
            </a:extLst>
          </p:cNvPr>
          <p:cNvSpPr txBox="1"/>
          <p:nvPr/>
        </p:nvSpPr>
        <p:spPr>
          <a:xfrm>
            <a:off x="7010400" y="4424400"/>
            <a:ext cx="4191000" cy="79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Couverture métier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4A5163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Part des questions prioritaires couvertes par les modèles, instructions et jeux de données approuvés</a:t>
            </a:r>
          </a:p>
        </p:txBody>
      </p:sp>
      <p:sp>
        <p:nvSpPr>
          <p:cNvPr id="70" name="Instrumentation">
            <a:extLst>
              <a:ext uri="{FF2B5EF4-FFF2-40B4-BE49-F238E27FC236}">
                <a16:creationId xmlns:a16="http://schemas.microsoft.com/office/drawing/2014/main" id="{7C0193E4-E620-1997-BE24-4A4E6FFE86E1}"/>
              </a:ext>
            </a:extLst>
          </p:cNvPr>
          <p:cNvSpPr txBox="1"/>
          <p:nvPr/>
        </p:nvSpPr>
        <p:spPr>
          <a:xfrm>
            <a:off x="838200" y="5632024"/>
            <a:ext cx="105156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12256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Instrumentation recommandée : panel pilote + enquête courte “réponse utile ?” + rapprochement avec tickets BI.</a:t>
            </a:r>
          </a:p>
        </p:txBody>
      </p:sp>
      <p:pic>
        <p:nvPicPr>
          <p:cNvPr id="900" name="Logo Orange Business" descr="Logo Orange Business">
            <a:extLst>
              <a:ext uri="{FF2B5EF4-FFF2-40B4-BE49-F238E27FC236}">
                <a16:creationId xmlns:a16="http://schemas.microsoft.com/office/drawing/2014/main" id="{76CC2128-C516-72A4-B075-31F5B358E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10" t="30915" r="5745" b="31059"/>
          <a:stretch>
            <a:fillRect/>
          </a:stretch>
        </p:blipFill>
        <p:spPr>
          <a:xfrm>
            <a:off x="16626" y="6222957"/>
            <a:ext cx="2693324" cy="6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94328"/>
      </p:ext>
    </p:extLst>
  </p:cSld>
  <p:clrMapOvr>
    <a:masterClrMapping/>
  </p:clrMapOvr>
</p:sld>
</file>

<file path=ppt/theme/theme1.xml><?xml version="1.0" encoding="utf-8"?>
<a:theme xmlns:a="http://schemas.openxmlformats.org/drawingml/2006/main" name="Main slides">
  <a:themeElements>
    <a:clrScheme name="Expertime">
      <a:dk1>
        <a:srgbClr val="02023F"/>
      </a:dk1>
      <a:lt1>
        <a:srgbClr val="FFFFFF"/>
      </a:lt1>
      <a:dk2>
        <a:srgbClr val="474961"/>
      </a:dk2>
      <a:lt2>
        <a:srgbClr val="E8E8EB"/>
      </a:lt2>
      <a:accent1>
        <a:srgbClr val="2987F7"/>
      </a:accent1>
      <a:accent2>
        <a:srgbClr val="F78036"/>
      </a:accent2>
      <a:accent3>
        <a:srgbClr val="757688"/>
      </a:accent3>
      <a:accent4>
        <a:srgbClr val="7FB7FA"/>
      </a:accent4>
      <a:accent5>
        <a:srgbClr val="FAB386"/>
      </a:accent5>
      <a:accent6>
        <a:srgbClr val="A3A4B0"/>
      </a:accent6>
      <a:hlink>
        <a:srgbClr val="2987F7"/>
      </a:hlink>
      <a:folHlink>
        <a:srgbClr val="2987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1440" tIns="45720" rIns="91440" bIns="45720" rtlCol="0" anchor="t">
        <a:normAutofit/>
      </a:bodyPr>
      <a:lstStyle>
        <a:defPPr marL="0" indent="0" algn="just">
          <a:buNone/>
          <a:defRPr sz="1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6D31D40E-03BE-4F62-B259-316E582F0FAB}" vid="{B9E9313D-89D5-4103-84DE-CFA6D351C2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3925</Words>
  <Application>Microsoft Office PowerPoint</Application>
  <PresentationFormat>Grand écran</PresentationFormat>
  <Paragraphs>559</Paragraphs>
  <Slides>23</Slides>
  <Notes>19</Notes>
  <HiddenSlides>2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Aptos</vt:lpstr>
      <vt:lpstr>Arial</vt:lpstr>
      <vt:lpstr>Avenir Next LT Pro Light</vt:lpstr>
      <vt:lpstr>Poppins</vt:lpstr>
      <vt:lpstr>Segoe UI</vt:lpstr>
      <vt:lpstr>Symbol</vt:lpstr>
      <vt:lpstr>Wingdings</vt:lpstr>
      <vt:lpstr>Main slides</vt:lpstr>
      <vt:lpstr>Choisir le bon assistant IA dans MS Fabric / Power BI</vt:lpstr>
      <vt:lpstr>Choisir le bon assistant IA dans Microsoft Fabric / Power BI</vt:lpstr>
      <vt:lpstr>Vue d’ensemble des critères de choix</vt:lpstr>
      <vt:lpstr>Scénario 1 — Copilot : créer des rapports et des visuels</vt:lpstr>
      <vt:lpstr>Scénario 2 — MCP Server : modifier le modèle sémantique</vt:lpstr>
      <vt:lpstr>Scénario 3 — Copilot : comprendre et analyser un rapport</vt:lpstr>
      <vt:lpstr>Scénario 4 — Fabric Data Agent : questions ad hoc, NL → DAX</vt:lpstr>
      <vt:lpstr>Arbre de décision pour choisir l’assistant IA</vt:lpstr>
      <vt:lpstr>Mapping par profil utilisateur</vt:lpstr>
      <vt:lpstr>Gouvernance : 3 réflexes pour un usage sûr de l’IA</vt:lpstr>
      <vt:lpstr>Synthèse : règle de préconisation</vt:lpstr>
      <vt:lpstr>Présentation PowerPoint</vt:lpstr>
      <vt:lpstr>Menaces à traiter : au-delà de la fuite de données</vt:lpstr>
      <vt:lpstr>Checklist de mise en production sécurisée</vt:lpstr>
      <vt:lpstr>À l’image d’un humain, Copilot…</vt:lpstr>
      <vt:lpstr>À l’inverse d’un humain, Copilot…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Arbre de valeur : relier les fonctionnalités aux résultats métier</vt:lpstr>
      <vt:lpstr>Autonomie des utilisateurs : mesurer la résolution, pas le nombre de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PETON</dc:creator>
  <cp:lastModifiedBy>Paul PETON</cp:lastModifiedBy>
  <cp:revision>1</cp:revision>
  <dcterms:created xsi:type="dcterms:W3CDTF">2026-09-09T13:23:50Z</dcterms:created>
  <dcterms:modified xsi:type="dcterms:W3CDTF">2026-09-09T14:19:43Z</dcterms:modified>
</cp:coreProperties>
</file>